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25"/>
          <c:y val="0.02"/>
          <c:w val="0.71"/>
          <c:h val="0.96"/>
        </c:manualLayout>
      </c:layout>
      <c:barChart>
        <c:barDir val="bar"/>
        <c:grouping val="stacked"/>
        <c:ser>
          <c:idx val="0"/>
          <c:order val="0"/>
          <c:tx>
            <c:strRef>
              <c:f>Sheet1!$B$1</c:f>
              <c:strCache>
                <c:ptCount val="1"/>
                <c:pt idx="0">
                  <c:v>Volume &amp; route mix (more flights)</c:v>
                </c:pt>
              </c:strCache>
            </c:strRef>
          </c:tx>
          <c:spPr>
            <a:solidFill>
              <a:srgbClr val="0B1F3A"/>
            </a:solidFill>
          </c:spPr>
          <c:invertIfNegative val="0"/>
          <c:dLbls>
            <c:dLbl>
              <c:idx val="4"/>
              <c:delete val="1"/>
            </c:dLbl>
            <c:numFmt formatCode="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Sheet1!$A$2:$A$6</c:f>
              <c:strCache>
                <c:ptCount val="5"/>
                <c:pt idx="0">
                  <c:v>All costs (+7.1%)</c:v>
                </c:pt>
                <c:pt idx="1">
                  <c:v>Fuel (+8.7%)</c:v>
                </c:pt>
                <c:pt idx="2">
                  <c:v>Crew (+8.5%)</c:v>
                </c:pt>
                <c:pt idx="3">
                  <c:v>Maintenance (+4.7%)</c:v>
                </c:pt>
                <c:pt idx="4">
                  <c:v>Food (−0.2%)</c:v>
                </c:pt>
              </c:strCache>
            </c:strRef>
          </c:cat>
          <c:val>
            <c:numRef>
              <c:f>Sheet1!$B$2:$B$6</c:f>
              <c:numCache>
                <c:formatCode>General</c:formatCode>
                <c:ptCount val="5"/>
                <c:pt idx="0">
                  <c:v>30.1</c:v>
                </c:pt>
                <c:pt idx="1">
                  <c:v>9.6</c:v>
                </c:pt>
                <c:pt idx="2">
                  <c:v>9.4</c:v>
                </c:pt>
                <c:pt idx="3">
                  <c:v>9.9</c:v>
                </c:pt>
                <c:pt idx="4">
                  <c:v>1.2</c:v>
                </c:pt>
              </c:numCache>
            </c:numRef>
          </c:val>
        </c:ser>
        <c:ser>
          <c:idx val="1"/>
          <c:order val="1"/>
          <c:tx>
            <c:strRef>
              <c:f>Sheet1!$C$1</c:f>
              <c:strCache>
                <c:ptCount val="1"/>
                <c:pt idx="0">
                  <c:v>Like-for-like cost per flight</c:v>
                </c:pt>
              </c:strCache>
            </c:strRef>
          </c:tx>
          <c:spPr>
            <a:solidFill>
              <a:srgbClr val="E8692A"/>
            </a:solidFill>
          </c:spPr>
          <c:invertIfNegative val="0"/>
          <c:dLbls>
            <c:dLbl>
              <c:idx val="4"/>
              <c:delete val="1"/>
            </c:dLbl>
            <c:numFmt formatCode="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Sheet1!$A$2:$A$6</c:f>
              <c:strCache>
                <c:ptCount val="5"/>
                <c:pt idx="0">
                  <c:v>All costs (+7.1%)</c:v>
                </c:pt>
                <c:pt idx="1">
                  <c:v>Fuel (+8.7%)</c:v>
                </c:pt>
                <c:pt idx="2">
                  <c:v>Crew (+8.5%)</c:v>
                </c:pt>
                <c:pt idx="3">
                  <c:v>Maintenance (+4.7%)</c:v>
                </c:pt>
                <c:pt idx="4">
                  <c:v>Food (−0.2%)</c:v>
                </c:pt>
              </c:strCache>
            </c:strRef>
          </c:cat>
          <c:val>
            <c:numRef>
              <c:f>Sheet1!$C$2:$C$6</c:f>
              <c:numCache>
                <c:formatCode>General</c:formatCode>
                <c:ptCount val="5"/>
                <c:pt idx="0">
                  <c:v>15.3</c:v>
                </c:pt>
                <c:pt idx="1">
                  <c:v>6.5</c:v>
                </c:pt>
                <c:pt idx="2">
                  <c:v>5.7</c:v>
                </c:pt>
                <c:pt idx="3">
                  <c:v>3.1</c:v>
                </c:pt>
                <c:pt idx="4">
                  <c:v>0.0</c:v>
                </c:pt>
              </c:numCache>
            </c:numRef>
          </c:val>
        </c:ser>
        <c:gapWidth val="40"/>
        <c:overlap val="10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50"/>
            </a:pPr>
          </a:p>
        </c:txPr>
        <c:crossAx val="-2113994440"/>
        <c:crosses val="autoZero"/>
        <c:auto val="1"/>
        <c:lblAlgn val="ctr"/>
        <c:lblOffset val="100"/>
        <c:noMultiLvlLbl val="0"/>
      </c:catAx>
      <c:valAx>
        <c:axId val="-2113994440"/>
        <c:scaling>
          <c:max val="47.0"/>
          <c:min val="0.0"/>
        </c:scaling>
        <c:delete/>
        <c:axPos val="b"/>
        <c:majorTickMark val="none"/>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1230</c:v>
                </c:pt>
                <c:pt idx="1">
                  <c:v>72</c:v>
                </c:pt>
                <c:pt idx="2">
                  <c:v>3719</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2470</c:v>
                </c:pt>
                <c:pt idx="1">
                  <c:v>1352</c:v>
                </c:pt>
                <c:pt idx="2">
                  <c:v>3724</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4655.0"/>
          <c:min val="0.0"/>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0.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21.5</c:v>
                </c:pt>
                <c:pt idx="1">
                  <c:v>0.1</c:v>
                </c:pt>
                <c:pt idx="2">
                  <c:v>63.9</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22.1</c:v>
                </c:pt>
                <c:pt idx="1">
                  <c:v>2.4</c:v>
                </c:pt>
                <c:pt idx="2">
                  <c:v>66.4</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83.0"/>
          <c:min val="0.0"/>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0.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16.5</c:v>
                </c:pt>
                <c:pt idx="1">
                  <c:v>1.8</c:v>
                </c:pt>
                <c:pt idx="2">
                  <c:v>17.1</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9.3</c:v>
                </c:pt>
                <c:pt idx="1">
                  <c:v>3.3</c:v>
                </c:pt>
                <c:pt idx="2">
                  <c:v>17.3</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21.625"/>
          <c:min val="0.0"/>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quot;+&quot;0.0;&quot;−&quot;0.0;0.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1.2</c:v>
                </c:pt>
                <c:pt idx="1">
                  <c:v>-0.3</c:v>
                </c:pt>
                <c:pt idx="2">
                  <c:v>7.9</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quot;+&quot;0.0;&quot;−&quot;0.0;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-23.8</c:v>
                </c:pt>
                <c:pt idx="1">
                  <c:v>-5.0</c:v>
                </c:pt>
                <c:pt idx="2">
                  <c:v>3.6</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46666666666667"/>
          <c:min val="-34.366666666666674"/>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Change in contribution</c:v>
                </c:pt>
              </c:strCache>
            </c:strRef>
          </c:tx>
          <c:invertIfNegative val="0"/>
          <c:dPt>
            <c:idx val="0"/>
            <c:invertIfNegative val="0"/>
            <c:spPr>
              <a:solidFill>
                <a:srgbClr val="E8692A"/>
              </a:solidFill>
            </c:spPr>
          </c:dPt>
          <c:dPt>
            <c:idx val="1"/>
            <c:invertIfNegative val="0"/>
            <c:spPr>
              <a:solidFill>
                <a:srgbClr val="E8692A"/>
              </a:solidFill>
            </c:spPr>
          </c:dPt>
          <c:dPt>
            <c:idx val="2"/>
            <c:invertIfNegative val="0"/>
            <c:spPr>
              <a:solidFill>
                <a:srgbClr val="F6B48F"/>
              </a:solidFill>
            </c:spPr>
          </c:dPt>
          <c:dPt>
            <c:idx val="3"/>
            <c:invertIfNegative val="0"/>
            <c:spPr>
              <a:solidFill>
                <a:srgbClr val="F6B48F"/>
              </a:solidFill>
            </c:spPr>
          </c:dPt>
          <c:dPt>
            <c:idx val="4"/>
            <c:invertIfNegative val="0"/>
            <c:spPr>
              <a:solidFill>
                <a:srgbClr val="2E7D5B"/>
              </a:solidFill>
            </c:spPr>
          </c:dPt>
          <c:dPt>
            <c:idx val="5"/>
            <c:invertIfNegative val="0"/>
            <c:spPr>
              <a:solidFill>
                <a:srgbClr val="9CCBB4"/>
              </a:solidFill>
            </c:spPr>
          </c:dPt>
          <c:dPt>
            <c:idx val="6"/>
            <c:invertIfNegative val="0"/>
            <c:spPr>
              <a:solidFill>
                <a:srgbClr val="F6B48F"/>
              </a:solidFill>
            </c:spPr>
          </c:dPt>
          <c:dPt>
            <c:idx val="7"/>
            <c:invertIfNegative val="0"/>
            <c:spPr>
              <a:solidFill>
                <a:srgbClr val="9CCBB4"/>
              </a:solidFill>
            </c:spPr>
          </c:dPt>
          <c:dPt>
            <c:idx val="8"/>
            <c:invertIfNegative val="0"/>
            <c:spPr>
              <a:solidFill>
                <a:srgbClr val="0B1F3A"/>
              </a:solidFill>
            </c:spPr>
          </c:dPt>
          <c:dPt>
            <c:idx val="9"/>
            <c:invertIfNegative val="0"/>
            <c:spPr>
              <a:solidFill>
                <a:srgbClr val="9CA3AF"/>
              </a:solidFill>
            </c:spPr>
          </c:dPt>
          <c:cat>
            <c:strRef>
              <c:f>Sheet1!$A$2:$A$11</c:f>
              <c:strCache>
                <c:ptCount val="10"/>
                <c:pt idx="0">
                  <c:v>More flights (volume &amp; mix)</c:v>
                </c:pt>
                <c:pt idx="1">
                  <c:v>Cost per flight, like-for-like</c:v>
                </c:pt>
                <c:pt idx="2">
                  <c:v>of which fuel</c:v>
                </c:pt>
                <c:pt idx="3">
                  <c:v>of which crew</c:v>
                </c:pt>
                <c:pt idx="4">
                  <c:v>Net revenue growth</c:v>
                </c:pt>
                <c:pt idx="5">
                  <c:v>of which Points + Cash tickets</c:v>
                </c:pt>
                <c:pt idx="6">
                  <c:v>of which refunds</c:v>
                </c:pt>
                <c:pt idx="7">
                  <c:v>of which ancillaries</c:v>
                </c:pt>
                <c:pt idx="8">
                  <c:v>Total change, before gates</c:v>
                </c:pt>
                <c:pt idx="9">
                  <c:v>Gate leases (outside the total)</c:v>
                </c:pt>
              </c:strCache>
            </c:strRef>
          </c:cat>
          <c:val>
            <c:numRef>
              <c:f>Sheet1!$B$2:$B$11</c:f>
              <c:numCache>
                <c:formatCode>General</c:formatCode>
                <c:ptCount val="10"/>
                <c:pt idx="0">
                  <c:v>-30.1</c:v>
                </c:pt>
                <c:pt idx="1">
                  <c:v>-15.3</c:v>
                </c:pt>
                <c:pt idx="2">
                  <c:v>-6.5</c:v>
                </c:pt>
                <c:pt idx="3">
                  <c:v>-5.7</c:v>
                </c:pt>
                <c:pt idx="4">
                  <c:v>9.4</c:v>
                </c:pt>
                <c:pt idx="5">
                  <c:v>1.33</c:v>
                </c:pt>
                <c:pt idx="6">
                  <c:v>-1.15</c:v>
                </c:pt>
                <c:pt idx="7">
                  <c:v>0.29</c:v>
                </c:pt>
                <c:pt idx="8">
                  <c:v>-36.0</c:v>
                </c:pt>
                <c:pt idx="9">
                  <c:v>-0.21</c:v>
                </c:pt>
              </c:numCache>
            </c:numRef>
          </c:val>
        </c:ser>
        <c:dLbls>
          <c:numFmt formatCode="&quot;+&quot;0.0#;&quot;−&quot;0.0#;0.0" sourceLinked="0"/>
          <c:txPr>
            <a:bodyPr/>
            <a:lstStyle/>
            <a:p>
              <a:pPr>
                <a:defRPr sz="1050" b="1"/>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5.0"/>
          <c:min val="-44.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2024-25 lease</c:v>
                </c:pt>
              </c:strCache>
            </c:strRef>
          </c:tx>
          <c:spPr>
            <a:solidFill>
              <a:srgbClr val="A9B6C9"/>
            </a:solidFill>
          </c:spPr>
          <c:invertIfNegative val="0"/>
          <c:dLbls>
            <c:numFmt formatCode="0.0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cat>
            <c:strRef>
              <c:f>Sheet1!$A$2:$A$7</c:f>
              <c:strCache>
                <c:ptCount val="6"/>
                <c:pt idx="0">
                  <c:v>Toronto</c:v>
                </c:pt>
                <c:pt idx="1">
                  <c:v>Vancouver</c:v>
                </c:pt>
                <c:pt idx="2">
                  <c:v>Montréal</c:v>
                </c:pt>
                <c:pt idx="3">
                  <c:v>Calgary</c:v>
                </c:pt>
                <c:pt idx="4">
                  <c:v>Halifax, Ottawa, Edmonton</c:v>
                </c:pt>
                <c:pt idx="5">
                  <c:v>13 one-gate airports</c:v>
                </c:pt>
              </c:strCache>
            </c:strRef>
          </c:cat>
          <c:val>
            <c:numRef>
              <c:f>Sheet1!$B$2:$B$7</c:f>
              <c:numCache>
                <c:formatCode>General</c:formatCode>
                <c:ptCount val="6"/>
                <c:pt idx="0">
                  <c:v>1.85</c:v>
                </c:pt>
                <c:pt idx="1">
                  <c:v>1.78</c:v>
                </c:pt>
                <c:pt idx="2">
                  <c:v>1.12</c:v>
                </c:pt>
                <c:pt idx="3">
                  <c:v>1.07</c:v>
                </c:pt>
                <c:pt idx="4">
                  <c:v>1.62</c:v>
                </c:pt>
                <c:pt idx="5">
                  <c:v>2.22</c:v>
                </c:pt>
              </c:numCache>
            </c:numRef>
          </c:val>
        </c:ser>
        <c:ser>
          <c:idx val="1"/>
          <c:order val="1"/>
          <c:tx>
            <c:strRef>
              <c:f>Sheet1!$C$1</c:f>
              <c:strCache>
                <c:ptCount val="1"/>
                <c:pt idx="0">
                  <c:v>2025-26 lease</c:v>
                </c:pt>
              </c:strCache>
            </c:strRef>
          </c:tx>
          <c:spPr>
            <a:solidFill>
              <a:srgbClr val="0B1F3A"/>
            </a:solidFill>
          </c:spPr>
          <c:invertIfNegative val="0"/>
          <c:dLbls>
            <c:numFmt formatCode="0.0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cat>
            <c:strRef>
              <c:f>Sheet1!$A$2:$A$7</c:f>
              <c:strCache>
                <c:ptCount val="6"/>
                <c:pt idx="0">
                  <c:v>Toronto</c:v>
                </c:pt>
                <c:pt idx="1">
                  <c:v>Vancouver</c:v>
                </c:pt>
                <c:pt idx="2">
                  <c:v>Montréal</c:v>
                </c:pt>
                <c:pt idx="3">
                  <c:v>Calgary</c:v>
                </c:pt>
                <c:pt idx="4">
                  <c:v>Halifax, Ottawa, Edmonton</c:v>
                </c:pt>
                <c:pt idx="5">
                  <c:v>13 one-gate airports</c:v>
                </c:pt>
              </c:strCache>
            </c:strRef>
          </c:cat>
          <c:val>
            <c:numRef>
              <c:f>Sheet1!$C$2:$C$7</c:f>
              <c:numCache>
                <c:formatCode>General</c:formatCode>
                <c:ptCount val="6"/>
                <c:pt idx="0">
                  <c:v>1.9</c:v>
                </c:pt>
                <c:pt idx="1">
                  <c:v>1.83</c:v>
                </c:pt>
                <c:pt idx="2">
                  <c:v>1.15</c:v>
                </c:pt>
                <c:pt idx="3">
                  <c:v>1.09</c:v>
                </c:pt>
                <c:pt idx="4">
                  <c:v>1.65</c:v>
                </c:pt>
                <c:pt idx="5">
                  <c:v>2.26</c:v>
                </c:pt>
              </c:numCache>
            </c:numRef>
          </c:val>
        </c:ser>
        <c:ser>
          <c:idx val="2"/>
          <c:order val="2"/>
          <c:tx>
            <c:strRef>
              <c:f>Sheet1!$D$1</c:f>
              <c:strCache>
                <c:ptCount val="1"/>
                <c:pt idx="0">
                  <c:v>2026-27 est.</c:v>
                </c:pt>
              </c:strCache>
            </c:strRef>
          </c:tx>
          <c:spPr>
            <a:solidFill>
              <a:srgbClr val="F4A97F"/>
            </a:solidFill>
          </c:spPr>
          <c:invertIfNegative val="0"/>
          <c:dLbls>
            <c:numFmt formatCode="0.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Sheet1!$A$2:$A$7</c:f>
              <c:strCache>
                <c:ptCount val="6"/>
                <c:pt idx="0">
                  <c:v>Toronto</c:v>
                </c:pt>
                <c:pt idx="1">
                  <c:v>Vancouver</c:v>
                </c:pt>
                <c:pt idx="2">
                  <c:v>Montréal</c:v>
                </c:pt>
                <c:pt idx="3">
                  <c:v>Calgary</c:v>
                </c:pt>
                <c:pt idx="4">
                  <c:v>Halifax, Ottawa, Edmonton</c:v>
                </c:pt>
                <c:pt idx="5">
                  <c:v>13 one-gate airports</c:v>
                </c:pt>
              </c:strCache>
            </c:strRef>
          </c:cat>
          <c:val>
            <c:numRef>
              <c:f>Sheet1!$D$2:$D$7</c:f>
              <c:numCache>
                <c:formatCode>General</c:formatCode>
                <c:ptCount val="6"/>
                <c:pt idx="0">
                  <c:v>1.95</c:v>
                </c:pt>
                <c:pt idx="1">
                  <c:v>1.87</c:v>
                </c:pt>
                <c:pt idx="2">
                  <c:v>1.18</c:v>
                </c:pt>
                <c:pt idx="3">
                  <c:v>1.12</c:v>
                </c:pt>
                <c:pt idx="4">
                  <c:v>1.69</c:v>
                </c:pt>
                <c:pt idx="5">
                  <c:v>2.29</c:v>
                </c:pt>
              </c:numCache>
            </c:numRef>
          </c:val>
        </c:ser>
        <c:gapWidth val="3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tickLblSkip val="1"/>
        <c:noMultiLvlLbl val="0"/>
      </c:catAx>
      <c:valAx>
        <c:axId val="-2113994440"/>
        <c:scaling>
          <c:max val="2.75"/>
          <c:min val="0.0"/>
        </c:scaling>
        <c:delete/>
        <c:axPos val="b"/>
        <c:majorTickMark val="out"/>
        <c:minorTickMark val="none"/>
        <c:tickLblPos val="nextTo"/>
        <c:crossAx val="-2068027336"/>
        <c:crosses val="autoZero"/>
      </c:valAx>
    </c:plotArea>
    <c:legend>
      <c:legendPos val="t"/>
      <c:overlay val="0"/>
      <c:txPr>
        <a:bodyPr/>
        <a:lstStyle/>
        <a:p>
          <a:pPr>
            <a:defRPr sz="1000"/>
          </a:pPr>
        </a:p>
      </c:txPr>
    </c:legend>
    <c:dispBlanksAs val="gap"/>
  </c:chart>
  <c:txPr>
    <a:bodyPr/>
    <a:lstStyle/>
    <a:p>
      <a:pPr>
        <a:defRPr sz="1000">
          <a:solidFill>
            <a:srgbClr val="1F2937"/>
          </a:solidFill>
          <a:latin typeface="Lato"/>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Gate cost per departure</c:v>
                </c:pt>
              </c:strCache>
            </c:strRef>
          </c:tx>
          <c:spPr>
            <a:solidFill>
              <a:srgbClr val="0B1F3A"/>
            </a:solidFill>
          </c:spPr>
          <c:invertIfNegative val="0"/>
          <c:dPt>
            <c:idx val="13"/>
            <c:spPr>
              <a:solidFill>
                <a:srgbClr val="6B7280"/>
              </a:solidFill>
            </c:spPr>
          </c:dPt>
          <c:dLbls>
            <c:dLbl>
              <c:idx val="0"/>
              <c:tx>
                <c:rich>
                  <a:bodyPr/>
                  <a:lstStyle/>
                  <a:p>
                    <a:r>
                      <a:rPr sz="1000" b="1">
                        <a:solidFill>
                          <a:srgbClr val="1F2937"/>
                        </a:solidFill>
                      </a:rPr>
                      <a:t>$1,951</a:t>
                    </a:r>
                  </a:p>
                </c:rich>
              </c:tx>
              <c:dLblPos val="outEnd"/>
              <c:showLegendKey val="0"/>
              <c:showVal val="1"/>
              <c:showCatName val="0"/>
              <c:showSerName val="0"/>
              <c:showPercent val="0"/>
              <c:showBubbleSize val="0"/>
            </c:dLbl>
            <c:dLbl>
              <c:idx val="11"/>
              <c:tx>
                <c:rich>
                  <a:bodyPr/>
                  <a:lstStyle/>
                  <a:p>
                    <a:r>
                      <a:rPr sz="1000" b="1">
                        <a:solidFill>
                          <a:srgbClr val="E8692A"/>
                        </a:solidFill>
                      </a:rPr>
                      <a:t>$725 ($228 unassigned)</a:t>
                    </a:r>
                  </a:p>
                </c:rich>
              </c:tx>
              <c:dLblPos val="outEnd"/>
              <c:showLegendKey val="0"/>
              <c:showVal val="1"/>
              <c:showCatName val="0"/>
              <c:showSerName val="0"/>
              <c:showPercent val="0"/>
              <c:showBubbleSize val="0"/>
            </c:dLbl>
            <c:dLbl>
              <c:idx val="13"/>
              <c:tx>
                <c:rich>
                  <a:bodyPr/>
                  <a:lstStyle/>
                  <a:p>
                    <a:r>
                      <a:rPr sz="1000" b="1">
                        <a:solidFill>
                          <a:srgbClr val="1F2937"/>
                        </a:solidFill>
                      </a:rPr>
                      <a:t>$637 average</a:t>
                    </a:r>
                  </a:p>
                </c:rich>
              </c:tx>
              <c:dLblPos val="outEnd"/>
              <c:showLegendKey val="0"/>
              <c:showVal val="1"/>
              <c:showCatName val="0"/>
              <c:showSerName val="0"/>
              <c:showPercent val="0"/>
              <c:showBubbleSize val="0"/>
            </c:dLbl>
            <c:dLbl>
              <c:idx val="20"/>
              <c:tx>
                <c:rich>
                  <a:bodyPr/>
                  <a:lstStyle/>
                  <a:p>
                    <a:r>
                      <a:rPr sz="1000" b="1">
                        <a:solidFill>
                          <a:srgbClr val="E8692A"/>
                        </a:solidFill>
                      </a:rPr>
                      <a:t>$281 ($133 unassigned)</a:t>
                    </a:r>
                  </a:p>
                </c:rich>
              </c:tx>
              <c:dLblPos val="outEnd"/>
              <c:showLegendKey val="0"/>
              <c:showVal val="1"/>
              <c:showCatName val="0"/>
              <c:showSerName val="0"/>
              <c:showPercent val="0"/>
              <c:showBubbleSize val="0"/>
            </c:dLbl>
            <c:numFmt formatCode="&quot;$&quot;#,##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cat>
            <c:strRef>
              <c:f>Sheet1!$A$2:$A$22</c:f>
              <c:strCache>
                <c:ptCount val="21"/>
                <c:pt idx="0">
                  <c:v>Whitehorse</c:v>
                </c:pt>
                <c:pt idx="1">
                  <c:v>Yellowknife</c:v>
                </c:pt>
                <c:pt idx="2">
                  <c:v>St. John's</c:v>
                </c:pt>
                <c:pt idx="3">
                  <c:v>Abbotsford</c:v>
                </c:pt>
                <c:pt idx="4">
                  <c:v>Regina</c:v>
                </c:pt>
                <c:pt idx="5">
                  <c:v>Saskatoon</c:v>
                </c:pt>
                <c:pt idx="6">
                  <c:v>Prince George</c:v>
                </c:pt>
                <c:pt idx="7">
                  <c:v>Winnipeg</c:v>
                </c:pt>
                <c:pt idx="8">
                  <c:v>Québec City</c:v>
                </c:pt>
                <c:pt idx="9">
                  <c:v>Vancouver</c:v>
                </c:pt>
                <c:pt idx="10">
                  <c:v>Edmonton</c:v>
                </c:pt>
                <c:pt idx="11">
                  <c:v>Halifax</c:v>
                </c:pt>
                <c:pt idx="12">
                  <c:v>Calgary</c:v>
                </c:pt>
                <c:pt idx="13">
                  <c:v>All 20 airports</c:v>
                </c:pt>
                <c:pt idx="14">
                  <c:v>Montréal</c:v>
                </c:pt>
                <c:pt idx="15">
                  <c:v>Toronto</c:v>
                </c:pt>
                <c:pt idx="16">
                  <c:v>Moncton</c:v>
                </c:pt>
                <c:pt idx="17">
                  <c:v>Kelowna</c:v>
                </c:pt>
                <c:pt idx="18">
                  <c:v>Victoria</c:v>
                </c:pt>
                <c:pt idx="19">
                  <c:v>London</c:v>
                </c:pt>
                <c:pt idx="20">
                  <c:v>Ottawa</c:v>
                </c:pt>
              </c:strCache>
            </c:strRef>
          </c:cat>
          <c:val>
            <c:numRef>
              <c:f>Sheet1!$B$2:$B$22</c:f>
              <c:numCache>
                <c:formatCode>General</c:formatCode>
                <c:ptCount val="21"/>
                <c:pt idx="0">
                  <c:v>1950.71</c:v>
                </c:pt>
                <c:pt idx="1">
                  <c:v>1787.07</c:v>
                </c:pt>
                <c:pt idx="2">
                  <c:v>1132.97</c:v>
                </c:pt>
                <c:pt idx="3">
                  <c:v>1127.54</c:v>
                </c:pt>
                <c:pt idx="4">
                  <c:v>1078.79</c:v>
                </c:pt>
                <c:pt idx="5">
                  <c:v>1026.58</c:v>
                </c:pt>
                <c:pt idx="6">
                  <c:v>1009.79</c:v>
                </c:pt>
                <c:pt idx="7">
                  <c:v>906.85</c:v>
                </c:pt>
                <c:pt idx="8">
                  <c:v>863.47</c:v>
                </c:pt>
                <c:pt idx="9">
                  <c:v>810.84</c:v>
                </c:pt>
                <c:pt idx="10">
                  <c:v>742.21</c:v>
                </c:pt>
                <c:pt idx="11">
                  <c:v>724.74</c:v>
                </c:pt>
                <c:pt idx="12">
                  <c:v>668.39</c:v>
                </c:pt>
                <c:pt idx="13">
                  <c:v>637.24</c:v>
                </c:pt>
                <c:pt idx="14">
                  <c:v>603.47</c:v>
                </c:pt>
                <c:pt idx="15">
                  <c:v>592.57</c:v>
                </c:pt>
                <c:pt idx="16">
                  <c:v>474.57</c:v>
                </c:pt>
                <c:pt idx="17">
                  <c:v>376.13</c:v>
                </c:pt>
                <c:pt idx="18">
                  <c:v>371.66</c:v>
                </c:pt>
                <c:pt idx="19">
                  <c:v>315.45</c:v>
                </c:pt>
                <c:pt idx="20">
                  <c:v>280.91</c:v>
                </c:pt>
              </c:numCache>
            </c:numRef>
          </c:val>
        </c:ser>
        <c:ser>
          <c:idx val="1"/>
          <c:order val="1"/>
          <c:tx>
            <c:strRef>
              <c:f>Sheet1!$C$1</c:f>
              <c:strCache>
                <c:ptCount val="1"/>
                <c:pt idx="0">
                  <c:v>of which unassigned gate</c:v>
                </c:pt>
              </c:strCache>
            </c:strRef>
          </c:tx>
          <c:spPr>
            <a:solidFill>
              <a:srgbClr val="E8692A"/>
            </a:solidFill>
          </c:spPr>
          <c:invertIfNegative val="0"/>
          <c:cat>
            <c:strRef>
              <c:f>Sheet1!$A$2:$A$22</c:f>
              <c:strCache>
                <c:ptCount val="21"/>
                <c:pt idx="0">
                  <c:v>Whitehorse</c:v>
                </c:pt>
                <c:pt idx="1">
                  <c:v>Yellowknife</c:v>
                </c:pt>
                <c:pt idx="2">
                  <c:v>St. John's</c:v>
                </c:pt>
                <c:pt idx="3">
                  <c:v>Abbotsford</c:v>
                </c:pt>
                <c:pt idx="4">
                  <c:v>Regina</c:v>
                </c:pt>
                <c:pt idx="5">
                  <c:v>Saskatoon</c:v>
                </c:pt>
                <c:pt idx="6">
                  <c:v>Prince George</c:v>
                </c:pt>
                <c:pt idx="7">
                  <c:v>Winnipeg</c:v>
                </c:pt>
                <c:pt idx="8">
                  <c:v>Québec City</c:v>
                </c:pt>
                <c:pt idx="9">
                  <c:v>Vancouver</c:v>
                </c:pt>
                <c:pt idx="10">
                  <c:v>Edmonton</c:v>
                </c:pt>
                <c:pt idx="11">
                  <c:v>Halifax</c:v>
                </c:pt>
                <c:pt idx="12">
                  <c:v>Calgary</c:v>
                </c:pt>
                <c:pt idx="13">
                  <c:v>All 20 airports</c:v>
                </c:pt>
                <c:pt idx="14">
                  <c:v>Montréal</c:v>
                </c:pt>
                <c:pt idx="15">
                  <c:v>Toronto</c:v>
                </c:pt>
                <c:pt idx="16">
                  <c:v>Moncton</c:v>
                </c:pt>
                <c:pt idx="17">
                  <c:v>Kelowna</c:v>
                </c:pt>
                <c:pt idx="18">
                  <c:v>Victoria</c:v>
                </c:pt>
                <c:pt idx="19">
                  <c:v>London</c:v>
                </c:pt>
                <c:pt idx="20">
                  <c:v>Ottawa</c:v>
                </c:pt>
              </c:strCache>
            </c:strRef>
          </c:cat>
          <c:val>
            <c:numRef>
              <c:f>Sheet1!$C$2:$C$22</c:f>
              <c:numCache>
                <c:formatCode>General</c:formatCode>
                <c:ptCount val="21"/>
                <c:pt idx="0">
                  <c:v>0.0</c:v>
                </c:pt>
                <c:pt idx="1">
                  <c:v>0.0</c:v>
                </c:pt>
                <c:pt idx="2">
                  <c:v>0.0</c:v>
                </c:pt>
                <c:pt idx="3">
                  <c:v>0.0</c:v>
                </c:pt>
                <c:pt idx="4">
                  <c:v>0.0</c:v>
                </c:pt>
                <c:pt idx="5">
                  <c:v>0.0</c:v>
                </c:pt>
                <c:pt idx="6">
                  <c:v>0.0</c:v>
                </c:pt>
                <c:pt idx="7">
                  <c:v>0.0</c:v>
                </c:pt>
                <c:pt idx="8">
                  <c:v>0.0</c:v>
                </c:pt>
                <c:pt idx="9">
                  <c:v>0.0</c:v>
                </c:pt>
                <c:pt idx="10">
                  <c:v>0.0</c:v>
                </c:pt>
                <c:pt idx="11">
                  <c:v>228.26</c:v>
                </c:pt>
                <c:pt idx="12">
                  <c:v>0.0</c:v>
                </c:pt>
                <c:pt idx="13">
                  <c:v>0.0</c:v>
                </c:pt>
                <c:pt idx="14">
                  <c:v>0.0</c:v>
                </c:pt>
                <c:pt idx="15">
                  <c:v>0.0</c:v>
                </c:pt>
                <c:pt idx="16">
                  <c:v>0.0</c:v>
                </c:pt>
                <c:pt idx="17">
                  <c:v>0.0</c:v>
                </c:pt>
                <c:pt idx="18">
                  <c:v>0.0</c:v>
                </c:pt>
                <c:pt idx="19">
                  <c:v>0.0</c:v>
                </c:pt>
                <c:pt idx="20">
                  <c:v>133.08</c:v>
                </c:pt>
              </c:numCache>
            </c:numRef>
          </c:val>
        </c:ser>
        <c:gapWidth val="40"/>
        <c:overlap val="10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tickLblSkip val="1"/>
        <c:noMultiLvlLbl val="0"/>
      </c:catAx>
      <c:valAx>
        <c:axId val="-2113994440"/>
        <c:scaling>
          <c:max val="2500.0"/>
          <c:min val="0.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02"/>
          <c:w val="0.96"/>
          <c:h val="0.86"/>
        </c:manualLayout>
      </c:layout>
      <c:barChart>
        <c:barDir val="col"/>
        <c:grouping val="stacked"/>
        <c:ser>
          <c:idx val="0"/>
          <c:order val="0"/>
          <c:tx>
            <c:strRef>
              <c:f>Sheet1!$B$1</c:f>
              <c:strCache>
                <c:ptCount val="1"/>
                <c:pt idx="0">
                  <c:v>base</c:v>
                </c:pt>
              </c:strCache>
            </c:strRef>
          </c:tx>
          <c:spPr>
            <a:noFill/>
            <a:ln>
              <a:noFill/>
            </a:ln>
          </c:spPr>
          <c:cat>
            <c:strRef>
              <c:f>Sheet1!$A$2:$A$8</c:f>
              <c:strCache>
                <c:ptCount val="7"/>
                <c:pt idx="0">
                  <c:v>FY24-25</c:v>
                </c:pt>
                <c:pt idx="1">
                  <c:v>Revenue</c:v>
                </c:pt>
                <c:pt idx="2">
                  <c:v>Fuel</c:v>
                </c:pt>
                <c:pt idx="3">
                  <c:v>Crew</c:v>
                </c:pt>
                <c:pt idx="4">
                  <c:v>Maintenance</c:v>
                </c:pt>
                <c:pt idx="5">
                  <c:v>Food</c:v>
                </c:pt>
                <c:pt idx="6">
                  <c:v>FY25-26</c:v>
                </c:pt>
              </c:strCache>
            </c:strRef>
          </c:cat>
          <c:val>
            <c:numRef>
              <c:f>Sheet1!$B$2:$B$8</c:f>
              <c:numCache>
                <c:formatCode>General</c:formatCode>
                <c:ptCount val="7"/>
                <c:pt idx="1">
                  <c:v>-2.9863</c:v>
                </c:pt>
                <c:pt idx="2">
                  <c:v>-2.9863</c:v>
                </c:pt>
                <c:pt idx="3">
                  <c:v>-19.1075</c:v>
                </c:pt>
                <c:pt idx="4">
                  <c:v>-34.157</c:v>
                </c:pt>
                <c:pt idx="5">
                  <c:v>-47.1603</c:v>
                </c:pt>
              </c:numCache>
            </c:numRef>
          </c:val>
        </c:ser>
        <c:ser>
          <c:idx val="1"/>
          <c:order val="1"/>
          <c:tx>
            <c:strRef>
              <c:f>Sheet1!$C$1</c:f>
              <c:strCache>
                <c:ptCount val="1"/>
                <c:pt idx="0">
                  <c:v>total</c:v>
                </c:pt>
              </c:strCache>
            </c:strRef>
          </c:tx>
          <c:spPr>
            <a:solidFill>
              <a:srgbClr val="0B1F3A"/>
            </a:solidFill>
          </c:spPr>
          <c:invertIfNegative val="0"/>
          <c:dLbls>
            <c:numFmt formatCode="0.0;&quot;−&quot;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Sheet1!$A$2:$A$8</c:f>
              <c:strCache>
                <c:ptCount val="7"/>
                <c:pt idx="0">
                  <c:v>FY24-25</c:v>
                </c:pt>
                <c:pt idx="1">
                  <c:v>Revenue</c:v>
                </c:pt>
                <c:pt idx="2">
                  <c:v>Fuel</c:v>
                </c:pt>
                <c:pt idx="3">
                  <c:v>Crew</c:v>
                </c:pt>
                <c:pt idx="4">
                  <c:v>Maintenance</c:v>
                </c:pt>
                <c:pt idx="5">
                  <c:v>Food</c:v>
                </c:pt>
                <c:pt idx="6">
                  <c:v>FY25-26</c:v>
                </c:pt>
              </c:strCache>
            </c:strRef>
          </c:cat>
          <c:val>
            <c:numRef>
              <c:f>Sheet1!$C$2:$C$8</c:f>
              <c:numCache>
                <c:formatCode>General</c:formatCode>
                <c:ptCount val="7"/>
                <c:pt idx="0">
                  <c:v>-12.3558</c:v>
                </c:pt>
                <c:pt idx="6">
                  <c:v>-48.3772</c:v>
                </c:pt>
              </c:numCache>
            </c:numRef>
          </c:val>
        </c:ser>
        <c:ser>
          <c:idx val="2"/>
          <c:order val="2"/>
          <c:tx>
            <c:strRef>
              <c:f>Sheet1!$D$1</c:f>
              <c:strCache>
                <c:ptCount val="1"/>
                <c:pt idx="0">
                  <c:v>gain</c:v>
                </c:pt>
              </c:strCache>
            </c:strRef>
          </c:tx>
          <c:spPr>
            <a:solidFill>
              <a:srgbClr val="2E7D5B"/>
            </a:solidFill>
          </c:spPr>
          <c:invertIfNegative val="0"/>
          <c:dLbls>
            <c:numFmt formatCode="&quot;+&quot;0.0;&quot;+&quot;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Sheet1!$A$2:$A$8</c:f>
              <c:strCache>
                <c:ptCount val="7"/>
                <c:pt idx="0">
                  <c:v>FY24-25</c:v>
                </c:pt>
                <c:pt idx="1">
                  <c:v>Revenue</c:v>
                </c:pt>
                <c:pt idx="2">
                  <c:v>Fuel</c:v>
                </c:pt>
                <c:pt idx="3">
                  <c:v>Crew</c:v>
                </c:pt>
                <c:pt idx="4">
                  <c:v>Maintenance</c:v>
                </c:pt>
                <c:pt idx="5">
                  <c:v>Food</c:v>
                </c:pt>
                <c:pt idx="6">
                  <c:v>FY25-26</c:v>
                </c:pt>
              </c:strCache>
            </c:strRef>
          </c:cat>
          <c:val>
            <c:numRef>
              <c:f>Sheet1!$D$2:$D$8</c:f>
              <c:numCache>
                <c:formatCode>General</c:formatCode>
                <c:ptCount val="7"/>
                <c:pt idx="1">
                  <c:v>-9.3695</c:v>
                </c:pt>
              </c:numCache>
            </c:numRef>
          </c:val>
        </c:ser>
        <c:ser>
          <c:idx val="3"/>
          <c:order val="3"/>
          <c:tx>
            <c:strRef>
              <c:f>Sheet1!$E$1</c:f>
              <c:strCache>
                <c:ptCount val="1"/>
                <c:pt idx="0">
                  <c:v>cost</c:v>
                </c:pt>
              </c:strCache>
            </c:strRef>
          </c:tx>
          <c:spPr>
            <a:solidFill>
              <a:srgbClr val="E8692A"/>
            </a:solidFill>
          </c:spPr>
          <c:invertIfNegative val="0"/>
          <c:dLbls>
            <c:dLbl>
              <c:idx val="5"/>
              <c:delete val="1"/>
            </c:dLbl>
            <c:numFmt formatCode="0.0;&quot;−&quot;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Sheet1!$A$2:$A$8</c:f>
              <c:strCache>
                <c:ptCount val="7"/>
                <c:pt idx="0">
                  <c:v>FY24-25</c:v>
                </c:pt>
                <c:pt idx="1">
                  <c:v>Revenue</c:v>
                </c:pt>
                <c:pt idx="2">
                  <c:v>Fuel</c:v>
                </c:pt>
                <c:pt idx="3">
                  <c:v>Crew</c:v>
                </c:pt>
                <c:pt idx="4">
                  <c:v>Maintenance</c:v>
                </c:pt>
                <c:pt idx="5">
                  <c:v>Food</c:v>
                </c:pt>
                <c:pt idx="6">
                  <c:v>FY25-26</c:v>
                </c:pt>
              </c:strCache>
            </c:strRef>
          </c:cat>
          <c:val>
            <c:numRef>
              <c:f>Sheet1!$E$2:$E$8</c:f>
              <c:numCache>
                <c:formatCode>General</c:formatCode>
                <c:ptCount val="7"/>
                <c:pt idx="2">
                  <c:v>-16.1212</c:v>
                </c:pt>
                <c:pt idx="3">
                  <c:v>-15.0494</c:v>
                </c:pt>
                <c:pt idx="4">
                  <c:v>-13.0034</c:v>
                </c:pt>
                <c:pt idx="5">
                  <c:v>-1.2169</c:v>
                </c:pt>
              </c:numCache>
            </c:numRef>
          </c:val>
        </c:ser>
        <c:gapWidth val="45"/>
        <c:overlap val="100"/>
        <c:axId val="-2068027336"/>
        <c:axId val="-2113994440"/>
      </c:barChart>
      <c:catAx>
        <c:axId val="-2068027336"/>
        <c:scaling/>
        <c:delete val="0"/>
        <c:axPos val="b"/>
        <c:majorTickMark val="none"/>
        <c:minorTickMark val="none"/>
        <c:tickLblPos val="low"/>
        <c:spPr>
          <a:ln>
            <a:solidFill>
              <a:srgbClr val="D1D5DB"/>
            </a:solidFill>
          </a:ln>
        </c:spPr>
        <c:txPr>
          <a:bodyPr/>
          <a:lstStyle/>
          <a:p>
            <a:pPr>
              <a:defRPr sz="1050"/>
            </a:pPr>
          </a:p>
        </c:txPr>
        <c:crossAx val="-2113994440"/>
        <c:crosses val="autoZero"/>
        <c:auto val="1"/>
        <c:lblAlgn val="ctr"/>
        <c:lblOffset val="100"/>
        <c:noMultiLvlLbl val="0"/>
      </c:catAx>
      <c:valAx>
        <c:axId val="-2113994440"/>
        <c:scaling>
          <c:max val="0.0"/>
          <c:min val="-55.0"/>
        </c:scaling>
        <c:delete/>
        <c:axPos val="l"/>
        <c:majorTickMark val="none"/>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25"/>
          <c:y val="0.01"/>
          <c:w val="0.71"/>
          <c:h val="0.98"/>
        </c:manualLayout>
      </c:layout>
      <c:barChart>
        <c:barDir val="bar"/>
        <c:grouping val="clustered"/>
        <c:ser>
          <c:idx val="0"/>
          <c:order val="0"/>
          <c:tx>
            <c:strRef>
              <c:f>Sheet1!$B$1</c:f>
              <c:strCache>
                <c:ptCount val="1"/>
                <c:pt idx="0">
                  <c:v>Contribution</c:v>
                </c:pt>
              </c:strCache>
            </c:strRef>
          </c:tx>
          <c:invertIfNegative val="0"/>
          <c:dPt>
            <c:idx val="0"/>
            <c:spPr>
              <a:solidFill>
                <a:srgbClr val="E8692A"/>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E8692A"/>
              </a:solidFill>
            </c:spPr>
          </c:dPt>
          <c:dPt>
            <c:idx val="5"/>
            <c:spPr>
              <a:solidFill>
                <a:srgbClr val="E8692A"/>
              </a:solidFill>
            </c:spPr>
          </c:dPt>
          <c:dPt>
            <c:idx val="6"/>
            <c:spPr>
              <a:solidFill>
                <a:srgbClr val="E8692A"/>
              </a:solidFill>
            </c:spPr>
          </c:dPt>
          <c:dPt>
            <c:idx val="7"/>
            <c:spPr>
              <a:solidFill>
                <a:srgbClr val="E8692A"/>
              </a:solidFill>
            </c:spPr>
          </c:dPt>
          <c:dPt>
            <c:idx val="8"/>
            <c:spPr>
              <a:solidFill>
                <a:srgbClr val="E8692A"/>
              </a:solidFill>
            </c:spPr>
          </c:dPt>
          <c:dPt>
            <c:idx val="9"/>
            <c:spPr>
              <a:solidFill>
                <a:srgbClr val="E8692A"/>
              </a:solidFill>
            </c:spPr>
          </c:dPt>
          <c:dPt>
            <c:idx val="10"/>
            <c:spPr>
              <a:solidFill>
                <a:srgbClr val="2E7D5B"/>
              </a:solidFill>
            </c:spPr>
          </c:dPt>
          <c:dPt>
            <c:idx val="11"/>
            <c:spPr>
              <a:solidFill>
                <a:srgbClr val="2E7D5B"/>
              </a:solidFill>
            </c:spPr>
          </c:dPt>
          <c:dPt>
            <c:idx val="12"/>
            <c:spPr>
              <a:solidFill>
                <a:srgbClr val="2E7D5B"/>
              </a:solidFill>
            </c:spPr>
          </c:dPt>
          <c:dPt>
            <c:idx val="13"/>
            <c:spPr>
              <a:solidFill>
                <a:srgbClr val="2E7D5B"/>
              </a:solidFill>
            </c:spPr>
          </c:dPt>
          <c:dPt>
            <c:idx val="14"/>
            <c:spPr>
              <a:solidFill>
                <a:srgbClr val="2E7D5B"/>
              </a:solidFill>
            </c:spPr>
          </c:dPt>
          <c:dPt>
            <c:idx val="15"/>
            <c:spPr>
              <a:solidFill>
                <a:srgbClr val="2E7D5B"/>
              </a:solidFill>
            </c:spPr>
          </c:dPt>
          <c:cat>
            <c:strRef>
              <c:f>Sheet1!$A$2:$A$17</c:f>
              <c:strCache>
                <c:ptCount val="16"/>
                <c:pt idx="0">
                  <c:v>Montréal → Vancouver</c:v>
                </c:pt>
                <c:pt idx="1">
                  <c:v>Vancouver → Montréal</c:v>
                </c:pt>
                <c:pt idx="2">
                  <c:v>Halifax → Toronto</c:v>
                </c:pt>
                <c:pt idx="3">
                  <c:v>Montréal → Toronto</c:v>
                </c:pt>
                <c:pt idx="4">
                  <c:v>Toronto → Halifax</c:v>
                </c:pt>
                <c:pt idx="5">
                  <c:v>Toronto → Montréal</c:v>
                </c:pt>
                <c:pt idx="6">
                  <c:v>Ottawa → Toronto</c:v>
                </c:pt>
                <c:pt idx="7">
                  <c:v>Toronto → Ottawa</c:v>
                </c:pt>
                <c:pt idx="8">
                  <c:v>Halifax → Montréal</c:v>
                </c:pt>
                <c:pt idx="9">
                  <c:v>Montréal → Halifax</c:v>
                </c:pt>
                <c:pt idx="10">
                  <c:v>Toronto → Calgary</c:v>
                </c:pt>
                <c:pt idx="11">
                  <c:v>Calgary → Vancouver</c:v>
                </c:pt>
                <c:pt idx="12">
                  <c:v>Vancouver → Calgary</c:v>
                </c:pt>
                <c:pt idx="13">
                  <c:v>Calgary → Toronto</c:v>
                </c:pt>
                <c:pt idx="14">
                  <c:v>Toronto → Vancouver</c:v>
                </c:pt>
                <c:pt idx="15">
                  <c:v>Vancouver → Toronto</c:v>
                </c:pt>
              </c:strCache>
            </c:strRef>
          </c:cat>
          <c:val>
            <c:numRef>
              <c:f>Sheet1!$B$2:$B$17</c:f>
              <c:numCache>
                <c:formatCode>General</c:formatCode>
                <c:ptCount val="16"/>
                <c:pt idx="0">
                  <c:v>-10.3117</c:v>
                </c:pt>
                <c:pt idx="1">
                  <c:v>-9.3941</c:v>
                </c:pt>
                <c:pt idx="2">
                  <c:v>-4.9959</c:v>
                </c:pt>
                <c:pt idx="3">
                  <c:v>-4.3644</c:v>
                </c:pt>
                <c:pt idx="4">
                  <c:v>-4.1526</c:v>
                </c:pt>
                <c:pt idx="5">
                  <c:v>-4.0603</c:v>
                </c:pt>
                <c:pt idx="6">
                  <c:v>-3.7005</c:v>
                </c:pt>
                <c:pt idx="7">
                  <c:v>-3.4936</c:v>
                </c:pt>
                <c:pt idx="8">
                  <c:v>-2.194</c:v>
                </c:pt>
                <c:pt idx="9">
                  <c:v>-2.0293</c:v>
                </c:pt>
                <c:pt idx="10">
                  <c:v>1.5061</c:v>
                </c:pt>
                <c:pt idx="11">
                  <c:v>1.2482</c:v>
                </c:pt>
                <c:pt idx="12">
                  <c:v>1.2332</c:v>
                </c:pt>
                <c:pt idx="13">
                  <c:v>1.1978</c:v>
                </c:pt>
                <c:pt idx="14">
                  <c:v>0.9322</c:v>
                </c:pt>
                <c:pt idx="15">
                  <c:v>0.8298</c:v>
                </c:pt>
              </c:numCache>
            </c:numRef>
          </c:val>
        </c:ser>
        <c:dLbls>
          <c:numFmt formatCode="&quot;+&quot;0.0;&quot;−&quot;0.0" sourceLinked="0"/>
          <c:txPr>
            <a:bodyPr/>
            <a:lstStyle/>
            <a:p>
              <a:pPr>
                <a:defRPr sz="1050" b="1">
                  <a:solidFill>
                    <a:srgbClr val="1F2937"/>
                  </a:solidFill>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50"/>
            </a:pPr>
          </a:p>
        </c:txPr>
        <c:crossAx val="-2113994440"/>
        <c:crosses val="autoZero"/>
        <c:auto val="1"/>
        <c:lblAlgn val="ctr"/>
        <c:lblOffset val="100"/>
        <c:noMultiLvlLbl val="0"/>
      </c:catAx>
      <c:valAx>
        <c:axId val="-2113994440"/>
        <c:scaling>
          <c:max val="3.0"/>
          <c:min val="-12.5"/>
        </c:scaling>
        <c:delete/>
        <c:axPos val="b"/>
        <c:majorTickMark val="none"/>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~15 sec. Title is a working draft. Swap in team name; file must be named [TeamName]_FirstByte2026.pdf. Deadline: Thu Oct 15, 11:59 PM, PDF only, one upload.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SUMMARY. ~45 sec. Answer first.</a:t>
            </a:r>
          </a:p>
          <a:p>
            <a:r>
              <a:t>Say: "NorthByte flew 20% more flights for 5% more revenue, and its flight loss nearly quadrupled. The loss sits in the flights added in 2025. We recommend Right-Size &amp; Recover: cut those flights, recover revenue, and run the airline route by route. That takes NorthByte from −$58.4M to about break-even after gates, with all 20 airports kept."</a:t>
            </a:r>
          </a:p>
          <a:p>
            <a:r>
              <a:t>Left column (what we found), all FY25-26 vs FY24-25 from analysis/airline_analysis.sqlite:</a:t>
            </a:r>
          </a:p>
          <a:p>
            <a:r>
              <a:t>- Revenue $180.63M → $190.00M; flight costs $192.99M → $238.38M. Flights 13,072 → 15,729 (+20.3%).</a:t>
            </a:r>
          </a:p>
          <a:p>
            <a:r>
              <a:t>- Contribution -12.36 → -48.38 before gates; -58.40 after $10.02M of FY25-26 gates (each physical gate once; Sep–Dec 2025 lease + Jan–Aug 2026 estimate, each gate repeating its 2025 % rise). The case's "about $40M" matches our loss with refunds ($7.83M) left out: -40.54. Its "four times the year before" matches only with refunds included (3.9×). If asked: the case's two figures fit different definitions; do not call either an error.</a:t>
            </a:r>
          </a:p>
          <a:p>
            <a:r>
              <a:t>- Monthly margin (revenue by purchase month, costs by flight month): +4.5% in Feb 2025, -7.0% in Mar, negative every month to Aug 2026. The case says losses ran from February; on our data February is still positive. Second rotations: Montréal–Toronto and Ottawa–Toronto from Mar 2025; Montréal–Vancouver, Halifax–Toronto and Halifax–Montréal from Apr; Montréal–Ottawa launched 1 Mar. Flights Feb → Mar 2025 792 → 1,157 (+46% as monthly counts; about +32% per day, since February is short). Full year +20.3%.</a:t>
            </a:r>
          </a:p>
          <a:p>
            <a:r>
              <a:t>- Cost growth split: like-for-like (same route, same calendar month, FY25-26 flight weights) $15.25M = ⅓ (+7.1% per flight); volume and route mix $30.14M = ⅔ (HANDOFF.md; slide 8).</a:t>
            </a:r>
          </a:p>
          <a:p>
            <a:r>
              <a:t>- 16 directions = the 4 doubled trunk markets (Montréal–Toronto, Halifax–Toronto, Halifax–Montréal, Ottawa–Toronto; 8 directions) -28.99, Montréal–Vancouver -19.71, the 3 new markets (London–Toronto, Montréal–Ottawa, Moncton–Halifax) -10.25: total -58.95; the other 38 directions +10.57 (slides/OUTLINE.md "Verification notes").</a:t>
            </a:r>
          </a:p>
          <a:p>
            <a:r>
              <a:t>- Not-the-problem items against the −$36.0M decline: refunds −$1.15M, Points + Cash at most +$1.33M, ancillaries +$0.29M (OUTLINE.md).</a:t>
            </a:r>
          </a:p>
          <a:p>
            <a:r>
              <a:t>Right column (what we recommend) from analysis/tables/alternatives_matrix.csv, Right-Size &amp; Recover rows; it must match the Recommendation slide:</a:t>
            </a:r>
          </a:p>
          <a:p>
            <a:r>
              <a:t>- Schedule $54.6M = 28.5 (2,265 added trunk flights; +$14.5M if no revenue moves to the kept flights) + 19.7 (Montréal–Vancouver, 620 flights, 0 connecting passengers) + 6.4 (halve London–Toronto, Montréal–Ottawa, Moncton–Halifax, 1,411 flights; still about −$2.6M after halving, so pair it with the 0.8 revenue/cost kill trigger by Q4 FY26-27).</a:t>
            </a:r>
          </a:p>
          <a:p>
            <a:r>
              <a:t>- Revenue levers $5.2M central ($2.2–8.3M): trunk yield, St. John's rebook-first, OTA to direct, hub connections, community fares, all-in fare bundles.</a:t>
            </a:r>
          </a:p>
          <a:p>
            <a:r>
              <a:t>- After gates: -58.4 → +1.37 central (range -16.9 to +5.7: 0% to 100% of revenue on removed flights moving to kept flights). Schedule changes alone reach about −$3.8M. It is break-even on recorded costs, not a margin: aircraft ownership and overhead are not in the data. 4,296 of 15,729 flights removed (27%).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SITUATION / KEY QUESTION. ~40 sec.</a:t>
            </a:r>
          </a:p>
          <a:p>
            <a:r>
              <a:t>Set up the case from the brief: domestic carrier, 20 airports, 4 hubs (YVR, YYC, YYZ, YUL), fiscal year Sep–Aug. In early 2025 NorthByte opened 3 new markets and added a second rotation on five trunk markets. Finance reviewed costs only at company level, by category, never route by route (case p.10); that gap is our angle. End on the key question. The values (safety, fairness to customers, connecting communities) are the criteria we use to choose between alternatives later.</a:t>
            </a:r>
          </a:p>
          <a:p>
            <a:r>
              <a:t>Numbers: revenue $190.00M (+5.2%). −$48M = -48.38 before gates (revenue minus fuel, crew, maintenance and food, analysis/airline_analysis.sqlite); -58.40 after $10.02M of FY25-26 gates (pro-rated by fiscal month; 2026 leases estimated). The case's "about $40M" matches our loss with refunds excluded (-40.5). 20 airports and 54 directional routes counted in the cost file. New markets' first flights: London–Toronto 1 Feb, Montréal–Ottawa 1 Mar, Moncton–Halifax 1 Apr 2025 (the case says "spring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&amp; APPROACH. ~40 sec. Data Analysis = 35% of score; show rigor quickly, push detail to appendix. Key points: route codes normalized (e.g. 'yvryeg' → YVR-YEG), 1,856 duplicate transactions removed ($1.23M), mixed date formats resolved, gate costs de-duplicated (source repeats each gate per route) and pro-rated from calendar lease years onto the Sep–Aug fiscal year. TODO: gate allocation must follow the case rule: airport total ÷ ALL flights departing that airport. Current analysis/ code splits equally across listed routes; redo before finalizing.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WHAT CHANGED (guiding Q1). ~50 sec.</a:t>
            </a:r>
          </a:p>
          <a:p>
            <a:r>
              <a:t>Say: "Revenue grew $9.4M, or 5.2%. Flight costs grew $45.4M, or 23.5%: 4.5 times as fast. A $12.4M loss became $48.4M before gates, and $58.4M once gate leases are charged." Then hand over to why costs rose: about ⅔ is more flights and route mix, ⅓ higher cost per flight.</a:t>
            </a:r>
          </a:p>
          <a:p>
            <a:r>
              <a:t>Bridge (analysis/airline_analysis.sqlite, FY24-25 → FY25-26, before gates): -12.36 + revenue +9.37 − fuel 16.12 − crew 15.05 − maintenance 13.00 − food 1.22 = -48.38. "4.5× faster" compares growth rates (+23.5% vs +5.2%); in dollars costs grew 4.8× as much as revenue.</a:t>
            </a:r>
          </a:p>
          <a:p>
            <a:r>
              <a:t>"Mostly from more flights": flights 13,072 → 15,729 (+20.3%); like-for-like cost per flight (same route and calendar month) explains only fuel $6.5M, crew $5.7M and maintenance $3.1M of these increases; the rest is volume and route mix (slide 8).</a:t>
            </a:r>
          </a:p>
          <a:p>
            <a:r>
              <a:t>Gates: $9.88M for the 2025-26 lease year with each physical gate counted once (the raw rows sum to $17.8M because shared gates repeat on every route). FY25-26 is charged $10.02M (Sep–Dec 2025 lease + Jan–Aug 2026 estimate), so after gates -58.40; split across departing flights per the case rule.</a:t>
            </a:r>
          </a:p>
          <a:p>
            <a:r>
              <a:t>Case reconciliation: the case's "about $40M" matches our loss without refunds (-40.54; refunds $7.83M). With refunds included the loss is 3.9× the prior year, which matches the case's "four 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Q1 (when). ~50 sec. Monthly flights jumped from ~790 (Feb 2025) to 1,157 (Mar) and ~1,250-1,480 after. Margin went from +4.5% (Feb) to −7% (Mar) to −24% (Apr) and never recovered. Case says losses since Feb 2025; our data shows Feb still +4.5%. Decide how to phrase; don't contradict the client without explaining. Annotate the chart with the expansion 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WHY COSTS ROSE. ~60 sec.</a:t>
            </a:r>
          </a:p>
          <a:p>
            <a:r>
              <a:t>Say: "Costs rose $45M. We compared every route with itself in the same month a year earlier. Two-thirds, $30M, is simply more flying: 20% more flights, and all of that extra flying is on the 16 directions NorthByte added or doubled in 2025. One-third, $15M, is each flight costing more: fuel up almost 9%, crew up 8.5%. NorthByte can't set fuel prices, and crew rates are fixed by the new pilot agreement. What it decides is how many flights it flies."</a:t>
            </a:r>
          </a:p>
          <a:p>
            <a:r>
              <a:t>1. Volume &amp; route mix $30.1M ($30.14M): FY25-26 flights at each route's own FY24-25 cost per flight, same calendar month; route-months with no FY24-25 flights count in full (36 route-months: the new markets' Sep–Mar months, which they had not yet flown a year earlier; they launched Feb–Apr 2025). By group: 4 doubled trunk markets (Montréal–Toronto, Halifax–Toronto, Halifax–Montréal, Ottawa–Toronto) $13.57M, Montréal–Vancouver $9.46M, 3 new markets $7.29M, other 38 directions −$0.17M (7,752 → 7,757 flights). On the card the rounded parts add to $30.2M, not $30.1M, only by rounding; unrounded they add to $30.14M.</a:t>
            </a:r>
          </a:p>
          <a:p>
            <a:r>
              <a:t>   Why the trunk shows $13.6M here but $28.5M on Key issues and the Recommendation: $13.6M is the year-over-year increase. FY24-25 already contained the doubled flights from Mar/Apr to Aug 2025 (trunk flights 3,391 → 4,530). The 2,265 added trunk flights cost $28.5M in FY25-26: the Recommendation's +$28.5M central, which assumes their revenue moves to the kept flights. Likewise Montréal–Vancouver's $9.5M is extra cost from 447 → 620 flights; the Recommendation's +$19.7M is the route's whole FY25-26 loss (revenue minus cost, before gates).</a:t>
            </a:r>
          </a:p>
          <a:p>
            <a:r>
              <a:t>2. Like-for-like $15.3M ($15.25M, +7.07%; shown as 15.3 so the parts add to $45.4M, as on Key issues): fuel $6.51M (+8.71%), crew $5.65M (+8.46%), maintenance $3.11M (+4.74%), food −$0.015M (−0.17%).</a:t>
            </a:r>
          </a:p>
          <a:p>
            <a:r>
              <a:t>   Timing: the like-for-like gap is +14.3% in Sep, +12.8% in Dec, +8.0% in Mar, +1.6% in Jun and −0.5% / −0.6% in Jul / Aug. Read: unit costs climbed ~13–14% in monthly steps from Jan to Jul 2025 on every route (standard deviation across routes under 2 points in every month), then stayed flat. Only Jul–Aug is directly observed as flat. It started in Jan, before the March expansion, and hit unchanged routes just as much, so it is not a side effect of the expansion. Do not call it a one-time step.</a:t>
            </a:r>
          </a:p>
          <a:p>
            <a:r>
              <a:t>   Basis matters, footnote if asked: $15.3M at FY25-26 route-month weights; $12.3M on identical flights; $26–28M at run-rate vs fall-2024 unit costs.</a:t>
            </a:r>
          </a:p>
          <a:p>
            <a:r>
              <a:t>3. The case's "fuel +3%, crew +4% per flight" are network averages: +3.09% / +4.05% (all costs +2.65%, $14,763 → $15,155 per flight). The 3 new markets' flights cost ~$5,398 each vs ~$17,289 elsewhere, which pulls the average down. Excluding them: +9.24% / +9.60%.</a:t>
            </a:r>
          </a:p>
          <a:p>
            <a:r>
              <a:t>   Why those sit above like-for-like (+8.7% / +8.5%): they are plain averages, so they also carry route mix. On the routes left, like-for-like is +8.8% / +8.6% (the new markets' own matched months rose only +4.3% / +4.5%, which pulls the network figure down). On top, the mix shifts toward Montréal–Vancouver (447 → 620 flights at ~4x the average fuel cost per flight): +2.4 / +2.2 points (fuel / crew). More trunk flights, which are cheaper than average, take −2.2 / −1.4. Net mix +0.4 / +0.9 points.</a:t>
            </a:r>
          </a:p>
          <a:p>
            <a:r>
              <a:t>   A company-level, by-category view (case p.10) could not see either effect: this is Issue 3.</a:t>
            </a:r>
          </a:p>
          <a:p>
            <a:r>
              <a:t>Link to Key issues (Issue 2, "each flight earns less and costs more"): it carries the same $15.3M. Do NOT add it to Issue 1: about $6.5M of the like-for-like rise sits on the 16 added directions and is already inside their route losses.</a:t>
            </a:r>
          </a:p>
          <a:p>
            <a:r>
              <a:t>If a judge cites "86% volume" (older draft, and the teammate notebook's $39.2M / $6.2M split): that values every extra flight at the FY24-25 network-average cost ($14,763), but many are cheap new-market flights, so it overstates volume and hides the per-flight rise. Route by route it is two-thirds / one-third.</a:t>
            </a:r>
          </a:p>
          <a:p>
            <a:r>
              <a:t>Sources: analysis/airline_analysis.sqlite, costs table (recomputed by slides/build_costs.py); slides/OUTLINE.md "Verification notes"; analysis/key_issues_verification.md. Costs only, before gates (gate leases +2.2%, mostly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NETWORK (guiding Q2). ~60 sec.</a:t>
            </a:r>
          </a:p>
          <a:p>
            <a:r>
              <a:t>Say: "The five markets that got a second rotation in 2025 (Montréal–Vancouver, Halifax–Toronto, Montréal–Toronto, Ottawa–Toronto, Halifax–Montréal) lose $48.7M, as much as the whole network. Montréal–Vancouver alone is a third of all route losses and carries no connecting passengers. 26 routes still make money, so the rest of the network is carrying the expansion."</a:t>
            </a:r>
          </a:p>
          <a:p>
            <a:r>
              <a:t>Numbers (analysis/airline_analysis.sqlite, FY25-26, before gates, 54 directional routes; all deduplicated transactions):</a:t>
            </a:r>
          </a:p>
          <a:p>
            <a:r>
              <a:t>- The five markets = 10 directions, -48.70; network -48.38. They are the ten orange bars, the 10 worst of 54; each flew about twice as many flights Sep–Feb as a year earlier. The six green bars are the best routes: Toronto, Calgary and Vancouver hub pairs.</a:t>
            </a:r>
          </a:p>
          <a:p>
            <a:r>
              <a:t>- Montréal–Vancouver -19.71 = 32% of the -60.93 lost by the 28 negative directions.</a:t>
            </a:r>
          </a:p>
          <a:p>
            <a:r>
              <a:t>- 26 positive directions earn +12.56. (Dropping the 759 out-of-window transactions gives the same 26 routes: +$12.37M / −$61.04M.)</a:t>
            </a:r>
          </a:p>
          <a:p>
            <a:r>
              <a:t>- Top 8 decliners (both directions of Montréal–Vancouver, Halifax–Toronto, Montréal–Toronto, Ottawa–Toronto): -25.70 of the -36.02 decline = 71.3%. Halifax–Montréal is 9th and 10th.</a:t>
            </a:r>
          </a:p>
          <a:p>
            <a:r>
              <a:t>- Hub split (hubs YVR, YYC, YYZ, YUL), outside the 16 expansion directions: hub–hub 6 directions +6.95 (all profitable); hub–regional 28 directions +4.48; regional–regional 4 directions -0.86 (Halifax–St. John's, Edmonton–Yellowknife). Including the expansion, every class loses (hub–hub −21.2, hub–regional −23.9, regional–regional −3.3), so what separates winners from losers is whether a market was expanded, not hub vs regional.</a:t>
            </a:r>
          </a:p>
          <a:p>
            <a:r>
              <a:t>- Both directions share the same sign in all 27 markets: 13 of 27 markets are profitable.</a:t>
            </a:r>
          </a:p>
          <a:p>
            <a:r>
              <a:t>- After gates (case rule; the count is the same on the 2025 lease total or the FY25-26 accrual): 24 of 54 directions positive; the five markets −51.5 of -58.4. Issue sizes stay before gates because gate leases do not fall when flights are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EXPANSION (guiding Q1/Q2). ~45 sec.</a:t>
            </a:r>
          </a:p>
          <a:p>
            <a:r>
              <a:t>Say: "The expansion had two parts: three new markets, and a second rotation on five existing trunk markets. Compare the same six months a year apart. On the trunk, flights doubled (+101%) but revenue rose only 3.1%, less than on routes we did not touch (+4.0%). Tickets per flight fell 44%, and a $1.2M profit became a $23.8M loss. The new markets lost $5.0M: real, but about a fifth of the trunk swing."</a:t>
            </a:r>
          </a:p>
          <a:p>
            <a:r>
              <a:t>Then the proof that the extra flights caused the fare cut: the rollout was staggered. Montréal–Toronto and Ottawa–Toronto doubled in March 2025 and their fare against other routes fell from 1.007 to 0.909 that month. Halifax–Toronto, Halifax–Montréal and Montréal–Vancouver were still at 1.021 in March and fell to 0.913 in April, when theirs doubled.</a:t>
            </a:r>
          </a:p>
          <a:p>
            <a:r>
              <a:t>Close: "Each added flight brought about 1.9 extra passengers when it needed about 19, and a year later nothing has grown into the schedule. So the fix is to remove the added frequency, not to wait for it to fill."</a:t>
            </a:r>
          </a:p>
          <a:p/>
          <a:p>
            <a:r>
              <a:t>Numbers (all recomputed by slides/build_expansion.py from analysis/airline_analysis.sqlite; Sep–Feb = 2024-09..2025-02 vs 2025-09..2026-02; revenue = all transaction types net of refunds by purchase month; flights and cost from cost_events by flight date; before gates):</a:t>
            </a:r>
          </a:p>
          <a:p>
            <a:r>
              <a:t>- Doubled trunk, 10 directions (Ottawa–Toronto also got a midday flight, so "afternoon flight" is shorthand there): flights 1,230 → 2,470; revenue $21.5M → $22.1M; tickets per flight 16.5 → 9.3; contribution +$1.2M → −$23.8M (−$24.9M). Average fare −8.2%.</a:t>
            </a:r>
          </a:p>
          <a:p>
            <a:r>
              <a:t>- New markets, 6 directions: flights 72 → 1,352 (the 72 are London–Toronto's launch month, Feb 2025); revenue $0.07M → $2.4M; contribution −$0.3M → −$5.0M. FY25-26 cost coverage 32.7% ("a third"; 32–34% in every month per HANDOFF).</a:t>
            </a:r>
          </a:p>
          <a:p>
            <a:r>
              <a:t>- Other 38 directions: flights 3,719 → 3,724; revenue +4.0%; contribution +$7.9M → +$3.6M because cost per flight rose +12.0% (the Jan–Jul 2025 cost ramp, issue 2), not because of the schedule.</a:t>
            </a:r>
          </a:p>
          <a:p>
            <a:r>
              <a:t>- Network Sep–Feb contribution fell $33.9M; the trunk is 74% of that, the new markets 14%.</a:t>
            </a:r>
          </a:p>
          <a:p>
            <a:r>
              <a:t>- Fare index = group ticket revenue per ticket ÷ the same for the 38 other directions, divided by that ratio over Sep 24–Feb 25 (OUTLINE "Verification notes", additional data 1).</a:t>
            </a:r>
          </a:p>
          <a:p>
            <a:r>
              <a:t>- Extra tickets per added flight: trunk tickets above the other routes' trend (+1.4%), ÷ 1,240 added flights. Break-even: incremental cost $23.1M (trunk cost at the other routes' cost-per-flight growth) ÷ added flights ÷ FY25-26 Sep–Feb trunk fare ($979). Incremental revenue vs the other routes' trend: −$0.2M (OUTLINE additional data 2).</a:t>
            </a:r>
          </a:p>
          <a:p>
            <a:r>
              <a:t>- Apr–Aug 2025 vs 2026: 2,260 trunk flights in both years, identical route-date-time slots; tickets 19,736 → 19,751 (+0.1%).</a:t>
            </a:r>
          </a:p>
          <a:p>
            <a:r>
              <a:t>Q&amp;A: slide 17 shows Montréal–Vancouver apart from the 4 other trunk markets because its fix differs (exit, not revert). It is in the doubled trunk here because it was doubled in April 2025 like the others. The 4 markets alone (8 directions): flights +100.9%, revenue +3.7%, tickets per flight −43.7%.</a:t>
            </a:r>
          </a:p>
          <a:p>
            <a:r>
              <a:t>Concede if asked: the data cannot show which departure a passenger took, so AM and PM loads cannot be compared directly; the route-level test above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LEVERS: GUIDING Q3 + Q4. ~60 sec.</a:t>
            </a:r>
          </a:p>
          <a:p>
            <a:r>
              <a:t>Say: "Leadership suspected fuel, crew, refunds and Rewards. Ranked in dollars, the $36M decline is mostly the extra flights. The suspects are real but small, and two of them are levers we use in the recommendation."</a:t>
            </a:r>
          </a:p>
          <a:p>
            <a:r>
              <a:t>Chart (before gates; bars are $M change in contribution, FY24-25 → FY25-26):</a:t>
            </a:r>
          </a:p>
          <a:p>
            <a:r>
              <a:t>- Contribution −$12.4M → −$48.4M = −$36.0M. Revenue +$9.4M; flight costs +$45.4M.</a:t>
            </a:r>
          </a:p>
          <a:p>
            <a:r>
              <a:t>- More flights (volume &amp; mix) −$30.1M: the part of the +$45.4M cost growth not explained by unit-cost changes, i.e. 13,072 → 15,729 flights plus the mix of new routes and months (⅔ of cost growth).</a:t>
            </a:r>
          </a:p>
          <a:p>
            <a:r>
              <a:t>- Cost per flight like-for-like −$15.25M, shown as $15.3M so the ⅔/⅓ split adds to the rounded $45.4M (⅓): same route and calendar month, at FY25-26 flight counts. Fuel −$6.5M (+8.7%), crew −$5.7M (+8.5%), maintenance −$3.1M, food ~0. On identical flights only it is $12.3M; at run-rate vs fall-2024 unit costs $26–28M. Q3 answer: fuel and crew prices explain about $12.2M; the rest of their $31.2M growth is from flying more.</a:t>
            </a:r>
          </a:p>
          <a:p>
            <a:r>
              <a:t>- Net revenue +$9.4M, of which Points + Cash ticket sales +$1.33M, refunds −$1.15M, ancillaries +$0.29M. Ticket sales overall +$10.2M. Do NOT add the light bars to the main bars: they are already inside them.</a:t>
            </a:r>
          </a:p>
          <a:p>
            <a:r>
              <a:t>- Gates −$0.21M ($9.66M → $9.88M, +2.2%, lease years) sit outside the before-gates total.</a:t>
            </a:r>
          </a:p>
          <a:p>
            <a:r>
              <a:t>Cards:</a:t>
            </a:r>
          </a:p>
          <a:p>
            <a:r>
              <a:t>1. Refunds $6.68M → $7.83M (about half the rise is a data-window artefact; like-for-like +8–10%). OTA 5.8% vs 3.7% web/app on gross sales (FY25-26). St. John's Dec–Feb FY25-26: 37% of gross sales refunded (36–39% by measure). Addressable excess ~$2M (St. John's ~$1.9M, OTA ~$0.8M; overlapping) → rebook-first and OTA → direct levers.</a:t>
            </a:r>
          </a:p>
          <a:p>
            <a:r>
              <a:t>2. Ancillaries: 4 streams (bags, seats, food, change fees) $3.97M = 2.1% of FY25-26 revenue; +10% = $0.40M. (The 3 paid extras alone are $3.36M; +10% = $0.34M. Use the 4-stream number.)</a:t>
            </a:r>
          </a:p>
          <a:p>
            <a:r>
              <a:t>3. Rewards: average ticket $1,031 over both years; every tier within 0.26%. Seat upgrades per ticket: Gold 11.0%, Platinum 12.1% vs 5.6–6.2% for Blue, Silver and non-members. Points + Cash records the full fare and non-members use it too, so the program's cost is not visible. Upper bound: if all the Points + Cash growth were unpaid points, Rewards explains at most $1.33M (3.7% of the decline). Rivals' loyalty spending (case p.8) is a threat, but matching it is not the fix.</a:t>
            </a:r>
          </a:p>
          <a:p>
            <a:r>
              <a:t>4. Connections: two chained ticket legs on one booking (A–B + B–C). 12,644 bookings over Sep 2024–Aug 2026 (plus 268 return trips, excluded); 6,441 of them have a ticket in FY25-26, so do not divide the FY25-26 revenue by 12,644. FY25-26 revenue on those bookings $13.11M = 6.90% of $190.0M. Teammate's independent proxy: $13.08M, 6.90% of their $189.71M (they drop 759 out-of-window transactions), so the two agree. Hubs: Toronto 7,263, Calgary 3,852, Vancouver 1,056, Montréal 473. Montréal–Vancouver: 0 connecting passengers. Trunk cuts put only ~$0.18M a year of connection revenue at risk. Shrink to Core would lose $8.1M of connecting revenue (analysis/tables/alternatives_matrix.csv); Right-Size loses $0. Lever in the recommendation: hub connection marketing, $0.7–2.6M. Not proven incremental: the data cannot show which flight a passenger took.</a:t>
            </a:r>
          </a:p>
          <a:p>
            <a:r>
              <a:t>Sources: analysis/airline_analysis.sqlite (slides/build_levers.py recomputes every number); slides/OUTLINE.md "Verification notes"; analysis/key_issues_verification.md; analysis/tables/gate_period.csv; teammate outputs/tables/04_connecting_booking_proxy.csv and 03_decline_bridge.csv.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LEASES (guiding Q5). ~45 sec.</a:t>
            </a:r>
          </a:p>
          <a:p>
            <a:r>
              <a:t>Say: "Leadership asked about gates. They are a small, steady cost: $9.88M, up 2.2%. Expect about $10.1M for the 2026-27 leases."</a:t>
            </a:r>
          </a:p>
          <a:p>
            <a:r>
              <a:t>1. Change. Counting each physical gate once, leases went $9,664,400 (2024-25 lease, calendar 2024) to $9,877,700 (2025-26, calendar 2025): +$213,300, +2.21%. Same 34 gates at 20 airports in both years; every gate rose 1.3% to 2.6%. The 4 hubs are 60% of the bill and 67% of the increase. Flight costs rose $45.4M (FY24-25 to FY25-26); gates are about 4% of FY25-26 recorded cost including gates. The raw file sums to $17.4M because a shared gate repeats on each route row.</a:t>
            </a:r>
          </a:p>
          <a:p>
            <a:r>
              <a:t>2. 2026-27 estimate (the lease from Jan 1, 2026 to Jan 1, 2027; its records were lost). Each gate repeats its own 2025 percentage increase: $10,095,844 (+2.2%). Range: every gate at the smallest observed rise (+1.3%) gives $10,008,846; every gate at the largest (+2.6%) gives $10,134,802. Repeating each gate's dollar increase gives $10,091,000. Frozen rates ($9,877,700) are only a floor: all 34 gates rose in 2025. So: expect ~$10.1M, range $10.01M to $10.13M. This is a scenario range, not a confidence interval. (FY26-27 itself spans 4 months of the 2026-27 lease and 8 of the 2027-28 lease.)</a:t>
            </a:r>
          </a:p>
          <a:p>
            <a:r>
              <a:t>3. Case rule: each airport's gate total is split evenly over every flight departing it (arrivals pay nothing). FY25-26 basis = each airport's fiscal gate cost (Sep–Dec 2025 lease + Jan–Aug 2026 estimate) ÷ its FY25-26 departures (same basis as the −$58.4M). Network $637 per departure (15,729 departures). Whitehorse $1,951 (80 departures on one gate), Yellowknife $1,787, St. John's $1,133; hubs $593 (Toronto) to $811 (Vancouver). Ottawa is lowest ($281) because Ottawa–Toronto was doubled and Ottawa–Montréal added (1,582 departures). A year earlier it was $739 (13,072 FY24-25 departures): spreading a fixed cost over 20% more flights lowered gate cost per flight, but did not make those flights pay.</a:t>
            </a:r>
          </a:p>
          <a:p>
            <a:r>
              <a:t>   These are allocations of a fixed cost, not savings: the airports with the fewest departures per gate cost most per flight (Whitehorse 80 and Yellowknife 86 FY25-26 departures on one gate each), and they stay (all 20 airports are kept). Remoteness alone is not the driver: Abbotsford, Regina, Saskatoon, Winnipeg and Québec City also sit above Vancouver, while one-gate Kelowna, Victoria, London and Moncton are among the cheapest. If asked "why not drop Whitehorse's gate?": the gate is the price of serving that community, and only 2 of the 34 gates have no routes.</a:t>
            </a:r>
          </a:p>
          <a:p>
            <a:r>
              <a:t>4. Unassigned gates: Halifax A3 and Ottawa A2 have no route assigned in either year: $425,700 (2024-25), $433,500 (2025-26), ≈$441,445 at 2026-27 estimated rates. They add $228 to each Halifax departure and $133 to each Ottawa departure. "Unassigned" does not prove "unused" (backup, irregular operations), so station managers confirm before release at the Jan 2027 renewal (recommendation, no-regret move).</a:t>
            </a:r>
          </a:p>
          <a:p>
            <a:r>
              <a:t>5. Loss after gates: FY25-26 contribution −$48.38M minus $10.02M of FY25-26 gates (Sep–Dec 2025 on the 2025-26 lease, Jan–Aug 2026 on the 2026-27 estimate) = −$58.40M, shown as −$58.4M across the deck. Freezing 2026 at 2025 rates would give −$58.25M; the $0.15M gap changes no conclusion.</a:t>
            </a:r>
          </a:p>
          <a:p>
            <a:r>
              <a:t>   Why it matters: gates are fixed. Removing flights does not remove gate cost unless every route at a gate or airport goes. That is why issue sizes and the savings from cutting flights are stated before gates; each alternative's bottom line subtracts the same $10.02M, less any gates it releases. Right-Size's flight cuts release none; Shrink to Core's −$3.4M already credits the gates it frees (it closes 6 of 20 airports); a full exit of the new markets would free $0.69M. Only releasing a gate saves money.</a:t>
            </a:r>
          </a:p>
          <a:p>
            <a:r>
              <a:t>Sources: analysis/airline_analysis.sqlite (gates, costs, transactions); analysis/tables/gate_period.csv; HANDOFF.md "Data rules"; OUTLINE.md "Verification notes". Teammate's outputs/tables/05_forecast_scenarios.csv, 05_gate_change_forecast.csv, 05_fiscal_allocation_summary.csv and 05_unassigned_gate_leases.csv agree to the cent (their after-gates figure differs only because their revenue basis drops 759 out-of-window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ISSUES. ~40 sec.</a:t>
            </a:r>
          </a:p>
          <a:p>
            <a:r>
              <a:t>Say: "Record revenue, but a loss nearly four times last year's. Three issues explain it, and they are not the ones leadership suspected."</a:t>
            </a:r>
          </a:p>
          <a:p>
            <a:r>
              <a:t>1. Capacity outran demand. The chart is the whole story: the 16 directions NorthByte added or doubled in 2025 lose about $59M; the other 38 still make +$10.6M (about +$5M after gates) and were profitable in all 24 months. That answers Q2: the rest of the network still earns, but covers only about a fifth of the expansion's −$59M.</a:t>
            </a:r>
          </a:p>
          <a:p>
            <a:r>
              <a:t>   The 4 doubled trunk markets are Montréal–Toronto, Halifax–Toronto, Halifax–Montréal and Ottawa–Toronto. Name them; do not say "8 directions" without naming them (afternoon_findings uses a different 8).</a:t>
            </a:r>
          </a:p>
          <a:p>
            <a:r>
              <a:t>   The staggered rollout is strongly consistent with cause and effect: each group's fare fell ~10% against control routes in the exact month its flights doubled (purchase-month revenue, so say "consistent with", not "proves").</a:t>
            </a:r>
          </a:p>
          <a:p>
            <a:r>
              <a:t>2. Each flight earns less and costs more. Per flight on the same route and month, fuel +8.7% and crew +8.5% ($12.2M together); with maintenance (+4.7%, $3.1M) all cost lines rose $15.3M on that basis ($15.25M, rounded so ⅔ + ⅓ add to $45.4M) ($12.3M on identical flights), rising Jan–Jul 2025 on every route, then flat. If asked "what about maintenance +$13.0M?": mostly volume; only $3.1M is per-flight, and it falls with the flights Right-Size removes. By cost line fuel+crew are $31.2M of the decline; by cause, $19.0M of that is flying more and $12.2M is higher cost per flight. Trunk fares fell ~8% Sep–Feb. Do NOT add issue 2 to issue 1: about $6.5M of the cost rise is already inside issue 1's route losses.</a:t>
            </a:r>
          </a:p>
          <a:p>
            <a:r>
              <a:t>3. Root cause: costs were reviewed company-wide, by category (case p.10). The routes later doubled already had a 5.4% margin vs 12.3% elsewhere, and 8,051 of 8,183 Mar–Aug 2026 flights repeat 2025 exactly. "Nobody reviewed it" is our inference from that; say so if asked.</a:t>
            </a:r>
          </a:p>
          <a:p>
            <a:r>
              <a:t>Close with the strip: Five Forces explains why frequency was the wrong bet (competitor response is our inference; the data only shows NorthByte's own fares). Ancillaries, gates and seasonality are each an order of magnitude smaller; Rewards' cost isn't in the data, so we don't size it.</a:t>
            </a:r>
          </a:p>
          <a:p>
            <a:r>
              <a:t>If asked "is it ALL the expansion?": no. The 16 added directions explain ~90% of the decline (the 10 doubled trunk directions alone 78%); the other 38 directions also slipped $3.4M (+$14.0M → +$10.6M) on the per-flight cost step, and 12 of them lose money individually.</a:t>
            </a:r>
          </a:p>
          <a:p>
            <a:r>
              <a:t>The case's "~$40M" is our −$48.4M with refunds excluded (−$40.5M). Refunds $6.7M → $7.8M is about +9% like-for-like (Sep 2024 is a low data month).</a:t>
            </a:r>
          </a:p>
          <a:p>
            <a:r>
              <a:t>Sources: analysis/airline_analysis.sqlite; slides/OUTLINE.md "Verification notes"; cross-checked against the teammate repo (differences are only date parsing, ≤ $0.3M).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ALTERNATIVES. ~45 sec.</a:t>
            </a:r>
          </a:p>
          <a:p>
            <a:r>
              <a:t>Say: "We tested four ways out, on one consistent FY25-26 basis, against NorthByte's own values."</a:t>
            </a:r>
          </a:p>
          <a:p>
            <a:r>
              <a:t>- Stay the Course: the baseline, about −$58M after gates.</a:t>
            </a:r>
          </a:p>
          <a:p>
            <a:r>
              <a:t>- Fill the Planes: keep every flight and sell more. It needs +25.5% revenue just to break even before gates (+30.7% after), roughly 5 years of record growth with ~$130M more losses on the way, and every lever we sized adds only ~$5M. The trunk already ran this experiment.</a:t>
            </a:r>
          </a:p>
          <a:p>
            <a:r>
              <a:t>- Right-Size &amp; Recover: remove the 2025 trunk add-ons, exit Montréal–Vancouver, halve the 3 new markets, then use the revenue levers. Central case about +$1.4M after gates with all 20 airports kept; range about −$17M to +$6M (0–100% recapture plus lever low–high). Be upfront that the central case is thin: it breaks even only if ~90% of the trunk's cut-flight revenue moves to the kept flights (it beats Shrink above ~⅔), and ~1% more cost per flight or ~1% less retained revenue would erase it. Why we still expect high recapture: the added flights brought in almost no extra revenue (+3.7% vs +3.3–4.0% on unchanged routes), and 10 of 10 doubled directions cut fares while 0 of 38 unchanged directions did. Each added trunk flight brought ~1.9 extra tickets against ~19 needed to break even, so most of it should.</a:t>
            </a:r>
          </a:p>
          <a:p>
            <a:r>
              <a:t>- Shrink to Core: exit the 22 directions that lost money in every FY25-26 season. Similar money, more certain, but 6 airports, $8M of connecting revenue and 56% of flights gone. It only wins if money is weighted 70%+ AND Right-Size recaptures nothing.</a:t>
            </a:r>
          </a:p>
          <a:p>
            <a:r>
              <a:t>If asked "is +$1.4M a profit?": it is contribution after gates, i.e. break-even on the costs the data shows (fuel, crew, maintenance, food, gates). It excludes aircraft ownership and overhead, which the case does not give. The schedule changes alone get to about −$3.8M; the revenue levers (~$5.2M central) close the gap.</a:t>
            </a:r>
          </a:p>
          <a:p>
            <a:r>
              <a:t>Assumption to disclose: fuel, crew, maintenance and food on removed flights are avoidable (case p.10: these costs "depend on the number of flights"). About $73.6M of flight cost is removed; each 10% that proves fixed costs ~$7.4M.</a:t>
            </a:r>
          </a:p>
          <a:p>
            <a:r>
              <a:t>Gates: after-gates figures accrue leases by fiscal year: Sep–Dec 2025 at 2025 rates + Jan–Aug 2026 with each gate repeating its 2024→25 increase = $10.02M (teammate's gate analysis agrees to the cent).</a:t>
            </a:r>
          </a:p>
          <a:p>
            <a:r>
              <a:t>If asked "why exit Montréal–Vancouver rather than go back to one flight?": the difference is only ~$0.9M ($19.7M vs $18.8M); even the one-rotation base schedule still loses ~$0.9M after the cost step, it has 0 connecting passengers, and the exit saving doesn't depend on recapture. Fallback: revert to one rotation and exit if it stays negative for two quarters.</a:t>
            </a:r>
          </a:p>
          <a:p>
            <a:r>
              <a:t>Fill the Planes' −$28M ceiling assumes a −1.5 fare elasticity that our trunk evidence contradicts (fares −11%, tickets +11% vs control, revenue flat), so it is generous.</a:t>
            </a:r>
          </a:p>
          <a:p>
            <a:r>
              <a:t>Safety is a pass/fail screen, not a score. Weights: financial 30%; communities, customers, employees 15% each.</a:t>
            </a:r>
          </a:p>
          <a:p>
            <a:r>
              <a:t>OPEN TEAM DECISION: halved, the new markets still lose about −$3.9M at central recapture (revenue covers 49% of cost; −$2.6M and 65% even at full recapture), and reaching the 0.8 trigger needs ~63% more revenue. None of the 12,644 connection-compatible bookings uses them. A full exit adds ~+$3.9M more and frees $0.69M of gates (a real buffer for the thin central case), but London and Moncton lose service (20 → 18 airports) and the headline changes.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Suggested speaking time: 75 seconds. Recommend Right-Size &amp; Recover as a staged plan. Keep the existing deck's central scenario and all 20 airports initially. Four trunk markets: Montréal–Toronto, Halifax–Toronto, Halifax–Montréal and Ottawa–Toronto. New markets: London–Toronto, Montréal–Ottawa and Moncton–Halifax. The schedule improvement is $54.57M (28.49 + 19.71 + 6.37), plus $5.2M revenue recovery. Baseline contribution after fiscal-year gates is -$58.40M; result is +$1.37M. Range -$16.88M to +$5.71M combines recapture and revenue-lever scenarios; it is not a statistical confidence interval or a dated forecast. Target FY27–28 matches the executive summary. Central trunk recapture is 100%; the new-market central assumption is 50% recapture of revenue allocated to removed flights. Revenue is not directly matched to individual flights, so retained revenue must be verified in the pilot. All four cost categories on removed flights are assumed avoidable. These are model assumptions, not guaranteed savings. Contribution excludes aircraft ownership, overhead and taxes. No additional savings are added for long-term governance or gates. New-market halving still leaves about $3.9M annual loss centrally, about $2.6M even at full recapture. The proposed six-month trial therefore requires an explicit loss cap and a decision at its end; a 0.8 coverage trigger would already fail initially. The continuation or exit decision is conditional and is not included as extra gain in the headline. Employee effects are material with 27% fewer flights. Prioritize consultation, redeployment and retraining, without promising zero job losses. Voluntary rebooking must preserve the case's refund promise. Sources: analysis/tables/alternatives_matrix.csv; analysis/alternatives.py; analysis/teammate_crosscheck.md; case package pp.6,9,10,17.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Suggested speaking time: 45 seconds. This is a proposed roadmap from plan approval, not completed actions. Phase 1: Finance validates costs that can actually be removed, including contracts and transition costs. Network Planning establishes route baselines using ticket-to-departure linkage, capacity, demand and connection information absent from the current files. Operations confirms staffing and service constraints. Phase 2: pilot a trunk reduction for an initial 90-day review, monitor weekly and review financial results monthly, then scale only if evidence supports it. Revenue recapture means the share of revenue assigned to cancelled rotations retained on remaining services, adjusted for normal seasonal demand; it is not directly observable from the supplied transaction dates alone. About 90% trunk recapture is the break-even threshold holding the other central assumptions fixed, not a guarantee or an arbitrary service KPI. Track realized savings against the approved avoidable-cost baseline; if either revenue retention or cost savings misses, pause further cuts and reforecast. Start a separate six-month trial when new-market halving begins; review against a pre-approved cumulative loss cap. If it fails, evaluate further reduction, funded community service or exit. Preserve the current 20-airport headline unless the team explicitly chooses a later exit. Confirm whether Halifax A3 and Ottawa A2 are operationally unnecessary, and contract termination/renewal dates, before releasing them; do not count the same gate savings twice or promise savings before contract changes. Phase 3: require positive incremental contribution for any peak-flight addition and review the whole network monthly. Sources: existing slide 17 and alternatives_matrix.csv; teammate_crosscheck.md. Owners, timing and pilot controls are team proposals.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Suggested speaking time: 30 seconds. Prioritize revenue recapture and cost avoidability because the +$1.4M central contribution has little buffer. The model removes about $73.6M of recorded flight costs, so each 10% that cannot be avoided lowers the gain by about $7.4M. Revenue recovery initiatives are assumptions and may underperform; do not infer that moving an OTA booking directly removes its weather-driven refund risk. The roughly 90% trunk recapture threshold holds other central assumptions fixed. Lack of seats, passenger-to-flight allocation and full overhead costs limits feasibility claims; obtain these before broad rollout. New-market halving is deliberately a temporary trial, not an assertion that these routes become profitable. The downside range on slide 18 does not capture all cost and execution risks. Customer remedies must remain consistent with the case's full-fare refund promise. Safety and maintenance standards remain mandatory throughout any cost reduction. Likelihood labels are qualitative team judgements, not probabilities inferred from the data. Sources: analysis/alternatives.py; alternatives_matrix.csv; teammate_crosscheck.md; FirstByte case package pp.6,9,10,17.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~10 sec.</a:t>
            </a:r>
          </a:p>
          <a:p>
            <a:r>
              <a:t>Say: "Fly the flights that pay, recover the revenue NorthByte is leaving behind, and manage the network route by route. That takes the loss after gates from $58.4M to about break-even (+$1.4M central) without leaving any of the 20 airports." Then open Q&amp;A (5 min); the appendix slides are for answering questions.</a:t>
            </a:r>
          </a:p>
          <a:p>
            <a:r>
              <a:t>Source: analysis/tables/alternatives_matrix.csv, Right-Size &amp; Recover TOTAL gains on the 2025-26 lease basis (after gates central 1.37, range -16.88 to 5.71).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A1: DATA CLEANING &amp; ASSUMPTIONS. Q&amp;A only.</a:t>
            </a:r>
          </a:p>
          <a:p>
            <a:r>
              <a:t>Use for "how did you handle X?" questions.</a:t>
            </a:r>
          </a:p>
          <a:p>
            <a:r>
              <a:t>Sources: analysis/preparation_audit.json (559,985 raw transaction rows → 558,129; 1,856 duplicates worth $1.23M; 11 fallback dates worth $7,195; 115,204 cost rows; 353,002 bookings) and analysis/ASSUMPTIONS.md (1 duplicates, 2 dates, 4–5 money and contribution, 6 categories, 8 flights, 10 routes, 16 Cost_Date time = departure time).</a:t>
            </a:r>
          </a:p>
          <a:p>
            <a:r>
              <a:t>Assumption 16: the data dictionary only says "the date and time of the flight". We read it as departure time because each route repeats fixed slots in two groups (06:30–08:00 and 12:00–18:10). Any cut-off from 08:01 to 12:00 gives the same split, and if the time were arrival the two groups would still separate, so the afternoon-flight finding does not depend on it.</a:t>
            </a:r>
          </a:p>
          <a:p>
            <a:r>
              <a:t>Gates: lease totals from the gates table with each (city, gate, year) once: $9.6644M and $9.8777M; row sum $17.8196M. The 2026-27 estimate ($10.096M) repeats each gate's 2024-25 → 2025-26 percentage increase (same method and total as the teammate's gate forecast table). FY25-26 gates = 4/12 of the 2025 lease + 8/12 of the 2026 estimate = $10.023M, so the headline after-gates loss is -58.40 (analysis/alternatives.py uses the same basis).</a:t>
            </a:r>
          </a:p>
          <a:p>
            <a:r>
              <a:t>Connections: 12,912 bookings hold tickets on two routes; 12,644 connect through a hub and 268 are return trips (HANDOFF.md).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route/seasonality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break-even needs ~25% more revenue or ~20% less cost with the other side fixed. Illustrative, not a forecast.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booking-channel questions. Direct Web 40%, App 22%, OTA 20%, Corporate 18% of FY25-26 revenue.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STRATEGIC LENS. Q&amp;A only.</a:t>
            </a:r>
          </a:p>
          <a:p>
            <a:r>
              <a:t>Use if a judge asks "what about competitors / the market?"</a:t>
            </a:r>
          </a:p>
          <a:p>
            <a:r>
              <a:t>Five Forces: every force cites the case text or our data. Rivalry and buyer power explain why doubling the trunk cut fares: the extra passengers came only at lower fares, so revenue grew no faster than on unchanged routes. Supplier power explains why the largest cost lever NorthByte controls is how many flights it flies (fuel efficiency and maintenance purchasing are smaller, secondary levers). The case's own story of newer carriers that expanded and then shrank is the warning.</a:t>
            </a:r>
          </a:p>
          <a:p>
            <a:r>
              <a:t>SWOT: weaknesses are the three issues; strengths are what Right-Size keeps (hubs, connections, communities) and Shrink gives up; opportunities are the recovery levers; threats feed the risk slide.</a:t>
            </a:r>
          </a:p>
          <a:p>
            <a:r>
              <a:t>Do not claim outside market facts: assumption 11 (analysis/ASSUMPTIONS.md).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hart" Target="../charts/char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6.xml"/><Relationship Id="rId4" Type="http://schemas.openxmlformats.org/officeDocument/2006/relationships/chart" Target="../charts/char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9728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1463040"/>
          </a:xfrm>
          <a:prstGeom prst="rect">
            <a:avLst/>
          </a:prstGeom>
          <a:noFill/>
        </p:spPr>
        <p:txBody>
          <a:bodyPr wrap="square" anchor="t">
            <a:spAutoFit/>
          </a:bodyPr>
          <a:lstStyle/>
          <a:p>
            <a:pPr algn="l">
              <a:spcAft>
                <a:spcPts val="600"/>
              </a:spcAft>
            </a:pPr>
            <a:r>
              <a:rPr sz="4800" b="1">
                <a:solidFill>
                  <a:srgbClr val="FFFFFF"/>
                </a:solidFill>
                <a:latin typeface="Montserrat"/>
              </a:rPr>
              <a:t>Growing Into the Red</a:t>
            </a:r>
          </a:p>
        </p:txBody>
      </p:sp>
      <p:sp>
        <p:nvSpPr>
          <p:cNvPr id="5" name="TextBox 4"/>
          <p:cNvSpPr txBox="1"/>
          <p:nvPr/>
        </p:nvSpPr>
        <p:spPr>
          <a:xfrm>
            <a:off x="822960" y="3429000"/>
            <a:ext cx="10515600" cy="731520"/>
          </a:xfrm>
          <a:prstGeom prst="rect">
            <a:avLst/>
          </a:prstGeom>
          <a:noFill/>
        </p:spPr>
        <p:txBody>
          <a:bodyPr wrap="square" anchor="t">
            <a:spAutoFit/>
          </a:bodyPr>
          <a:lstStyle/>
          <a:p>
            <a:pPr algn="l">
              <a:spcAft>
                <a:spcPts val="600"/>
              </a:spcAft>
            </a:pPr>
            <a:r>
              <a:rPr sz="2000" b="0">
                <a:solidFill>
                  <a:srgbClr val="9CA3AF"/>
                </a:solidFill>
                <a:latin typeface="Lato"/>
              </a:rPr>
              <a:t>Where NorthByte Airlines makes and loses money, and how to restore profitability</a:t>
            </a:r>
          </a:p>
        </p:txBody>
      </p:sp>
      <p:sp>
        <p:nvSpPr>
          <p:cNvPr id="6" name="TextBox 5"/>
          <p:cNvSpPr txBox="1"/>
          <p:nvPr/>
        </p:nvSpPr>
        <p:spPr>
          <a:xfrm>
            <a:off x="822960" y="5120640"/>
            <a:ext cx="7315200" cy="365760"/>
          </a:xfrm>
          <a:prstGeom prst="rect">
            <a:avLst/>
          </a:prstGeom>
          <a:noFill/>
        </p:spPr>
        <p:txBody>
          <a:bodyPr wrap="square" anchor="t">
            <a:spAutoFit/>
          </a:bodyPr>
          <a:lstStyle/>
          <a:p>
            <a:pPr algn="l">
              <a:spcAft>
                <a:spcPts val="600"/>
              </a:spcAft>
            </a:pPr>
            <a:r>
              <a:rPr sz="1400" b="0">
                <a:solidFill>
                  <a:srgbClr val="FFFFFF"/>
                </a:solidFill>
                <a:latin typeface="Lato"/>
              </a:rPr>
              <a:t>[Team name]  ·  BOLT UBC FirstByte 2026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EXECUTIVE SUMMARY</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0"/>
              </a:spcAft>
            </a:pPr>
            <a:r>
              <a:rPr sz="2400" b="1" i="0">
                <a:solidFill>
                  <a:srgbClr val="0B1F3A"/>
                </a:solidFill>
                <a:latin typeface="Montserrat"/>
              </a:rPr>
              <a:t>NorthByte flew 20% more flights for 5% more revenue; Right-Size &amp; Recover reaches break-even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costs &amp; gates, Sep 2024–Aug 2026; team analysis. After gates = FY25-26 gates ($10.02M, pro-rated). Impact: central case, FY25-26 basis.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a:t>
            </a:r>
          </a:p>
        </p:txBody>
      </p:sp>
      <p:sp>
        <p:nvSpPr>
          <p:cNvPr id="8" name="TextBox 7"/>
          <p:cNvSpPr txBox="1"/>
          <p:nvPr/>
        </p:nvSpPr>
        <p:spPr>
          <a:xfrm>
            <a:off x="548640" y="1600200"/>
            <a:ext cx="5486400" cy="274320"/>
          </a:xfrm>
          <a:prstGeom prst="rect">
            <a:avLst/>
          </a:prstGeom>
          <a:noFill/>
        </p:spPr>
        <p:txBody>
          <a:bodyPr wrap="square" anchor="t">
            <a:spAutoFit/>
          </a:bodyPr>
          <a:lstStyle/>
          <a:p>
            <a:pPr algn="l">
              <a:spcAft>
                <a:spcPts val="600"/>
              </a:spcAft>
            </a:pPr>
            <a:r>
              <a:rPr sz="1100" b="1">
                <a:solidFill>
                  <a:srgbClr val="E8692A"/>
                </a:solidFill>
                <a:latin typeface="Montserrat"/>
              </a:rPr>
              <a:t>WHAT WE FOUND</a:t>
            </a:r>
          </a:p>
        </p:txBody>
      </p:sp>
      <p:sp>
        <p:nvSpPr>
          <p:cNvPr id="9" name="TextBox 8"/>
          <p:cNvSpPr txBox="1"/>
          <p:nvPr/>
        </p:nvSpPr>
        <p:spPr>
          <a:xfrm>
            <a:off x="548640" y="1965960"/>
            <a:ext cx="5394960" cy="4206240"/>
          </a:xfrm>
          <a:prstGeom prst="rect">
            <a:avLst/>
          </a:prstGeom>
          <a:noFill/>
        </p:spPr>
        <p:txBody>
          <a:bodyPr wrap="square" anchor="t">
            <a:spAutoFit/>
          </a:bodyPr>
          <a:lstStyle/>
          <a:p>
            <a:pPr algn="l">
              <a:spcAft>
                <a:spcPts val="600"/>
              </a:spcAft>
            </a:pPr>
            <a:r>
              <a:rPr sz="1400" b="0" i="0">
                <a:solidFill>
                  <a:srgbClr val="1F2937"/>
                </a:solidFill>
                <a:latin typeface="Lato"/>
              </a:rPr>
              <a:t>• FY25-26 revenue +5.2% to $190.0M; flight operating cost +23.5% to $238.4M</a:t>
            </a:r>
          </a:p>
          <a:p>
            <a:pPr algn="l">
              <a:spcAft>
                <a:spcPts val="600"/>
              </a:spcAft>
            </a:pPr>
            <a:r>
              <a:rPr sz="1400" b="0" i="0">
                <a:solidFill>
                  <a:srgbClr val="1F2937"/>
                </a:solidFill>
                <a:latin typeface="Lato"/>
              </a:rPr>
              <a:t>• Flight contribution fell from −$12.4M to −$48.4M before gate leases (−$58.4M after). The case's ~$40M matches our loss before refunds (−$40.5M)</a:t>
            </a:r>
          </a:p>
          <a:p>
            <a:pPr algn="l">
              <a:spcAft>
                <a:spcPts val="600"/>
              </a:spcAft>
            </a:pPr>
            <a:r>
              <a:rPr sz="1400" b="0" i="0">
                <a:solidFill>
                  <a:srgbClr val="1F2937"/>
                </a:solidFill>
                <a:latin typeface="Lato"/>
              </a:rPr>
              <a:t>• Monthly margin turned negative in Mar 2025 (Feb still +4.5%), when the second trunk rotations began: flights 792 → 1,157 a month</a:t>
            </a:r>
          </a:p>
          <a:p>
            <a:pPr algn="l">
              <a:spcAft>
                <a:spcPts val="600"/>
              </a:spcAft>
            </a:pPr>
            <a:r>
              <a:rPr sz="1400" b="0" i="0">
                <a:solidFill>
                  <a:srgbClr val="1F2937"/>
                </a:solidFill>
                <a:latin typeface="Lato"/>
              </a:rPr>
              <a:t>• ⅔ of the +$45.4M cost growth is more flights and route mix ($30.1M); only ⅓ is higher cost per flight</a:t>
            </a:r>
          </a:p>
          <a:p>
            <a:pPr algn="l">
              <a:spcAft>
                <a:spcPts val="600"/>
              </a:spcAft>
            </a:pPr>
            <a:r>
              <a:rPr sz="1400" b="0" i="0">
                <a:solidFill>
                  <a:srgbClr val="1F2937"/>
                </a:solidFill>
                <a:latin typeface="Lato"/>
              </a:rPr>
              <a:t>• The 16 directions added or doubled in 2025 lose ~$59M (4 trunk markets −$29.0M, Montréal–Vancouver −$19.7M, 3 new markets −$10.3M); the other 38 earn +$10.6M</a:t>
            </a:r>
          </a:p>
          <a:p>
            <a:pPr algn="l">
              <a:spcAft>
                <a:spcPts val="600"/>
              </a:spcAft>
            </a:pPr>
            <a:r>
              <a:rPr sz="1400" b="0" i="0">
                <a:solidFill>
                  <a:srgbClr val="1F2937"/>
                </a:solidFill>
                <a:latin typeface="Lato"/>
              </a:rPr>
              <a:t>• Refunds, Rewards and ancillaries are real, but an order of magnitude smaller than the −$36.0M decline</a:t>
            </a:r>
          </a:p>
        </p:txBody>
      </p:sp>
      <p:sp>
        <p:nvSpPr>
          <p:cNvPr id="10" name="Rectangle 9"/>
          <p:cNvSpPr/>
          <p:nvPr/>
        </p:nvSpPr>
        <p:spPr>
          <a:xfrm>
            <a:off x="6263640" y="1600200"/>
            <a:ext cx="5376672" cy="4572000"/>
          </a:xfrm>
          <a:prstGeom prst="rect">
            <a:avLst/>
          </a:prstGeom>
          <a:solidFill>
            <a:srgbClr val="F3F5F8"/>
          </a:solidFill>
          <a:ln w="15875">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5102352" cy="566928"/>
          </a:xfrm>
          <a:prstGeom prst="rect">
            <a:avLst/>
          </a:prstGeom>
          <a:noFill/>
        </p:spPr>
        <p:txBody>
          <a:bodyPr wrap="square" anchor="t">
            <a:spAutoFit/>
          </a:bodyPr>
          <a:lstStyle/>
          <a:p>
            <a:pPr algn="l">
              <a:spcAft>
                <a:spcPts val="200"/>
              </a:spcAft>
            </a:pPr>
            <a:r>
              <a:rPr sz="1100" b="1" i="0">
                <a:solidFill>
                  <a:srgbClr val="E8692A"/>
                </a:solidFill>
                <a:latin typeface="Montserrat"/>
              </a:rPr>
              <a:t>WHAT WE RECOMMEND</a:t>
            </a:r>
          </a:p>
          <a:p>
            <a:pPr algn="l">
              <a:spcAft>
                <a:spcPts val="600"/>
              </a:spcAft>
            </a:pPr>
            <a:r>
              <a:rPr sz="1400" b="1" i="0">
                <a:solidFill>
                  <a:srgbClr val="0B1F3A"/>
                </a:solidFill>
                <a:latin typeface="Montserrat"/>
              </a:rPr>
              <a:t>Right-Size &amp; Recover  </a:t>
            </a:r>
            <a:r>
              <a:rPr sz="1100" b="0" i="0">
                <a:solidFill>
                  <a:srgbClr val="6B7280"/>
                </a:solidFill>
                <a:latin typeface="Lato"/>
              </a:rPr>
              <a:t>highest-scoring of four options</a:t>
            </a:r>
          </a:p>
        </p:txBody>
      </p:sp>
      <p:sp>
        <p:nvSpPr>
          <p:cNvPr id="12" name="cf_rec1_num"/>
          <p:cNvSpPr/>
          <p:nvPr/>
        </p:nvSpPr>
        <p:spPr>
          <a:xfrm>
            <a:off x="6400800" y="2350008"/>
            <a:ext cx="310896" cy="310896"/>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1</a:t>
            </a:r>
          </a:p>
        </p:txBody>
      </p:sp>
      <p:sp>
        <p:nvSpPr>
          <p:cNvPr id="13" name="cf_rec1_head"/>
          <p:cNvSpPr txBox="1"/>
          <p:nvPr/>
        </p:nvSpPr>
        <p:spPr>
          <a:xfrm>
            <a:off x="6830568" y="2331720"/>
            <a:ext cx="2926080" cy="274320"/>
          </a:xfrm>
          <a:prstGeom prst="rect">
            <a:avLst/>
          </a:prstGeom>
          <a:noFill/>
        </p:spPr>
        <p:txBody>
          <a:bodyPr wrap="square" anchor="t" lIns="0" rIns="0" tIns="0" bIns="0">
            <a:spAutoFit/>
          </a:bodyPr>
          <a:lstStyle/>
          <a:p>
            <a:pPr algn="l"/>
            <a:r>
              <a:rPr sz="1300" b="1" i="0">
                <a:solidFill>
                  <a:srgbClr val="0B1F3A"/>
                </a:solidFill>
                <a:latin typeface="Montserrat"/>
              </a:rPr>
              <a:t>Right-size the schedule</a:t>
            </a:r>
          </a:p>
        </p:txBody>
      </p:sp>
      <p:sp>
        <p:nvSpPr>
          <p:cNvPr id="14" name="cf_rec1_stat"/>
          <p:cNvSpPr txBox="1"/>
          <p:nvPr/>
        </p:nvSpPr>
        <p:spPr>
          <a:xfrm>
            <a:off x="9692640" y="2331720"/>
            <a:ext cx="1810512" cy="274320"/>
          </a:xfrm>
          <a:prstGeom prst="rect">
            <a:avLst/>
          </a:prstGeom>
          <a:noFill/>
        </p:spPr>
        <p:txBody>
          <a:bodyPr wrap="square" anchor="ctr" lIns="0" rIns="0" tIns="0" bIns="0">
            <a:spAutoFit/>
          </a:bodyPr>
          <a:lstStyle/>
          <a:p>
            <a:pPr algn="r"/>
            <a:r>
              <a:rPr sz="1300" b="1" i="0">
                <a:solidFill>
                  <a:srgbClr val="2E7D5B"/>
                </a:solidFill>
                <a:latin typeface="Montserrat"/>
              </a:rPr>
              <a:t>+$54.6M</a:t>
            </a:r>
          </a:p>
        </p:txBody>
      </p:sp>
      <p:sp>
        <p:nvSpPr>
          <p:cNvPr id="15" name="cf_rec1_body"/>
          <p:cNvSpPr txBox="1"/>
          <p:nvPr/>
        </p:nvSpPr>
        <p:spPr>
          <a:xfrm>
            <a:off x="6830568" y="2624327"/>
            <a:ext cx="4672584" cy="603504"/>
          </a:xfrm>
          <a:prstGeom prst="rect">
            <a:avLst/>
          </a:prstGeom>
          <a:noFill/>
        </p:spPr>
        <p:txBody>
          <a:bodyPr wrap="square" anchor="t" lIns="0" rIns="0" tIns="0" bIns="0">
            <a:spAutoFit/>
          </a:bodyPr>
          <a:lstStyle/>
          <a:p>
            <a:pPr algn="l"/>
            <a:r>
              <a:rPr sz="1050" b="0" i="0">
                <a:solidFill>
                  <a:srgbClr val="1F2937"/>
                </a:solidFill>
                <a:latin typeface="Lato"/>
              </a:rPr>
              <a:t>Remove the 2025 added flights on 4 trunk markets (+$28.5M); exit Montréal–Vancouver (+$19.7M); halve the 3 new markets, with a kill trigger (+$6.4M)</a:t>
            </a:r>
          </a:p>
        </p:txBody>
      </p:sp>
      <p:sp>
        <p:nvSpPr>
          <p:cNvPr id="16" name="cf_rec2_num"/>
          <p:cNvSpPr/>
          <p:nvPr/>
        </p:nvSpPr>
        <p:spPr>
          <a:xfrm>
            <a:off x="6400800" y="3337560"/>
            <a:ext cx="310896" cy="310896"/>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2</a:t>
            </a:r>
          </a:p>
        </p:txBody>
      </p:sp>
      <p:sp>
        <p:nvSpPr>
          <p:cNvPr id="17" name="cf_rec2_head"/>
          <p:cNvSpPr txBox="1"/>
          <p:nvPr/>
        </p:nvSpPr>
        <p:spPr>
          <a:xfrm>
            <a:off x="6830568" y="3319272"/>
            <a:ext cx="2926080" cy="274320"/>
          </a:xfrm>
          <a:prstGeom prst="rect">
            <a:avLst/>
          </a:prstGeom>
          <a:noFill/>
        </p:spPr>
        <p:txBody>
          <a:bodyPr wrap="square" anchor="t" lIns="0" rIns="0" tIns="0" bIns="0">
            <a:spAutoFit/>
          </a:bodyPr>
          <a:lstStyle/>
          <a:p>
            <a:pPr algn="l"/>
            <a:r>
              <a:rPr sz="1300" b="1" i="0">
                <a:solidFill>
                  <a:srgbClr val="0B1F3A"/>
                </a:solidFill>
                <a:latin typeface="Montserrat"/>
              </a:rPr>
              <a:t>Recover revenue</a:t>
            </a:r>
          </a:p>
        </p:txBody>
      </p:sp>
      <p:sp>
        <p:nvSpPr>
          <p:cNvPr id="18" name="cf_rec2_stat"/>
          <p:cNvSpPr txBox="1"/>
          <p:nvPr/>
        </p:nvSpPr>
        <p:spPr>
          <a:xfrm>
            <a:off x="9692640" y="3319272"/>
            <a:ext cx="1810512" cy="274320"/>
          </a:xfrm>
          <a:prstGeom prst="rect">
            <a:avLst/>
          </a:prstGeom>
          <a:noFill/>
        </p:spPr>
        <p:txBody>
          <a:bodyPr wrap="square" anchor="ctr" lIns="0" rIns="0" tIns="0" bIns="0">
            <a:spAutoFit/>
          </a:bodyPr>
          <a:lstStyle/>
          <a:p>
            <a:pPr algn="r"/>
            <a:r>
              <a:rPr sz="1300" b="1" i="0">
                <a:solidFill>
                  <a:srgbClr val="2E7D5B"/>
                </a:solidFill>
                <a:latin typeface="Montserrat"/>
              </a:rPr>
              <a:t>+$5.2M</a:t>
            </a:r>
          </a:p>
        </p:txBody>
      </p:sp>
      <p:sp>
        <p:nvSpPr>
          <p:cNvPr id="19" name="cf_rec2_body"/>
          <p:cNvSpPr txBox="1"/>
          <p:nvPr/>
        </p:nvSpPr>
        <p:spPr>
          <a:xfrm>
            <a:off x="6830568" y="3611879"/>
            <a:ext cx="4672584" cy="438912"/>
          </a:xfrm>
          <a:prstGeom prst="rect">
            <a:avLst/>
          </a:prstGeom>
          <a:noFill/>
        </p:spPr>
        <p:txBody>
          <a:bodyPr wrap="square" anchor="t" lIns="0" rIns="0" tIns="0" bIns="0">
            <a:spAutoFit/>
          </a:bodyPr>
          <a:lstStyle/>
          <a:p>
            <a:pPr algn="l"/>
            <a:r>
              <a:rPr sz="1050" b="0" i="0">
                <a:solidFill>
                  <a:srgbClr val="1F2937"/>
                </a:solidFill>
                <a:latin typeface="Lato"/>
              </a:rPr>
              <a:t>Restore trunk fares, rebook-first for St. John's disruptions, shift OTA bookings to direct, promote hub connections</a:t>
            </a:r>
          </a:p>
        </p:txBody>
      </p:sp>
      <p:sp>
        <p:nvSpPr>
          <p:cNvPr id="20" name="cf_rec3_num"/>
          <p:cNvSpPr/>
          <p:nvPr/>
        </p:nvSpPr>
        <p:spPr>
          <a:xfrm>
            <a:off x="6400800" y="4160519"/>
            <a:ext cx="310896" cy="310896"/>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3</a:t>
            </a:r>
          </a:p>
        </p:txBody>
      </p:sp>
      <p:sp>
        <p:nvSpPr>
          <p:cNvPr id="21" name="cf_rec3_head"/>
          <p:cNvSpPr txBox="1"/>
          <p:nvPr/>
        </p:nvSpPr>
        <p:spPr>
          <a:xfrm>
            <a:off x="6830568" y="4142231"/>
            <a:ext cx="2926080" cy="274320"/>
          </a:xfrm>
          <a:prstGeom prst="rect">
            <a:avLst/>
          </a:prstGeom>
          <a:noFill/>
        </p:spPr>
        <p:txBody>
          <a:bodyPr wrap="square" anchor="t" lIns="0" rIns="0" tIns="0" bIns="0">
            <a:spAutoFit/>
          </a:bodyPr>
          <a:lstStyle/>
          <a:p>
            <a:pPr algn="l"/>
            <a:r>
              <a:rPr sz="1300" b="1" i="0">
                <a:solidFill>
                  <a:srgbClr val="0B1F3A"/>
                </a:solidFill>
                <a:latin typeface="Montserrat"/>
              </a:rPr>
              <a:t>Run a route-level P&amp;L</a:t>
            </a:r>
          </a:p>
        </p:txBody>
      </p:sp>
      <p:sp>
        <p:nvSpPr>
          <p:cNvPr id="22" name="cf_rec3_stat"/>
          <p:cNvSpPr txBox="1"/>
          <p:nvPr/>
        </p:nvSpPr>
        <p:spPr>
          <a:xfrm>
            <a:off x="9692640" y="4142231"/>
            <a:ext cx="1810512" cy="274320"/>
          </a:xfrm>
          <a:prstGeom prst="rect">
            <a:avLst/>
          </a:prstGeom>
          <a:noFill/>
        </p:spPr>
        <p:txBody>
          <a:bodyPr wrap="square" anchor="ctr" lIns="0" rIns="0" tIns="0" bIns="0">
            <a:spAutoFit/>
          </a:bodyPr>
          <a:lstStyle/>
          <a:p>
            <a:pPr algn="r"/>
            <a:r>
              <a:rPr sz="1000" b="0" i="0">
                <a:solidFill>
                  <a:srgbClr val="6B7280"/>
                </a:solidFill>
                <a:latin typeface="Lato"/>
              </a:rPr>
              <a:t>fixes root cause</a:t>
            </a:r>
          </a:p>
        </p:txBody>
      </p:sp>
      <p:sp>
        <p:nvSpPr>
          <p:cNvPr id="23" name="cf_rec3_body"/>
          <p:cNvSpPr txBox="1"/>
          <p:nvPr/>
        </p:nvSpPr>
        <p:spPr>
          <a:xfrm>
            <a:off x="6830568" y="4434840"/>
            <a:ext cx="4672584" cy="438912"/>
          </a:xfrm>
          <a:prstGeom prst="rect">
            <a:avLst/>
          </a:prstGeom>
          <a:noFill/>
        </p:spPr>
        <p:txBody>
          <a:bodyPr wrap="square" anchor="t" lIns="0" rIns="0" tIns="0" bIns="0">
            <a:spAutoFit/>
          </a:bodyPr>
          <a:lstStyle/>
          <a:p>
            <a:pPr algn="l"/>
            <a:r>
              <a:rPr sz="1050" b="0" i="0">
                <a:solidFill>
                  <a:srgbClr val="1F2937"/>
                </a:solidFill>
                <a:latin typeface="Lato"/>
              </a:rPr>
              <a:t>Reviewed monthly, with add/remove triggers: flights return only on proven demand, peak days first</a:t>
            </a:r>
          </a:p>
        </p:txBody>
      </p:sp>
      <p:sp>
        <p:nvSpPr>
          <p:cNvPr id="24" name="cf_impact_card"/>
          <p:cNvSpPr/>
          <p:nvPr/>
        </p:nvSpPr>
        <p:spPr>
          <a:xfrm>
            <a:off x="6400800" y="5010912"/>
            <a:ext cx="5102352" cy="105156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f_impact_label"/>
          <p:cNvSpPr txBox="1"/>
          <p:nvPr/>
        </p:nvSpPr>
        <p:spPr>
          <a:xfrm>
            <a:off x="6537960" y="5084064"/>
            <a:ext cx="4828032" cy="237744"/>
          </a:xfrm>
          <a:prstGeom prst="rect">
            <a:avLst/>
          </a:prstGeom>
          <a:noFill/>
        </p:spPr>
        <p:txBody>
          <a:bodyPr wrap="square" anchor="t" lIns="0" rIns="0" tIns="0" bIns="0">
            <a:spAutoFit/>
          </a:bodyPr>
          <a:lstStyle/>
          <a:p>
            <a:pPr algn="l"/>
            <a:r>
              <a:rPr sz="1000" b="1" i="0">
                <a:solidFill>
                  <a:srgbClr val="E8692A"/>
                </a:solidFill>
                <a:latin typeface="Montserrat"/>
              </a:rPr>
              <a:t>EXPECTED IMPACT  </a:t>
            </a:r>
            <a:r>
              <a:rPr sz="1000" b="0" i="0">
                <a:solidFill>
                  <a:srgbClr val="6B7280"/>
                </a:solidFill>
                <a:latin typeface="Lato"/>
              </a:rPr>
              <a:t>contribution after gates, FY25-26 basis</a:t>
            </a:r>
          </a:p>
        </p:txBody>
      </p:sp>
      <p:sp>
        <p:nvSpPr>
          <p:cNvPr id="26" name="cf_impact_value"/>
          <p:cNvSpPr txBox="1"/>
          <p:nvPr/>
        </p:nvSpPr>
        <p:spPr>
          <a:xfrm>
            <a:off x="6537960" y="5321808"/>
            <a:ext cx="4828032" cy="329184"/>
          </a:xfrm>
          <a:prstGeom prst="rect">
            <a:avLst/>
          </a:prstGeom>
          <a:noFill/>
        </p:spPr>
        <p:txBody>
          <a:bodyPr wrap="square" anchor="t" lIns="0" rIns="0" tIns="0" bIns="0">
            <a:spAutoFit/>
          </a:bodyPr>
          <a:lstStyle/>
          <a:p>
            <a:pPr algn="l"/>
            <a:r>
              <a:rPr sz="1800" b="1" i="0">
                <a:solidFill>
                  <a:srgbClr val="0B1F3A"/>
                </a:solidFill>
                <a:latin typeface="Montserrat"/>
              </a:rPr>
              <a:t>−$58.4M</a:t>
            </a:r>
            <a:r>
              <a:rPr sz="1800" b="1" i="0">
                <a:solidFill>
                  <a:srgbClr val="6B7280"/>
                </a:solidFill>
                <a:latin typeface="Montserrat"/>
              </a:rPr>
              <a:t>  →  </a:t>
            </a:r>
            <a:r>
              <a:rPr sz="1800" b="1" i="0">
                <a:solidFill>
                  <a:srgbClr val="2E7D5B"/>
                </a:solidFill>
                <a:latin typeface="Montserrat"/>
              </a:rPr>
              <a:t>≈ +$1.4M</a:t>
            </a:r>
          </a:p>
        </p:txBody>
      </p:sp>
      <p:sp>
        <p:nvSpPr>
          <p:cNvPr id="27" name="cf_impact_note"/>
          <p:cNvSpPr txBox="1"/>
          <p:nvPr/>
        </p:nvSpPr>
        <p:spPr>
          <a:xfrm>
            <a:off x="6537960" y="5669280"/>
            <a:ext cx="4828032" cy="365760"/>
          </a:xfrm>
          <a:prstGeom prst="rect">
            <a:avLst/>
          </a:prstGeom>
          <a:noFill/>
        </p:spPr>
        <p:txBody>
          <a:bodyPr wrap="square" anchor="t" lIns="0" rIns="0" tIns="0" bIns="0">
            <a:spAutoFit/>
          </a:bodyPr>
          <a:lstStyle/>
          <a:p>
            <a:pPr algn="l"/>
            <a:r>
              <a:rPr sz="1050" b="0" i="0">
                <a:solidFill>
                  <a:srgbClr val="1F2937"/>
                </a:solidFill>
                <a:latin typeface="Lato"/>
              </a:rPr>
              <a:t>Range −$16.9M to +$5.7M. All 20 airports kept; 27% fewer flights. Target: break-even after gates in FY27-28.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SITUATION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Record revenue, record losses: leadership needs to know where the money goes before the budget cycle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FirstByte 2026 case package;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3</a:t>
            </a:r>
          </a:p>
        </p:txBody>
      </p:sp>
      <p:sp>
        <p:nvSpPr>
          <p:cNvPr id="8" name="Rectangle 7"/>
          <p:cNvSpPr/>
          <p:nvPr/>
        </p:nvSpPr>
        <p:spPr>
          <a:xfrm>
            <a:off x="548640"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$190M</a:t>
            </a:r>
          </a:p>
        </p:txBody>
      </p:sp>
      <p:sp>
        <p:nvSpPr>
          <p:cNvPr id="10" name="TextBox 9"/>
          <p:cNvSpPr txBox="1"/>
          <p:nvPr/>
        </p:nvSpPr>
        <p:spPr>
          <a:xfrm>
            <a:off x="777240"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FY25-26 revenue, a record (+5%)</a:t>
            </a:r>
          </a:p>
        </p:txBody>
      </p:sp>
      <p:sp>
        <p:nvSpPr>
          <p:cNvPr id="11" name="Rectangle 10"/>
          <p:cNvSpPr/>
          <p:nvPr/>
        </p:nvSpPr>
        <p:spPr>
          <a:xfrm>
            <a:off x="3364992"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−$48M</a:t>
            </a:r>
          </a:p>
        </p:txBody>
      </p:sp>
      <p:sp>
        <p:nvSpPr>
          <p:cNvPr id="13" name="TextBox 12"/>
          <p:cNvSpPr txBox="1"/>
          <p:nvPr/>
        </p:nvSpPr>
        <p:spPr>
          <a:xfrm>
            <a:off x="3593592" y="2606040"/>
            <a:ext cx="2194560" cy="731520"/>
          </a:xfrm>
          <a:prstGeom prst="rect">
            <a:avLst/>
          </a:prstGeom>
          <a:noFill/>
        </p:spPr>
        <p:txBody>
          <a:bodyPr wrap="square" anchor="t">
            <a:spAutoFit/>
          </a:bodyPr>
          <a:lstStyle/>
          <a:p>
            <a:pPr algn="l">
              <a:spcAft>
                <a:spcPts val="600"/>
              </a:spcAft>
            </a:pPr>
            <a:r>
              <a:rPr sz="1200" b="0" i="0">
                <a:solidFill>
                  <a:srgbClr val="6B7280"/>
                </a:solidFill>
                <a:latin typeface="Lato"/>
              </a:rPr>
              <a:t>FY25-26 flight contribution before gates (−$58.4M after)</a:t>
            </a:r>
          </a:p>
        </p:txBody>
      </p:sp>
      <p:sp>
        <p:nvSpPr>
          <p:cNvPr id="14" name="Rectangle 13"/>
          <p:cNvSpPr/>
          <p:nvPr/>
        </p:nvSpPr>
        <p:spPr>
          <a:xfrm>
            <a:off x="6181344"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20</a:t>
            </a:r>
          </a:p>
        </p:txBody>
      </p:sp>
      <p:sp>
        <p:nvSpPr>
          <p:cNvPr id="16" name="TextBox 15"/>
          <p:cNvSpPr txBox="1"/>
          <p:nvPr/>
        </p:nvSpPr>
        <p:spPr>
          <a:xfrm>
            <a:off x="6409944"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Airports, 4 hubs, 54 directional routes</a:t>
            </a:r>
          </a:p>
        </p:txBody>
      </p:sp>
      <p:sp>
        <p:nvSpPr>
          <p:cNvPr id="17" name="Rectangle 16"/>
          <p:cNvSpPr/>
          <p:nvPr/>
        </p:nvSpPr>
        <p:spPr>
          <a:xfrm>
            <a:off x="8997696"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6296"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3</a:t>
            </a:r>
          </a:p>
        </p:txBody>
      </p:sp>
      <p:sp>
        <p:nvSpPr>
          <p:cNvPr id="19" name="TextBox 18"/>
          <p:cNvSpPr txBox="1"/>
          <p:nvPr/>
        </p:nvSpPr>
        <p:spPr>
          <a:xfrm>
            <a:off x="9226296" y="2606040"/>
            <a:ext cx="2194560" cy="731520"/>
          </a:xfrm>
          <a:prstGeom prst="rect">
            <a:avLst/>
          </a:prstGeom>
          <a:noFill/>
        </p:spPr>
        <p:txBody>
          <a:bodyPr wrap="square" anchor="t">
            <a:spAutoFit/>
          </a:bodyPr>
          <a:lstStyle/>
          <a:p>
            <a:pPr algn="l">
              <a:spcAft>
                <a:spcPts val="600"/>
              </a:spcAft>
            </a:pPr>
            <a:r>
              <a:rPr sz="1200" b="0" i="0">
                <a:solidFill>
                  <a:srgbClr val="6B7280"/>
                </a:solidFill>
                <a:latin typeface="Lato"/>
              </a:rPr>
              <a:t>New markets launched Feb–Apr 2025: London, Moncton, Montréal–Ottawa</a:t>
            </a:r>
          </a:p>
        </p:txBody>
      </p:sp>
      <p:sp>
        <p:nvSpPr>
          <p:cNvPr id="20" name="Rectangle 19"/>
          <p:cNvSpPr/>
          <p:nvPr/>
        </p:nvSpPr>
        <p:spPr>
          <a:xfrm>
            <a:off x="548640" y="3840480"/>
            <a:ext cx="11091672" cy="2286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069080"/>
            <a:ext cx="10332720" cy="274320"/>
          </a:xfrm>
          <a:prstGeom prst="rect">
            <a:avLst/>
          </a:prstGeom>
          <a:noFill/>
        </p:spPr>
        <p:txBody>
          <a:bodyPr wrap="square" anchor="t">
            <a:spAutoFit/>
          </a:bodyPr>
          <a:lstStyle/>
          <a:p>
            <a:pPr algn="l">
              <a:spcAft>
                <a:spcPts val="600"/>
              </a:spcAft>
            </a:pPr>
            <a:r>
              <a:rPr sz="1100" b="1">
                <a:solidFill>
                  <a:srgbClr val="E8692A"/>
                </a:solidFill>
                <a:latin typeface="Montserrat"/>
              </a:rPr>
              <a:t>KEY QUESTION</a:t>
            </a:r>
          </a:p>
        </p:txBody>
      </p:sp>
      <p:sp>
        <p:nvSpPr>
          <p:cNvPr id="22" name="TextBox 21"/>
          <p:cNvSpPr txBox="1"/>
          <p:nvPr/>
        </p:nvSpPr>
        <p:spPr>
          <a:xfrm>
            <a:off x="914400" y="4434840"/>
            <a:ext cx="10332720" cy="914400"/>
          </a:xfrm>
          <a:prstGeom prst="rect">
            <a:avLst/>
          </a:prstGeom>
          <a:noFill/>
        </p:spPr>
        <p:txBody>
          <a:bodyPr wrap="square" anchor="t">
            <a:spAutoFit/>
          </a:bodyPr>
          <a:lstStyle/>
          <a:p>
            <a:pPr algn="l">
              <a:spcAft>
                <a:spcPts val="600"/>
              </a:spcAft>
            </a:pPr>
            <a:r>
              <a:rPr sz="2000" b="1">
                <a:solidFill>
                  <a:srgbClr val="FFFFFF"/>
                </a:solidFill>
                <a:latin typeface="Montserrat"/>
              </a:rPr>
              <a:t>What is really driving NorthByte's losses, and where should it invest or pull back to return to sustainable profit while keeping its commitments on safety, fairness and community service?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DATA &amp; APPROACH</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We rebuilt a route-by-route P&amp;L from three inconsistent systems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4</a:t>
            </a:r>
          </a:p>
        </p:txBody>
      </p:sp>
      <p:sp>
        <p:nvSpPr>
          <p:cNvPr id="8" name="Rectangle 7"/>
          <p:cNvSpPr/>
          <p:nvPr/>
        </p:nvSpPr>
        <p:spPr>
          <a:xfrm>
            <a:off x="548640"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1  Clean</a:t>
            </a:r>
          </a:p>
        </p:txBody>
      </p:sp>
      <p:sp>
        <p:nvSpPr>
          <p:cNvPr id="11" name="TextBox 10"/>
          <p:cNvSpPr txBox="1"/>
          <p:nvPr/>
        </p:nvSpPr>
        <p:spPr>
          <a:xfrm>
            <a:off x="777240"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Normalize route codes</a:t>
            </a:r>
          </a:p>
          <a:p>
            <a:pPr algn="l">
              <a:spcAft>
                <a:spcPts val="600"/>
              </a:spcAft>
            </a:pPr>
            <a:r>
              <a:rPr sz="1300" b="0">
                <a:solidFill>
                  <a:srgbClr val="1F2937"/>
                </a:solidFill>
                <a:latin typeface="Lato"/>
              </a:rPr>
              <a:t>De-duplicate 1,856 txns</a:t>
            </a:r>
          </a:p>
          <a:p>
            <a:pPr algn="l">
              <a:spcAft>
                <a:spcPts val="600"/>
              </a:spcAft>
            </a:pPr>
            <a:r>
              <a:rPr sz="1300" b="0">
                <a:solidFill>
                  <a:srgbClr val="1F2937"/>
                </a:solidFill>
                <a:latin typeface="Lato"/>
              </a:rPr>
              <a:t>Resolve 3 date formats</a:t>
            </a:r>
          </a:p>
        </p:txBody>
      </p:sp>
      <p:sp>
        <p:nvSpPr>
          <p:cNvPr id="12" name="Rectangle 11"/>
          <p:cNvSpPr/>
          <p:nvPr/>
        </p:nvSpPr>
        <p:spPr>
          <a:xfrm>
            <a:off x="3364992"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4992"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2  Join</a:t>
            </a:r>
          </a:p>
        </p:txBody>
      </p:sp>
      <p:sp>
        <p:nvSpPr>
          <p:cNvPr id="15" name="TextBox 14"/>
          <p:cNvSpPr txBox="1"/>
          <p:nvPr/>
        </p:nvSpPr>
        <p:spPr>
          <a:xfrm>
            <a:off x="3593592"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Transactions + flight costs</a:t>
            </a:r>
          </a:p>
          <a:p>
            <a:pPr algn="l">
              <a:spcAft>
                <a:spcPts val="600"/>
              </a:spcAft>
            </a:pPr>
            <a:r>
              <a:rPr sz="1300" b="0">
                <a:solidFill>
                  <a:srgbClr val="1F2937"/>
                </a:solidFill>
                <a:latin typeface="Lato"/>
              </a:rPr>
              <a:t>by route × month</a:t>
            </a:r>
          </a:p>
          <a:p>
            <a:pPr algn="l">
              <a:spcAft>
                <a:spcPts val="600"/>
              </a:spcAft>
            </a:pPr>
            <a:r>
              <a:rPr sz="1300" b="0">
                <a:solidFill>
                  <a:srgbClr val="1F2937"/>
                </a:solidFill>
                <a:latin typeface="Lato"/>
              </a:rPr>
              <a:t>Fiscal year Sep–Aug</a:t>
            </a:r>
          </a:p>
        </p:txBody>
      </p:sp>
      <p:sp>
        <p:nvSpPr>
          <p:cNvPr id="16" name="Rectangle 15"/>
          <p:cNvSpPr/>
          <p:nvPr/>
        </p:nvSpPr>
        <p:spPr>
          <a:xfrm>
            <a:off x="6181344"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3  Allocate</a:t>
            </a:r>
          </a:p>
        </p:txBody>
      </p:sp>
      <p:sp>
        <p:nvSpPr>
          <p:cNvPr id="19" name="TextBox 18"/>
          <p:cNvSpPr txBox="1"/>
          <p:nvPr/>
        </p:nvSpPr>
        <p:spPr>
          <a:xfrm>
            <a:off x="6409944"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Gate leases → departing flights</a:t>
            </a:r>
          </a:p>
          <a:p>
            <a:pPr algn="l">
              <a:spcAft>
                <a:spcPts val="600"/>
              </a:spcAft>
            </a:pPr>
            <a:r>
              <a:rPr sz="1300" b="0">
                <a:solidFill>
                  <a:srgbClr val="1F2937"/>
                </a:solidFill>
                <a:latin typeface="Lato"/>
              </a:rPr>
              <a:t>Calendar → fiscal pro-rata</a:t>
            </a:r>
          </a:p>
          <a:p>
            <a:pPr algn="l">
              <a:spcAft>
                <a:spcPts val="600"/>
              </a:spcAft>
            </a:pPr>
            <a:r>
              <a:rPr sz="1300" b="0">
                <a:solidFill>
                  <a:srgbClr val="1F2937"/>
                </a:solidFill>
                <a:latin typeface="Lato"/>
              </a:rPr>
              <a:t>Estimate 2026-27 leases</a:t>
            </a:r>
          </a:p>
        </p:txBody>
      </p:sp>
      <p:sp>
        <p:nvSpPr>
          <p:cNvPr id="20" name="Rectangle 19"/>
          <p:cNvSpPr/>
          <p:nvPr/>
        </p:nvSpPr>
        <p:spPr>
          <a:xfrm>
            <a:off x="8997696"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97696"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4  Diagnose</a:t>
            </a:r>
          </a:p>
        </p:txBody>
      </p:sp>
      <p:sp>
        <p:nvSpPr>
          <p:cNvPr id="23" name="TextBox 22"/>
          <p:cNvSpPr txBox="1"/>
          <p:nvPr/>
        </p:nvSpPr>
        <p:spPr>
          <a:xfrm>
            <a:off x="9226296"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Volume vs. price bridge</a:t>
            </a:r>
          </a:p>
          <a:p>
            <a:pPr algn="l">
              <a:spcAft>
                <a:spcPts val="600"/>
              </a:spcAft>
            </a:pPr>
            <a:r>
              <a:rPr sz="1300" b="0">
                <a:solidFill>
                  <a:srgbClr val="1F2937"/>
                </a:solidFill>
                <a:latin typeface="Lato"/>
              </a:rPr>
              <a:t>Route &amp; market P&amp;L</a:t>
            </a:r>
          </a:p>
          <a:p>
            <a:pPr algn="l">
              <a:spcAft>
                <a:spcPts val="600"/>
              </a:spcAft>
            </a:pPr>
            <a:r>
              <a:rPr sz="1300" b="0">
                <a:solidFill>
                  <a:srgbClr val="1F2937"/>
                </a:solidFill>
                <a:latin typeface="Lato"/>
              </a:rPr>
              <a:t>Refunds, Rewards, ancillaries</a:t>
            </a:r>
          </a:p>
        </p:txBody>
      </p:sp>
      <p:sp>
        <p:nvSpPr>
          <p:cNvPr id="24" name="TextBox 23"/>
          <p:cNvSpPr txBox="1"/>
          <p:nvPr/>
        </p:nvSpPr>
        <p:spPr>
          <a:xfrm>
            <a:off x="548640" y="4754880"/>
            <a:ext cx="11064240" cy="1371600"/>
          </a:xfrm>
          <a:prstGeom prst="rect">
            <a:avLst/>
          </a:prstGeom>
          <a:noFill/>
        </p:spPr>
        <p:txBody>
          <a:bodyPr wrap="square" anchor="t">
            <a:spAutoFit/>
          </a:bodyPr>
          <a:lstStyle/>
          <a:p>
            <a:pPr algn="l">
              <a:spcAft>
                <a:spcPts val="600"/>
              </a:spcAft>
            </a:pPr>
            <a:r>
              <a:rPr sz="1300" b="0">
                <a:solidFill>
                  <a:srgbClr val="6B7280"/>
                </a:solidFill>
                <a:latin typeface="Lato"/>
              </a:rPr>
              <a:t>558,129 unique transactions  ·  28,801 flights (×4 cost rows)  ·  34 physical gates  ·  54 routes  ·  24 months</a:t>
            </a:r>
          </a:p>
          <a:p>
            <a:pPr algn="l">
              <a:spcAft>
                <a:spcPts val="600"/>
              </a:spcAft>
            </a:pPr>
            <a:r>
              <a:rPr sz="1300" b="0">
                <a:solidFill>
                  <a:srgbClr val="6B7280"/>
                </a:solidFill>
                <a:latin typeface="Lato"/>
              </a:rPr>
              <a:t>Key assumptions in Appendix A1. Not available in the data: seats, passengers per flight, load factor, distance.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01</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happened</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Revenue and cost trends, FY24-25 vs FY25-26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WHAT CHANGED</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Costs grew 4.5× faster than revenue, turning a $12M loss into a $48M loss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&amp; costs, FY24-25 vs FY25-26; contribution = revenue less fuel, crew, maintenance, food; gate leases 2025-26 (each gate once)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6</a:t>
            </a:r>
          </a:p>
        </p:txBody>
      </p:sp>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i="0">
                <a:solidFill>
                  <a:srgbClr val="1F2937"/>
                </a:solidFill>
                <a:latin typeface="Lato"/>
              </a:rPr>
              <a:t>• Revenue +$9.4M (+5.2%)</a:t>
            </a:r>
          </a:p>
          <a:p>
            <a:pPr algn="l">
              <a:spcAft>
                <a:spcPts val="600"/>
              </a:spcAft>
            </a:pPr>
            <a:r>
              <a:rPr sz="1300" b="0" i="0">
                <a:solidFill>
                  <a:srgbClr val="1F2937"/>
                </a:solidFill>
                <a:latin typeface="Lato"/>
              </a:rPr>
              <a:t>• Flight costs +$45.4M (+23.5%)</a:t>
            </a:r>
          </a:p>
          <a:p>
            <a:pPr algn="l">
              <a:spcAft>
                <a:spcPts val="600"/>
              </a:spcAft>
            </a:pPr>
            <a:r>
              <a:rPr sz="1300" b="0" i="0">
                <a:solidFill>
                  <a:srgbClr val="1F2937"/>
                </a:solidFill>
                <a:latin typeface="Lato"/>
              </a:rPr>
              <a:t>• Every cost line grew, mostly from 20% more flights: fuel +$16.1M, crew +$15.0M, maintenance +$13.0M</a:t>
            </a:r>
          </a:p>
          <a:p>
            <a:pPr algn="l">
              <a:spcAft>
                <a:spcPts val="600"/>
              </a:spcAft>
            </a:pPr>
            <a:r>
              <a:rPr sz="1300" b="0" i="0">
                <a:solidFill>
                  <a:srgbClr val="1F2937"/>
                </a:solidFill>
                <a:latin typeface="Lato"/>
              </a:rPr>
              <a:t>• FY25-26 gates ($10.0M) push the loss to −$58.4M</a:t>
            </a:r>
          </a:p>
          <a:p>
            <a:pPr algn="l">
              <a:spcAft>
                <a:spcPts val="600"/>
              </a:spcAft>
            </a:pPr>
            <a:r>
              <a:rPr sz="1300" b="0" i="0">
                <a:solidFill>
                  <a:srgbClr val="1F2937"/>
                </a:solidFill>
                <a:latin typeface="Lato"/>
              </a:rPr>
              <a:t>• The case's “about $40M” matches this loss before refunds (−$40.5M)</a:t>
            </a:r>
          </a:p>
        </p:txBody>
      </p:sp>
      <p:sp>
        <p:nvSpPr>
          <p:cNvPr id="13" name="cf_chart_title"/>
          <p:cNvSpPr txBox="1"/>
          <p:nvPr/>
        </p:nvSpPr>
        <p:spPr>
          <a:xfrm>
            <a:off x="548640" y="1737360"/>
            <a:ext cx="7315200" cy="274320"/>
          </a:xfrm>
          <a:prstGeom prst="rect">
            <a:avLst/>
          </a:prstGeom>
          <a:noFill/>
        </p:spPr>
        <p:txBody>
          <a:bodyPr wrap="square" anchor="t" lIns="0" rIns="0" tIns="0" bIns="0">
            <a:spAutoFit/>
          </a:bodyPr>
          <a:lstStyle/>
          <a:p>
            <a:pPr algn="l"/>
            <a:r>
              <a:rPr sz="1300" b="1" i="0">
                <a:solidFill>
                  <a:srgbClr val="0B1F3A"/>
                </a:solidFill>
                <a:latin typeface="Lato"/>
              </a:rPr>
              <a:t>Contribution bridge, FY24-25 → FY25-26  </a:t>
            </a:r>
            <a:r>
              <a:rPr sz="1100" b="0" i="0">
                <a:solidFill>
                  <a:srgbClr val="6B7280"/>
                </a:solidFill>
                <a:latin typeface="Lato"/>
              </a:rPr>
              <a:t>$M, before gate leases</a:t>
            </a:r>
          </a:p>
        </p:txBody>
      </p:sp>
      <p:graphicFrame>
        <p:nvGraphicFramePr>
          <p:cNvPr id="14" name="cf_bridge"/>
          <p:cNvGraphicFramePr>
            <a:graphicFrameLocks noGrp="1"/>
          </p:cNvGraphicFramePr>
          <p:nvPr/>
        </p:nvGraphicFramePr>
        <p:xfrm>
          <a:off x="548640" y="2103120"/>
          <a:ext cx="7315200" cy="4114800"/>
        </p:xfrm>
        <a:graphic>
          <a:graphicData uri="http://schemas.openxmlformats.org/drawingml/2006/chart">
            <c:chart xmlns:c="http://schemas.openxmlformats.org/drawingml/2006/chart" r:id="rId3"/>
          </a:graphicData>
        </a:graphic>
      </p:graphicFrame>
      <p:sp>
        <p:nvSpPr>
          <p:cNvPr id="15" name="cf_food_label"/>
          <p:cNvSpPr txBox="1"/>
          <p:nvPr/>
        </p:nvSpPr>
        <p:spPr>
          <a:xfrm>
            <a:off x="5846934" y="5325461"/>
            <a:ext cx="731520" cy="237744"/>
          </a:xfrm>
          <a:prstGeom prst="rect">
            <a:avLst/>
          </a:prstGeom>
          <a:noFill/>
        </p:spPr>
        <p:txBody>
          <a:bodyPr wrap="square" anchor="t" lIns="0" rIns="0" tIns="0" bIns="0">
            <a:spAutoFit/>
          </a:bodyPr>
          <a:lstStyle/>
          <a:p>
            <a:pPr algn="ctr"/>
            <a:r>
              <a:rPr sz="1100" b="1" i="0">
                <a:solidFill>
                  <a:srgbClr val="1F2937"/>
                </a:solidFill>
                <a:latin typeface="Lato"/>
              </a:rPr>
              <a:t>−1.2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WHEN IT TURNED</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Margins went negative in March 2025, the month the expansion schedule started</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7</a:t>
            </a:r>
          </a:p>
        </p:txBody>
      </p:sp>
      <p:pic>
        <p:nvPicPr>
          <p:cNvPr id="8" name="Picture 7" descr="02_monthly_trend.png"/>
          <p:cNvPicPr>
            <a:picLocks noChangeAspect="1"/>
          </p:cNvPicPr>
          <p:nvPr/>
        </p:nvPicPr>
        <p:blipFill>
          <a:blip r:embed="rId3"/>
          <a:stretch>
            <a:fillRect/>
          </a:stretch>
        </p:blipFill>
        <p:spPr>
          <a:xfrm>
            <a:off x="548640" y="1916723"/>
            <a:ext cx="7315200" cy="3938953"/>
          </a:xfrm>
          <a:prstGeom prst="rect">
            <a:avLst/>
          </a:prstGeom>
        </p:spPr>
      </p:pic>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Sep 2024–Feb 2025: profitable, +4.5% to +15.7% monthly margin</a:t>
            </a:r>
          </a:p>
          <a:p>
            <a:pPr algn="l">
              <a:spcAft>
                <a:spcPts val="600"/>
              </a:spcAft>
            </a:pPr>
            <a:r>
              <a:rPr sz="1300" b="0">
                <a:solidFill>
                  <a:srgbClr val="1F2937"/>
                </a:solidFill>
                <a:latin typeface="Lato"/>
              </a:rPr>
              <a:t>• Mar 2025 onward: every month negative (−7% to −31%)</a:t>
            </a:r>
          </a:p>
          <a:p>
            <a:pPr algn="l">
              <a:spcAft>
                <a:spcPts val="600"/>
              </a:spcAft>
            </a:pPr>
            <a:r>
              <a:rPr sz="1300" b="0">
                <a:solidFill>
                  <a:srgbClr val="1F2937"/>
                </a:solidFill>
                <a:latin typeface="Lato"/>
              </a:rPr>
              <a:t>• Flights/month +46% in one step; revenue/month did not follow</a:t>
            </a:r>
          </a:p>
          <a:p>
            <a:pPr algn="l">
              <a:spcAft>
                <a:spcPts val="600"/>
              </a:spcAft>
            </a:pPr>
            <a:r>
              <a:rPr sz="1300" b="0">
                <a:solidFill>
                  <a:srgbClr val="1F2937"/>
                </a:solidFill>
                <a:latin typeface="Lato"/>
              </a:rPr>
              <a:t>• Not seasonal: two summers, both 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WHY COSTS ROSE</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Two-thirds of the $45M cost rise is more flying; higher cost per flight is the other third</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flight costs, FY24-25 vs FY25-26 (28,801 flights); team analysis. Like-for-like = same route and calendar month (612 route-months).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8</a:t>
            </a:r>
          </a:p>
        </p:txBody>
      </p:sp>
      <p:sp>
        <p:nvSpPr>
          <p:cNvPr id="8" name="TextBox 7"/>
          <p:cNvSpPr txBox="1"/>
          <p:nvPr/>
        </p:nvSpPr>
        <p:spPr>
          <a:xfrm>
            <a:off x="548640" y="1481328"/>
            <a:ext cx="11091672" cy="274320"/>
          </a:xfrm>
          <a:prstGeom prst="rect">
            <a:avLst/>
          </a:prstGeom>
          <a:noFill/>
        </p:spPr>
        <p:txBody>
          <a:bodyPr wrap="square" anchor="t" lIns="0" rIns="0" tIns="0" bIns="0">
            <a:spAutoFit/>
          </a:bodyPr>
          <a:lstStyle/>
          <a:p>
            <a:pPr algn="l"/>
            <a:r>
              <a:rPr sz="1400" b="1" i="0">
                <a:solidFill>
                  <a:srgbClr val="0B1F3A"/>
                </a:solidFill>
                <a:latin typeface="Lato"/>
              </a:rPr>
              <a:t>Flight costs rose $45.4M (+23.5%) to $238.4M</a:t>
            </a:r>
            <a:r>
              <a:rPr sz="1400" b="0" i="0">
                <a:solidFill>
                  <a:srgbClr val="1F2937"/>
                </a:solidFill>
                <a:latin typeface="Lato"/>
              </a:rPr>
              <a:t>. Each route compared with itself, same month a year earlier:</a:t>
            </a:r>
          </a:p>
        </p:txBody>
      </p:sp>
      <p:sp>
        <p:nvSpPr>
          <p:cNvPr id="9" name="Rectangle 8"/>
          <p:cNvSpPr/>
          <p:nvPr/>
        </p:nvSpPr>
        <p:spPr>
          <a:xfrm>
            <a:off x="548640" y="1901952"/>
            <a:ext cx="5760720" cy="440740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93392"/>
            <a:ext cx="5394959" cy="457200"/>
          </a:xfrm>
          <a:prstGeom prst="rect">
            <a:avLst/>
          </a:prstGeom>
          <a:noFill/>
        </p:spPr>
        <p:txBody>
          <a:bodyPr wrap="square" anchor="t" lIns="0" rIns="0" tIns="0" bIns="0">
            <a:spAutoFit/>
          </a:bodyPr>
          <a:lstStyle/>
          <a:p>
            <a:pPr algn="l"/>
            <a:r>
              <a:rPr sz="1200" b="1" i="0">
                <a:solidFill>
                  <a:srgbClr val="0B1F3A"/>
                </a:solidFill>
                <a:latin typeface="Lato"/>
              </a:rPr>
              <a:t>Where the +$45.4M came from, $M</a:t>
            </a:r>
          </a:p>
          <a:p>
            <a:pPr algn="l"/>
            <a:r>
              <a:rPr sz="1000" b="0" i="0">
                <a:solidFill>
                  <a:srgbClr val="6B7280"/>
                </a:solidFill>
                <a:latin typeface="Lato"/>
              </a:rPr>
              <a:t>FY24-25 → FY25-26. % in brackets = like-for-like change in cost per flight</a:t>
            </a:r>
          </a:p>
        </p:txBody>
      </p:sp>
      <p:sp>
        <p:nvSpPr>
          <p:cNvPr id="11" name="Rectangle 10"/>
          <p:cNvSpPr/>
          <p:nvPr/>
        </p:nvSpPr>
        <p:spPr>
          <a:xfrm>
            <a:off x="731520" y="2578608"/>
            <a:ext cx="137160" cy="13716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523744"/>
            <a:ext cx="2514600" cy="237744"/>
          </a:xfrm>
          <a:prstGeom prst="rect">
            <a:avLst/>
          </a:prstGeom>
          <a:noFill/>
        </p:spPr>
        <p:txBody>
          <a:bodyPr wrap="square" anchor="t" lIns="0" rIns="0" tIns="0" bIns="0">
            <a:spAutoFit/>
          </a:bodyPr>
          <a:lstStyle/>
          <a:p>
            <a:pPr algn="l"/>
            <a:r>
              <a:rPr sz="1050" b="0" i="0">
                <a:solidFill>
                  <a:srgbClr val="1F2937"/>
                </a:solidFill>
                <a:latin typeface="Lato"/>
              </a:rPr>
              <a:t>Volume &amp; route mix (more flights)</a:t>
            </a:r>
          </a:p>
        </p:txBody>
      </p:sp>
      <p:sp>
        <p:nvSpPr>
          <p:cNvPr id="13" name="Rectangle 12"/>
          <p:cNvSpPr/>
          <p:nvPr/>
        </p:nvSpPr>
        <p:spPr>
          <a:xfrm>
            <a:off x="3474720" y="2578608"/>
            <a:ext cx="137160" cy="13716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5887" y="2523744"/>
            <a:ext cx="2514600" cy="237744"/>
          </a:xfrm>
          <a:prstGeom prst="rect">
            <a:avLst/>
          </a:prstGeom>
          <a:noFill/>
        </p:spPr>
        <p:txBody>
          <a:bodyPr wrap="square" anchor="t" lIns="0" rIns="0" tIns="0" bIns="0">
            <a:spAutoFit/>
          </a:bodyPr>
          <a:lstStyle/>
          <a:p>
            <a:pPr algn="l"/>
            <a:r>
              <a:rPr sz="1050" b="0" i="0">
                <a:solidFill>
                  <a:srgbClr val="1F2937"/>
                </a:solidFill>
                <a:latin typeface="Lato"/>
              </a:rPr>
              <a:t>Like-for-like cost per flight</a:t>
            </a:r>
          </a:p>
        </p:txBody>
      </p:sp>
      <p:graphicFrame>
        <p:nvGraphicFramePr>
          <p:cNvPr id="15" name="Chart 14"/>
          <p:cNvGraphicFramePr>
            <a:graphicFrameLocks noGrp="1"/>
          </p:cNvGraphicFramePr>
          <p:nvPr/>
        </p:nvGraphicFramePr>
        <p:xfrm>
          <a:off x="640080" y="2798064"/>
          <a:ext cx="5577840" cy="2697480"/>
        </p:xfrm>
        <a:graphic>
          <a:graphicData uri="http://schemas.openxmlformats.org/drawingml/2006/chart">
            <c:chart xmlns:c="http://schemas.openxmlformats.org/drawingml/2006/chart" r:id="rId3"/>
          </a:graphicData>
        </a:graphic>
      </p:graphicFrame>
      <p:sp>
        <p:nvSpPr>
          <p:cNvPr id="16" name="TextBox 15"/>
          <p:cNvSpPr txBox="1"/>
          <p:nvPr/>
        </p:nvSpPr>
        <p:spPr>
          <a:xfrm>
            <a:off x="2190517" y="5063764"/>
            <a:ext cx="548640" cy="237744"/>
          </a:xfrm>
          <a:prstGeom prst="rect">
            <a:avLst/>
          </a:prstGeom>
          <a:noFill/>
        </p:spPr>
        <p:txBody>
          <a:bodyPr wrap="square" anchor="ctr" lIns="0" rIns="0" tIns="0" bIns="0">
            <a:spAutoFit/>
          </a:bodyPr>
          <a:lstStyle/>
          <a:p>
            <a:pPr algn="l"/>
            <a:r>
              <a:rPr sz="1100" b="1" i="0">
                <a:solidFill>
                  <a:srgbClr val="1F2937"/>
                </a:solidFill>
                <a:latin typeface="Lato"/>
              </a:rPr>
              <a:t>1.2</a:t>
            </a:r>
          </a:p>
        </p:txBody>
      </p:sp>
      <p:sp>
        <p:nvSpPr>
          <p:cNvPr id="17" name="TextBox 16"/>
          <p:cNvSpPr txBox="1"/>
          <p:nvPr/>
        </p:nvSpPr>
        <p:spPr>
          <a:xfrm>
            <a:off x="731520" y="5577840"/>
            <a:ext cx="5394959" cy="685800"/>
          </a:xfrm>
          <a:prstGeom prst="rect">
            <a:avLst/>
          </a:prstGeom>
          <a:noFill/>
        </p:spPr>
        <p:txBody>
          <a:bodyPr wrap="square" anchor="t" lIns="0" rIns="0" tIns="0" bIns="0">
            <a:spAutoFit/>
          </a:bodyPr>
          <a:lstStyle/>
          <a:p>
            <a:pPr algn="l"/>
            <a:r>
              <a:rPr sz="1000" b="1" i="0">
                <a:solidFill>
                  <a:srgbClr val="0B1F3A"/>
                </a:solidFill>
                <a:latin typeface="Lato"/>
              </a:rPr>
              <a:t>Volume &amp; route mix: </a:t>
            </a:r>
            <a:r>
              <a:rPr sz="1000" b="0" i="0">
                <a:solidFill>
                  <a:srgbClr val="6B7280"/>
                </a:solidFill>
                <a:latin typeface="Lato"/>
              </a:rPr>
              <a:t>FY25-26 flights at their own route's FY24-25 cost per flight in the same month (new route-months in full).</a:t>
            </a:r>
          </a:p>
          <a:p>
            <a:pPr algn="l"/>
            <a:r>
              <a:rPr sz="1000" b="1" i="0">
                <a:solidFill>
                  <a:srgbClr val="E8692A"/>
                </a:solidFill>
                <a:latin typeface="Lato"/>
              </a:rPr>
              <a:t>Like-for-like: </a:t>
            </a:r>
            <a:r>
              <a:rPr sz="1000" b="0" i="0">
                <a:solidFill>
                  <a:srgbClr val="6B7280"/>
                </a:solidFill>
                <a:latin typeface="Lato"/>
              </a:rPr>
              <a:t>the change in cost per flight on the same route and month.</a:t>
            </a:r>
          </a:p>
        </p:txBody>
      </p:sp>
      <p:sp>
        <p:nvSpPr>
          <p:cNvPr id="18" name="Rectangle 17"/>
          <p:cNvSpPr/>
          <p:nvPr/>
        </p:nvSpPr>
        <p:spPr>
          <a:xfrm>
            <a:off x="6583680" y="1901952"/>
            <a:ext cx="5056632" cy="138988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720840" y="201168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1</a:t>
            </a:r>
          </a:p>
        </p:txBody>
      </p:sp>
      <p:sp>
        <p:nvSpPr>
          <p:cNvPr id="20" name="TextBox 19"/>
          <p:cNvSpPr txBox="1"/>
          <p:nvPr/>
        </p:nvSpPr>
        <p:spPr>
          <a:xfrm>
            <a:off x="7242048" y="1975104"/>
            <a:ext cx="4261104" cy="329184"/>
          </a:xfrm>
          <a:prstGeom prst="rect">
            <a:avLst/>
          </a:prstGeom>
          <a:noFill/>
        </p:spPr>
        <p:txBody>
          <a:bodyPr wrap="square" anchor="t" lIns="0" rIns="0" tIns="0" bIns="0">
            <a:spAutoFit/>
          </a:bodyPr>
          <a:lstStyle/>
          <a:p>
            <a:pPr algn="l"/>
            <a:r>
              <a:rPr sz="1800" b="1" i="0">
                <a:solidFill>
                  <a:srgbClr val="0B1F3A"/>
                </a:solidFill>
                <a:latin typeface="Montserrat"/>
              </a:rPr>
              <a:t>$30.1M</a:t>
            </a:r>
            <a:r>
              <a:rPr sz="1300" b="1" i="0">
                <a:solidFill>
                  <a:srgbClr val="0B1F3A"/>
                </a:solidFill>
                <a:latin typeface="Montserrat"/>
              </a:rPr>
              <a:t>   more flying: two-thirds</a:t>
            </a:r>
          </a:p>
        </p:txBody>
      </p:sp>
      <p:sp>
        <p:nvSpPr>
          <p:cNvPr id="21" name="TextBox 20"/>
          <p:cNvSpPr txBox="1"/>
          <p:nvPr/>
        </p:nvSpPr>
        <p:spPr>
          <a:xfrm>
            <a:off x="7242048" y="2331720"/>
            <a:ext cx="4261104" cy="658368"/>
          </a:xfrm>
          <a:prstGeom prst="rect">
            <a:avLst/>
          </a:prstGeom>
          <a:noFill/>
        </p:spPr>
        <p:txBody>
          <a:bodyPr wrap="square" anchor="t" lIns="0" rIns="0" tIns="0" bIns="0">
            <a:spAutoFit/>
          </a:bodyPr>
          <a:lstStyle/>
          <a:p>
            <a:pPr algn="l"/>
            <a:r>
              <a:rPr sz="1050" b="0" i="0">
                <a:solidFill>
                  <a:srgbClr val="1F2937"/>
                </a:solidFill>
                <a:latin typeface="Lato"/>
              </a:rPr>
              <a:t>Flights +20% (13,072 → 15,729). All of it is on the 16 directions added or doubled in 2025: 4 doubled trunk markets $13.6M, Montréal–Vancouver $9.5M, 3 new markets $7.3M; other 38 −$0.2M.</a:t>
            </a:r>
          </a:p>
        </p:txBody>
      </p:sp>
      <p:sp>
        <p:nvSpPr>
          <p:cNvPr id="22" name="TextBox 21"/>
          <p:cNvSpPr txBox="1"/>
          <p:nvPr/>
        </p:nvSpPr>
        <p:spPr>
          <a:xfrm>
            <a:off x="7242048" y="3008376"/>
            <a:ext cx="4261104" cy="219456"/>
          </a:xfrm>
          <a:prstGeom prst="rect">
            <a:avLst/>
          </a:prstGeom>
          <a:noFill/>
        </p:spPr>
        <p:txBody>
          <a:bodyPr wrap="square" anchor="t" lIns="0" rIns="0" tIns="0" bIns="0">
            <a:spAutoFit/>
          </a:bodyPr>
          <a:lstStyle/>
          <a:p>
            <a:pPr algn="l"/>
            <a:r>
              <a:rPr sz="1000" b="1" i="0">
                <a:solidFill>
                  <a:srgbClr val="E8692A"/>
                </a:solidFill>
                <a:latin typeface="Lato"/>
              </a:rPr>
              <a:t>→ Fix: right-size; recorded cost falls with each flight cut</a:t>
            </a:r>
          </a:p>
        </p:txBody>
      </p:sp>
      <p:sp>
        <p:nvSpPr>
          <p:cNvPr id="23" name="Rectangle 22"/>
          <p:cNvSpPr/>
          <p:nvPr/>
        </p:nvSpPr>
        <p:spPr>
          <a:xfrm>
            <a:off x="6583680" y="3410712"/>
            <a:ext cx="5056632" cy="138988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720840" y="352044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2</a:t>
            </a:r>
          </a:p>
        </p:txBody>
      </p:sp>
      <p:sp>
        <p:nvSpPr>
          <p:cNvPr id="25" name="TextBox 24"/>
          <p:cNvSpPr txBox="1"/>
          <p:nvPr/>
        </p:nvSpPr>
        <p:spPr>
          <a:xfrm>
            <a:off x="7242048" y="3483864"/>
            <a:ext cx="4261104" cy="329184"/>
          </a:xfrm>
          <a:prstGeom prst="rect">
            <a:avLst/>
          </a:prstGeom>
          <a:noFill/>
        </p:spPr>
        <p:txBody>
          <a:bodyPr wrap="square" anchor="t" lIns="0" rIns="0" tIns="0" bIns="0">
            <a:spAutoFit/>
          </a:bodyPr>
          <a:lstStyle/>
          <a:p>
            <a:pPr algn="l"/>
            <a:r>
              <a:rPr sz="1800" b="1" i="0">
                <a:solidFill>
                  <a:srgbClr val="E8692A"/>
                </a:solidFill>
                <a:latin typeface="Montserrat"/>
              </a:rPr>
              <a:t>$15.3M</a:t>
            </a:r>
            <a:r>
              <a:rPr sz="1300" b="1" i="0">
                <a:solidFill>
                  <a:srgbClr val="0B1F3A"/>
                </a:solidFill>
                <a:latin typeface="Montserrat"/>
              </a:rPr>
              <a:t>   costlier flights: one-third</a:t>
            </a:r>
          </a:p>
        </p:txBody>
      </p:sp>
      <p:sp>
        <p:nvSpPr>
          <p:cNvPr id="26" name="TextBox 25"/>
          <p:cNvSpPr txBox="1"/>
          <p:nvPr/>
        </p:nvSpPr>
        <p:spPr>
          <a:xfrm>
            <a:off x="7242048" y="3840480"/>
            <a:ext cx="4261104" cy="658368"/>
          </a:xfrm>
          <a:prstGeom prst="rect">
            <a:avLst/>
          </a:prstGeom>
          <a:noFill/>
        </p:spPr>
        <p:txBody>
          <a:bodyPr wrap="square" anchor="t" lIns="0" rIns="0" tIns="0" bIns="0">
            <a:spAutoFit/>
          </a:bodyPr>
          <a:lstStyle/>
          <a:p>
            <a:pPr algn="l"/>
            <a:r>
              <a:rPr sz="1050" b="0" i="0">
                <a:solidFill>
                  <a:srgbClr val="1F2937"/>
                </a:solidFill>
                <a:latin typeface="Lato"/>
              </a:rPr>
              <a:t>Same route, same month: +7.1% per flight (fuel +8.7%, crew +8.5%, maintenance +4.7%, food flat). Unit costs rose on every route in monthly steps from Jan to Jul 2025, then flattened.</a:t>
            </a:r>
          </a:p>
        </p:txBody>
      </p:sp>
      <p:sp>
        <p:nvSpPr>
          <p:cNvPr id="27" name="TextBox 26"/>
          <p:cNvSpPr txBox="1"/>
          <p:nvPr/>
        </p:nvSpPr>
        <p:spPr>
          <a:xfrm>
            <a:off x="7242048" y="4517136"/>
            <a:ext cx="4261104" cy="219456"/>
          </a:xfrm>
          <a:prstGeom prst="rect">
            <a:avLst/>
          </a:prstGeom>
          <a:noFill/>
        </p:spPr>
        <p:txBody>
          <a:bodyPr wrap="square" anchor="t" lIns="0" rIns="0" tIns="0" bIns="0">
            <a:spAutoFit/>
          </a:bodyPr>
          <a:lstStyle/>
          <a:p>
            <a:pPr algn="l"/>
            <a:r>
              <a:rPr sz="1000" b="1" i="0">
                <a:solidFill>
                  <a:srgbClr val="E8692A"/>
                </a:solidFill>
                <a:latin typeface="Lato"/>
              </a:rPr>
              <a:t>→ Fix: fuel prices and the pilot agreement are given; fly fewer flights</a:t>
            </a:r>
          </a:p>
        </p:txBody>
      </p:sp>
      <p:sp>
        <p:nvSpPr>
          <p:cNvPr id="28" name="Rectangle 27"/>
          <p:cNvSpPr/>
          <p:nvPr/>
        </p:nvSpPr>
        <p:spPr>
          <a:xfrm>
            <a:off x="6583680" y="4919472"/>
            <a:ext cx="5056632" cy="138988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720840" y="502920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3</a:t>
            </a:r>
          </a:p>
        </p:txBody>
      </p:sp>
      <p:sp>
        <p:nvSpPr>
          <p:cNvPr id="30" name="TextBox 29"/>
          <p:cNvSpPr txBox="1"/>
          <p:nvPr/>
        </p:nvSpPr>
        <p:spPr>
          <a:xfrm>
            <a:off x="7242048" y="4992624"/>
            <a:ext cx="4261104" cy="329184"/>
          </a:xfrm>
          <a:prstGeom prst="rect">
            <a:avLst/>
          </a:prstGeom>
          <a:noFill/>
        </p:spPr>
        <p:txBody>
          <a:bodyPr wrap="square" anchor="t" lIns="0" rIns="0" tIns="0" bIns="0">
            <a:spAutoFit/>
          </a:bodyPr>
          <a:lstStyle/>
          <a:p>
            <a:pPr algn="l"/>
            <a:r>
              <a:rPr sz="1800" b="1" i="0">
                <a:solidFill>
                  <a:srgbClr val="0B1F3A"/>
                </a:solidFill>
                <a:latin typeface="Montserrat"/>
              </a:rPr>
              <a:t>3% / 4%</a:t>
            </a:r>
            <a:r>
              <a:rPr sz="1300" b="1" i="0">
                <a:solidFill>
                  <a:srgbClr val="0B1F3A"/>
                </a:solidFill>
                <a:latin typeface="Montserrat"/>
              </a:rPr>
              <a:t>   the case's figures hide it</a:t>
            </a:r>
          </a:p>
        </p:txBody>
      </p:sp>
      <p:sp>
        <p:nvSpPr>
          <p:cNvPr id="31" name="TextBox 30"/>
          <p:cNvSpPr txBox="1"/>
          <p:nvPr/>
        </p:nvSpPr>
        <p:spPr>
          <a:xfrm>
            <a:off x="7242048" y="5349240"/>
            <a:ext cx="4261104" cy="658368"/>
          </a:xfrm>
          <a:prstGeom prst="rect">
            <a:avLst/>
          </a:prstGeom>
          <a:noFill/>
        </p:spPr>
        <p:txBody>
          <a:bodyPr wrap="square" anchor="t" lIns="0" rIns="0" tIns="0" bIns="0">
            <a:spAutoFit/>
          </a:bodyPr>
          <a:lstStyle/>
          <a:p>
            <a:pPr algn="l"/>
            <a:r>
              <a:rPr sz="1050" b="0" i="0">
                <a:solidFill>
                  <a:srgbClr val="1F2937"/>
                </a:solidFill>
                <a:latin typeface="Lato"/>
              </a:rPr>
              <a:t>Network-average fuel and crew per flight rose only +3.1% / +4.1% (all costs +2.7%): the 3 new markets add many cheap flights (~$5.4k each vs ~$17.3k elsewhere). Without them: fuel +9.2%, crew +9.6%.</a:t>
            </a:r>
          </a:p>
        </p:txBody>
      </p:sp>
      <p:sp>
        <p:nvSpPr>
          <p:cNvPr id="32" name="TextBox 31"/>
          <p:cNvSpPr txBox="1"/>
          <p:nvPr/>
        </p:nvSpPr>
        <p:spPr>
          <a:xfrm>
            <a:off x="7242048" y="6025896"/>
            <a:ext cx="4261104" cy="219456"/>
          </a:xfrm>
          <a:prstGeom prst="rect">
            <a:avLst/>
          </a:prstGeom>
          <a:noFill/>
        </p:spPr>
        <p:txBody>
          <a:bodyPr wrap="square" anchor="t" lIns="0" rIns="0" tIns="0" bIns="0">
            <a:spAutoFit/>
          </a:bodyPr>
          <a:lstStyle/>
          <a:p>
            <a:pPr algn="l"/>
            <a:r>
              <a:rPr sz="1000" b="1" i="0">
                <a:solidFill>
                  <a:srgbClr val="E8692A"/>
                </a:solidFill>
                <a:latin typeface="Lato"/>
              </a:rPr>
              <a:t>→ Fix: track cost per flight route by route (Issue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02</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Where the money is lost</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Route, market and network performance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2 · NETWORK</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0"/>
              </a:spcAft>
            </a:pPr>
            <a:r>
              <a:rPr sz="2400" b="1" i="0">
                <a:solidFill>
                  <a:srgbClr val="0B1F3A"/>
                </a:solidFill>
                <a:latin typeface="Montserrat"/>
              </a:rPr>
              <a:t>Five markets doubled in 2025 lose $48.7M, as much as the whole network; 26 of 54 routes profit</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&amp; costs, FY25-26 (decline vs FY24-25); contribution before gates; routes are directional. Hubs: YVR, YYC, YYZ, YUL (case).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10</a:t>
            </a:r>
          </a:p>
        </p:txBody>
      </p:sp>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i="0">
                <a:solidFill>
                  <a:srgbClr val="1F2937"/>
                </a:solidFill>
                <a:latin typeface="Lato"/>
              </a:rPr>
              <a:t>• The five: Montréal–Vancouver, Halifax–Toronto, Montréal–Toronto, Ottawa–Toronto, Halifax–Montréal. The first four (both ways) = 71% of the −$36.0M decline</a:t>
            </a:r>
          </a:p>
          <a:p>
            <a:pPr algn="l">
              <a:spcAft>
                <a:spcPts val="600"/>
              </a:spcAft>
            </a:pPr>
            <a:r>
              <a:rPr sz="1300" b="0" i="0">
                <a:solidFill>
                  <a:srgbClr val="1F2937"/>
                </a:solidFill>
                <a:latin typeface="Lato"/>
              </a:rPr>
              <a:t>• Montréal–Vancouver alone: −$19.7M, ~⅓ of all route losses</a:t>
            </a:r>
          </a:p>
          <a:p>
            <a:pPr algn="l">
              <a:spcAft>
                <a:spcPts val="600"/>
              </a:spcAft>
            </a:pPr>
            <a:r>
              <a:rPr sz="1300" b="0" i="0">
                <a:solidFill>
                  <a:srgbClr val="1F2937"/>
                </a:solidFill>
                <a:latin typeface="Lato"/>
              </a:rPr>
              <a:t>• Profitable routes (+$12.6M) can't offset losers (−$60.9M)</a:t>
            </a:r>
          </a:p>
          <a:p>
            <a:pPr algn="l">
              <a:spcAft>
                <a:spcPts val="600"/>
              </a:spcAft>
            </a:pPr>
            <a:r>
              <a:rPr sz="1300" b="0" i="0">
                <a:solidFill>
                  <a:srgbClr val="1F2937"/>
                </a:solidFill>
                <a:latin typeface="Lato"/>
              </a:rPr>
              <a:t>• Outside the 2025 expansion every route type is near break-even or better: hub–hub +$6.9M, hub–regional +$4.5M, regional–regional −$0.9M</a:t>
            </a:r>
          </a:p>
        </p:txBody>
      </p:sp>
      <p:sp>
        <p:nvSpPr>
          <p:cNvPr id="13" name="cf_chart_title"/>
          <p:cNvSpPr txBox="1"/>
          <p:nvPr/>
        </p:nvSpPr>
        <p:spPr>
          <a:xfrm>
            <a:off x="548640" y="1737360"/>
            <a:ext cx="7315200" cy="274320"/>
          </a:xfrm>
          <a:prstGeom prst="rect">
            <a:avLst/>
          </a:prstGeom>
          <a:noFill/>
        </p:spPr>
        <p:txBody>
          <a:bodyPr wrap="square" anchor="t" lIns="0" rIns="0" tIns="0" bIns="0">
            <a:spAutoFit/>
          </a:bodyPr>
          <a:lstStyle/>
          <a:p>
            <a:pPr algn="l"/>
            <a:r>
              <a:rPr sz="1300" b="1" i="0">
                <a:solidFill>
                  <a:srgbClr val="0B1F3A"/>
                </a:solidFill>
                <a:latin typeface="Lato"/>
              </a:rPr>
              <a:t>Contribution by route, FY25-26  </a:t>
            </a:r>
            <a:r>
              <a:rPr sz="1100" b="0" i="0">
                <a:solidFill>
                  <a:srgbClr val="6B7280"/>
                </a:solidFill>
                <a:latin typeface="Lato"/>
              </a:rPr>
              <a:t>$M before gates: the 10 worst and 6 best of 54 routes</a:t>
            </a:r>
          </a:p>
        </p:txBody>
      </p:sp>
      <p:graphicFrame>
        <p:nvGraphicFramePr>
          <p:cNvPr id="14" name="cf_routes"/>
          <p:cNvGraphicFramePr>
            <a:graphicFrameLocks noGrp="1"/>
          </p:cNvGraphicFramePr>
          <p:nvPr/>
        </p:nvGraphicFramePr>
        <p:xfrm>
          <a:off x="548640" y="2103120"/>
          <a:ext cx="7315200" cy="4160520"/>
        </p:xfrm>
        <a:graphic>
          <a:graphicData uri="http://schemas.openxmlformats.org/drawingml/2006/chart">
            <c:chart xmlns:c="http://schemas.openxmlformats.org/drawingml/2006/chart" r:id="rId3"/>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2 · THE EXPANSION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Doubling flights on 5 trunk markets drove most of the loss; the 3 new markets added a smaller one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&amp; costs, Sep–Feb FY24-25 vs FY25-26 unless stated; revenue by purchase month, cost by flight date; before gates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11</a:t>
            </a:r>
          </a:p>
        </p:txBody>
      </p:sp>
      <p:sp>
        <p:nvSpPr>
          <p:cNvPr id="8" name="TextBox 7"/>
          <p:cNvSpPr txBox="1"/>
          <p:nvPr/>
        </p:nvSpPr>
        <p:spPr>
          <a:xfrm>
            <a:off x="548640" y="1536192"/>
            <a:ext cx="1920240" cy="237744"/>
          </a:xfrm>
          <a:prstGeom prst="rect">
            <a:avLst/>
          </a:prstGeom>
          <a:noFill/>
        </p:spPr>
        <p:txBody>
          <a:bodyPr wrap="square" anchor="t" lIns="0" rIns="0" tIns="0" bIns="0">
            <a:spAutoFit/>
          </a:bodyPr>
          <a:lstStyle/>
          <a:p>
            <a:pPr algn="l"/>
            <a:r>
              <a:rPr sz="1100" b="1" i="0">
                <a:solidFill>
                  <a:srgbClr val="0B1F3A"/>
                </a:solidFill>
                <a:latin typeface="Lato"/>
              </a:rPr>
              <a:t>Sep–Feb, one year apart:</a:t>
            </a:r>
          </a:p>
        </p:txBody>
      </p:sp>
      <p:sp>
        <p:nvSpPr>
          <p:cNvPr id="9" name="Rectangle 8"/>
          <p:cNvSpPr/>
          <p:nvPr/>
        </p:nvSpPr>
        <p:spPr>
          <a:xfrm>
            <a:off x="2514600" y="1600200"/>
            <a:ext cx="137160" cy="137160"/>
          </a:xfrm>
          <a:prstGeom prst="rect">
            <a:avLst/>
          </a:prstGeom>
          <a:solidFill>
            <a:srgbClr val="B8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06624" y="1536192"/>
            <a:ext cx="2011680" cy="237744"/>
          </a:xfrm>
          <a:prstGeom prst="rect">
            <a:avLst/>
          </a:prstGeom>
          <a:noFill/>
        </p:spPr>
        <p:txBody>
          <a:bodyPr wrap="square" anchor="t" lIns="0" rIns="0" tIns="0" bIns="0">
            <a:spAutoFit/>
          </a:bodyPr>
          <a:lstStyle/>
          <a:p>
            <a:pPr algn="l"/>
            <a:r>
              <a:rPr sz="1050" b="0" i="0">
                <a:solidFill>
                  <a:srgbClr val="1F2937"/>
                </a:solidFill>
                <a:latin typeface="Lato"/>
              </a:rPr>
              <a:t>Sep 2024–Feb 2025 (before)</a:t>
            </a:r>
          </a:p>
        </p:txBody>
      </p:sp>
      <p:sp>
        <p:nvSpPr>
          <p:cNvPr id="11" name="Rectangle 10"/>
          <p:cNvSpPr/>
          <p:nvPr/>
        </p:nvSpPr>
        <p:spPr>
          <a:xfrm>
            <a:off x="4754880" y="1600200"/>
            <a:ext cx="137160" cy="13716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919472" y="1600200"/>
            <a:ext cx="137160" cy="13716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536192"/>
            <a:ext cx="2706624" cy="237744"/>
          </a:xfrm>
          <a:prstGeom prst="rect">
            <a:avLst/>
          </a:prstGeom>
          <a:noFill/>
        </p:spPr>
        <p:txBody>
          <a:bodyPr wrap="square" anchor="t" lIns="0" rIns="0" tIns="0" bIns="0">
            <a:spAutoFit/>
          </a:bodyPr>
          <a:lstStyle/>
          <a:p>
            <a:pPr algn="l"/>
            <a:r>
              <a:rPr sz="1050" b="0" i="0">
                <a:solidFill>
                  <a:srgbClr val="1F2937"/>
                </a:solidFill>
                <a:latin typeface="Lato"/>
              </a:rPr>
              <a:t>Sep 2025–Feb 2026 (trunk in orange)</a:t>
            </a:r>
          </a:p>
        </p:txBody>
      </p:sp>
      <p:sp>
        <p:nvSpPr>
          <p:cNvPr id="14" name="Rectangle 13"/>
          <p:cNvSpPr/>
          <p:nvPr/>
        </p:nvSpPr>
        <p:spPr>
          <a:xfrm>
            <a:off x="548640" y="1847088"/>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1920240"/>
            <a:ext cx="3241548" cy="219456"/>
          </a:xfrm>
          <a:prstGeom prst="rect">
            <a:avLst/>
          </a:prstGeom>
          <a:noFill/>
        </p:spPr>
        <p:txBody>
          <a:bodyPr wrap="square" anchor="t" lIns="0" rIns="0" tIns="0" bIns="0">
            <a:spAutoFit/>
          </a:bodyPr>
          <a:lstStyle/>
          <a:p>
            <a:pPr algn="l"/>
            <a:r>
              <a:rPr sz="1100" b="1" i="0">
                <a:solidFill>
                  <a:srgbClr val="0B1F3A"/>
                </a:solidFill>
                <a:latin typeface="Montserrat"/>
              </a:rPr>
              <a:t>Flights</a:t>
            </a:r>
          </a:p>
        </p:txBody>
      </p:sp>
      <p:sp>
        <p:nvSpPr>
          <p:cNvPr id="16" name="TextBox 15"/>
          <p:cNvSpPr txBox="1"/>
          <p:nvPr/>
        </p:nvSpPr>
        <p:spPr>
          <a:xfrm>
            <a:off x="676656" y="21396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+101%</a:t>
            </a:r>
            <a:r>
              <a:rPr sz="1050" b="0" i="0">
                <a:solidFill>
                  <a:srgbClr val="1F2937"/>
                </a:solidFill>
                <a:latin typeface="Lato"/>
              </a:rPr>
              <a:t>  ·  other routes +0.1%</a:t>
            </a:r>
          </a:p>
        </p:txBody>
      </p:sp>
      <p:graphicFrame>
        <p:nvGraphicFramePr>
          <p:cNvPr id="17" name="Chart 16"/>
          <p:cNvGraphicFramePr>
            <a:graphicFrameLocks noGrp="1"/>
          </p:cNvGraphicFramePr>
          <p:nvPr/>
        </p:nvGraphicFramePr>
        <p:xfrm>
          <a:off x="603503" y="2359152"/>
          <a:ext cx="3387852" cy="1216152"/>
        </p:xfrm>
        <a:graphic>
          <a:graphicData uri="http://schemas.openxmlformats.org/drawingml/2006/chart">
            <c:chart xmlns:c="http://schemas.openxmlformats.org/drawingml/2006/chart" r:id="rId3"/>
          </a:graphicData>
        </a:graphic>
      </p:graphicFrame>
      <p:sp>
        <p:nvSpPr>
          <p:cNvPr id="18" name="Rectangle 17"/>
          <p:cNvSpPr/>
          <p:nvPr/>
        </p:nvSpPr>
        <p:spPr>
          <a:xfrm>
            <a:off x="4320540" y="1847088"/>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8555" y="1920240"/>
            <a:ext cx="3241548" cy="219456"/>
          </a:xfrm>
          <a:prstGeom prst="rect">
            <a:avLst/>
          </a:prstGeom>
          <a:noFill/>
        </p:spPr>
        <p:txBody>
          <a:bodyPr wrap="square" anchor="t" lIns="0" rIns="0" tIns="0" bIns="0">
            <a:spAutoFit/>
          </a:bodyPr>
          <a:lstStyle/>
          <a:p>
            <a:pPr algn="l"/>
            <a:r>
              <a:rPr sz="1100" b="1" i="0">
                <a:solidFill>
                  <a:srgbClr val="0B1F3A"/>
                </a:solidFill>
                <a:latin typeface="Montserrat"/>
              </a:rPr>
              <a:t>Revenue, $M</a:t>
            </a:r>
          </a:p>
        </p:txBody>
      </p:sp>
      <p:sp>
        <p:nvSpPr>
          <p:cNvPr id="20" name="TextBox 19"/>
          <p:cNvSpPr txBox="1"/>
          <p:nvPr/>
        </p:nvSpPr>
        <p:spPr>
          <a:xfrm>
            <a:off x="4448555" y="21396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+3.1%</a:t>
            </a:r>
            <a:r>
              <a:rPr sz="1050" b="0" i="0">
                <a:solidFill>
                  <a:srgbClr val="1F2937"/>
                </a:solidFill>
                <a:latin typeface="Lato"/>
              </a:rPr>
              <a:t>, less than other routes (+4.0%)</a:t>
            </a:r>
          </a:p>
        </p:txBody>
      </p:sp>
      <p:graphicFrame>
        <p:nvGraphicFramePr>
          <p:cNvPr id="21" name="Chart 20"/>
          <p:cNvGraphicFramePr>
            <a:graphicFrameLocks noGrp="1"/>
          </p:cNvGraphicFramePr>
          <p:nvPr/>
        </p:nvGraphicFramePr>
        <p:xfrm>
          <a:off x="4375403" y="2359152"/>
          <a:ext cx="3387852" cy="1216152"/>
        </p:xfrm>
        <a:graphic>
          <a:graphicData uri="http://schemas.openxmlformats.org/drawingml/2006/chart">
            <c:chart xmlns:c="http://schemas.openxmlformats.org/drawingml/2006/chart" r:id="rId4"/>
          </a:graphicData>
        </a:graphic>
      </p:graphicFrame>
      <p:sp>
        <p:nvSpPr>
          <p:cNvPr id="22" name="Rectangle 21"/>
          <p:cNvSpPr/>
          <p:nvPr/>
        </p:nvSpPr>
        <p:spPr>
          <a:xfrm>
            <a:off x="548640" y="3904487"/>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977639"/>
            <a:ext cx="3241548" cy="219456"/>
          </a:xfrm>
          <a:prstGeom prst="rect">
            <a:avLst/>
          </a:prstGeom>
          <a:noFill/>
        </p:spPr>
        <p:txBody>
          <a:bodyPr wrap="square" anchor="t" lIns="0" rIns="0" tIns="0" bIns="0">
            <a:spAutoFit/>
          </a:bodyPr>
          <a:lstStyle/>
          <a:p>
            <a:pPr algn="l"/>
            <a:r>
              <a:rPr sz="1100" b="1" i="0">
                <a:solidFill>
                  <a:srgbClr val="0B1F3A"/>
                </a:solidFill>
                <a:latin typeface="Montserrat"/>
              </a:rPr>
              <a:t>Tickets per flight</a:t>
            </a:r>
          </a:p>
        </p:txBody>
      </p:sp>
      <p:sp>
        <p:nvSpPr>
          <p:cNvPr id="24" name="TextBox 23"/>
          <p:cNvSpPr txBox="1"/>
          <p:nvPr/>
        </p:nvSpPr>
        <p:spPr>
          <a:xfrm>
            <a:off x="676656" y="41970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16.5 → 9.3 (−44%)</a:t>
            </a:r>
            <a:r>
              <a:rPr sz="1050" b="0" i="0">
                <a:solidFill>
                  <a:srgbClr val="1F2937"/>
                </a:solidFill>
                <a:latin typeface="Lato"/>
              </a:rPr>
              <a:t>  ·  new markets 3.3</a:t>
            </a:r>
          </a:p>
        </p:txBody>
      </p:sp>
      <p:graphicFrame>
        <p:nvGraphicFramePr>
          <p:cNvPr id="25" name="Chart 24"/>
          <p:cNvGraphicFramePr>
            <a:graphicFrameLocks noGrp="1"/>
          </p:cNvGraphicFramePr>
          <p:nvPr/>
        </p:nvGraphicFramePr>
        <p:xfrm>
          <a:off x="603503" y="4416552"/>
          <a:ext cx="3387852" cy="1216152"/>
        </p:xfrm>
        <a:graphic>
          <a:graphicData uri="http://schemas.openxmlformats.org/drawingml/2006/chart">
            <c:chart xmlns:c="http://schemas.openxmlformats.org/drawingml/2006/chart" r:id="rId5"/>
          </a:graphicData>
        </a:graphic>
      </p:graphicFrame>
      <p:sp>
        <p:nvSpPr>
          <p:cNvPr id="26" name="Rectangle 25"/>
          <p:cNvSpPr/>
          <p:nvPr/>
        </p:nvSpPr>
        <p:spPr>
          <a:xfrm>
            <a:off x="4320540" y="3904487"/>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48555" y="3977639"/>
            <a:ext cx="3241548" cy="219456"/>
          </a:xfrm>
          <a:prstGeom prst="rect">
            <a:avLst/>
          </a:prstGeom>
          <a:noFill/>
        </p:spPr>
        <p:txBody>
          <a:bodyPr wrap="square" anchor="t" lIns="0" rIns="0" tIns="0" bIns="0">
            <a:spAutoFit/>
          </a:bodyPr>
          <a:lstStyle/>
          <a:p>
            <a:pPr algn="l"/>
            <a:r>
              <a:rPr sz="1100" b="1" i="0">
                <a:solidFill>
                  <a:srgbClr val="0B1F3A"/>
                </a:solidFill>
                <a:latin typeface="Montserrat"/>
              </a:rPr>
              <a:t>Contribution before gates, $M</a:t>
            </a:r>
          </a:p>
        </p:txBody>
      </p:sp>
      <p:sp>
        <p:nvSpPr>
          <p:cNvPr id="28" name="TextBox 27"/>
          <p:cNvSpPr txBox="1"/>
          <p:nvPr/>
        </p:nvSpPr>
        <p:spPr>
          <a:xfrm>
            <a:off x="4448555" y="41970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+1.2 → −23.8</a:t>
            </a:r>
            <a:r>
              <a:rPr sz="1050" b="0" i="0">
                <a:solidFill>
                  <a:srgbClr val="1F2937"/>
                </a:solidFill>
                <a:latin typeface="Lato"/>
              </a:rPr>
              <a:t>  ·  new markets −0.3 → −5.0</a:t>
            </a:r>
          </a:p>
        </p:txBody>
      </p:sp>
      <p:graphicFrame>
        <p:nvGraphicFramePr>
          <p:cNvPr id="29" name="Chart 28"/>
          <p:cNvGraphicFramePr>
            <a:graphicFrameLocks noGrp="1"/>
          </p:cNvGraphicFramePr>
          <p:nvPr/>
        </p:nvGraphicFramePr>
        <p:xfrm>
          <a:off x="4375403" y="4416552"/>
          <a:ext cx="3387852" cy="1216152"/>
        </p:xfrm>
        <a:graphic>
          <a:graphicData uri="http://schemas.openxmlformats.org/drawingml/2006/chart">
            <c:chart xmlns:c="http://schemas.openxmlformats.org/drawingml/2006/chart" r:id="rId6"/>
          </a:graphicData>
        </a:graphic>
      </p:graphicFrame>
      <p:sp>
        <p:nvSpPr>
          <p:cNvPr id="30" name="TextBox 29"/>
          <p:cNvSpPr txBox="1"/>
          <p:nvPr/>
        </p:nvSpPr>
        <p:spPr>
          <a:xfrm>
            <a:off x="548640" y="5788152"/>
            <a:ext cx="7269480" cy="502920"/>
          </a:xfrm>
          <a:prstGeom prst="rect">
            <a:avLst/>
          </a:prstGeom>
          <a:noFill/>
        </p:spPr>
        <p:txBody>
          <a:bodyPr wrap="square" anchor="t" lIns="0" rIns="0" tIns="0" bIns="0">
            <a:spAutoFit/>
          </a:bodyPr>
          <a:lstStyle/>
          <a:p>
            <a:pPr algn="l"/>
            <a:r>
              <a:rPr sz="1050" b="1" i="0">
                <a:solidFill>
                  <a:srgbClr val="0B1F3A"/>
                </a:solidFill>
                <a:latin typeface="Lato"/>
              </a:rPr>
              <a:t>Doubled trunk</a:t>
            </a:r>
            <a:r>
              <a:rPr sz="1050" b="0" i="0">
                <a:solidFill>
                  <a:srgbClr val="1F2937"/>
                </a:solidFill>
                <a:latin typeface="Lato"/>
              </a:rPr>
              <a:t> (10 directions): the 4 doubled trunk markets (Montréal–Toronto, Halifax–Toronto, Halifax–Montréal, Ottawa–Toronto) plus Montréal–Vancouver; each got an afternoon flight for every morning flight from Mar/Apr 2025.  </a:t>
            </a:r>
            <a:r>
              <a:rPr sz="1050" b="1" i="0">
                <a:solidFill>
                  <a:srgbClr val="0B1F3A"/>
                </a:solidFill>
                <a:latin typeface="Lato"/>
              </a:rPr>
              <a:t>New markets</a:t>
            </a:r>
            <a:r>
              <a:rPr sz="1050" b="0" i="0">
                <a:solidFill>
                  <a:srgbClr val="1F2937"/>
                </a:solidFill>
                <a:latin typeface="Lato"/>
              </a:rPr>
              <a:t> (6): London–Toronto (Feb 2025), Montréal–Ottawa, Moncton–Halifax.  </a:t>
            </a:r>
            <a:r>
              <a:rPr sz="1050" b="1" i="0">
                <a:solidFill>
                  <a:srgbClr val="0B1F3A"/>
                </a:solidFill>
                <a:latin typeface="Lato"/>
              </a:rPr>
              <a:t>Other routes</a:t>
            </a:r>
            <a:r>
              <a:rPr sz="1050" b="0" i="0">
                <a:solidFill>
                  <a:srgbClr val="1F2937"/>
                </a:solidFill>
                <a:latin typeface="Lato"/>
              </a:rPr>
              <a:t>: the other 38 directions.</a:t>
            </a:r>
          </a:p>
        </p:txBody>
      </p:sp>
      <p:sp>
        <p:nvSpPr>
          <p:cNvPr id="31" name="Rectangle 30"/>
          <p:cNvSpPr/>
          <p:nvPr/>
        </p:nvSpPr>
        <p:spPr>
          <a:xfrm>
            <a:off x="8092440" y="1536192"/>
            <a:ext cx="3547872" cy="47548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1682495"/>
            <a:ext cx="3090672" cy="237744"/>
          </a:xfrm>
          <a:prstGeom prst="rect">
            <a:avLst/>
          </a:prstGeom>
          <a:noFill/>
        </p:spPr>
        <p:txBody>
          <a:bodyPr wrap="square" anchor="t" lIns="0" rIns="0" tIns="0" bIns="0">
            <a:spAutoFit/>
          </a:bodyPr>
          <a:lstStyle/>
          <a:p>
            <a:pPr algn="l"/>
            <a:r>
              <a:rPr sz="1100" b="1" i="0">
                <a:solidFill>
                  <a:srgbClr val="E8692A"/>
                </a:solidFill>
                <a:latin typeface="Montserrat"/>
              </a:rPr>
              <a:t>SO WHAT</a:t>
            </a:r>
          </a:p>
        </p:txBody>
      </p:sp>
      <p:sp>
        <p:nvSpPr>
          <p:cNvPr id="33" name="Oval 32"/>
          <p:cNvSpPr/>
          <p:nvPr/>
        </p:nvSpPr>
        <p:spPr>
          <a:xfrm>
            <a:off x="8321040" y="2011679"/>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1</a:t>
            </a:r>
          </a:p>
        </p:txBody>
      </p:sp>
      <p:sp>
        <p:nvSpPr>
          <p:cNvPr id="34" name="TextBox 33"/>
          <p:cNvSpPr txBox="1"/>
          <p:nvPr/>
        </p:nvSpPr>
        <p:spPr>
          <a:xfrm>
            <a:off x="8714232" y="1993391"/>
            <a:ext cx="2743200" cy="724204"/>
          </a:xfrm>
          <a:prstGeom prst="rect">
            <a:avLst/>
          </a:prstGeom>
          <a:noFill/>
        </p:spPr>
        <p:txBody>
          <a:bodyPr wrap="square" anchor="t" lIns="0" rIns="0" tIns="0" bIns="0">
            <a:spAutoFit/>
          </a:bodyPr>
          <a:lstStyle/>
          <a:p>
            <a:pPr algn="l"/>
            <a:r>
              <a:rPr sz="1100" b="1" i="0">
                <a:solidFill>
                  <a:srgbClr val="0B1F3A"/>
                </a:solidFill>
                <a:latin typeface="Lato"/>
              </a:rPr>
              <a:t>Frequency, not new markets.</a:t>
            </a:r>
            <a:r>
              <a:rPr sz="1100" b="0" i="0">
                <a:solidFill>
                  <a:srgbClr val="1F2937"/>
                </a:solidFill>
                <a:latin typeface="Lato"/>
              </a:rPr>
              <a:t> Sep–Feb contribution fell $33.9M: doubled trunk −$24.9M, new markets −$4.7M, other routes −$4.3M (cost per flight +12%).</a:t>
            </a:r>
          </a:p>
        </p:txBody>
      </p:sp>
      <p:sp>
        <p:nvSpPr>
          <p:cNvPr id="35" name="Oval 34"/>
          <p:cNvSpPr/>
          <p:nvPr/>
        </p:nvSpPr>
        <p:spPr>
          <a:xfrm>
            <a:off x="8321040" y="2827324"/>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2</a:t>
            </a:r>
          </a:p>
        </p:txBody>
      </p:sp>
      <p:sp>
        <p:nvSpPr>
          <p:cNvPr id="36" name="TextBox 35"/>
          <p:cNvSpPr txBox="1"/>
          <p:nvPr/>
        </p:nvSpPr>
        <p:spPr>
          <a:xfrm>
            <a:off x="8714232" y="2809036"/>
            <a:ext cx="2743200" cy="1267358"/>
          </a:xfrm>
          <a:prstGeom prst="rect">
            <a:avLst/>
          </a:prstGeom>
          <a:noFill/>
        </p:spPr>
        <p:txBody>
          <a:bodyPr wrap="square" anchor="t" lIns="0" rIns="0" tIns="0" bIns="0">
            <a:spAutoFit/>
          </a:bodyPr>
          <a:lstStyle/>
          <a:p>
            <a:pPr algn="l"/>
            <a:r>
              <a:rPr sz="1100" b="1" i="0">
                <a:solidFill>
                  <a:srgbClr val="0B1F3A"/>
                </a:solidFill>
                <a:latin typeface="Lato"/>
              </a:rPr>
              <a:t>The added flights cut fares.</a:t>
            </a:r>
            <a:r>
              <a:rPr sz="1100" b="0" i="0">
                <a:solidFill>
                  <a:srgbClr val="1F2937"/>
                </a:solidFill>
                <a:latin typeface="Lato"/>
              </a:rPr>
              <a:t> Each group's fare index vs other routes fell ~10% in the month its flights doubled: Montréal–Toronto and Ottawa–Toronto in March (1.007 → 0.909); Halifax–Toronto, Halifax–Montréal and Montréal–Vancouver in April (1.021 → 0.913).</a:t>
            </a:r>
          </a:p>
        </p:txBody>
      </p:sp>
      <p:sp>
        <p:nvSpPr>
          <p:cNvPr id="37" name="Oval 36"/>
          <p:cNvSpPr/>
          <p:nvPr/>
        </p:nvSpPr>
        <p:spPr>
          <a:xfrm>
            <a:off x="8321040" y="4186123"/>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3</a:t>
            </a:r>
          </a:p>
        </p:txBody>
      </p:sp>
      <p:sp>
        <p:nvSpPr>
          <p:cNvPr id="38" name="TextBox 37"/>
          <p:cNvSpPr txBox="1"/>
          <p:nvPr/>
        </p:nvSpPr>
        <p:spPr>
          <a:xfrm>
            <a:off x="8714232" y="4167835"/>
            <a:ext cx="2743200" cy="543153"/>
          </a:xfrm>
          <a:prstGeom prst="rect">
            <a:avLst/>
          </a:prstGeom>
          <a:noFill/>
        </p:spPr>
        <p:txBody>
          <a:bodyPr wrap="square" anchor="t" lIns="0" rIns="0" tIns="0" bIns="0">
            <a:spAutoFit/>
          </a:bodyPr>
          <a:lstStyle/>
          <a:p>
            <a:pPr algn="l"/>
            <a:r>
              <a:rPr sz="1100" b="1" i="0">
                <a:solidFill>
                  <a:srgbClr val="0B1F3A"/>
                </a:solidFill>
                <a:latin typeface="Lato"/>
              </a:rPr>
              <a:t>Few new passengers.</a:t>
            </a:r>
            <a:r>
              <a:rPr sz="1100" b="0" i="0">
                <a:solidFill>
                  <a:srgbClr val="1F2937"/>
                </a:solidFill>
                <a:latin typeface="Lato"/>
              </a:rPr>
              <a:t> Each added trunk flight drew ~1.9 extra tickets vs trend; break-even needed ~19.</a:t>
            </a:r>
          </a:p>
        </p:txBody>
      </p:sp>
      <p:sp>
        <p:nvSpPr>
          <p:cNvPr id="39" name="Oval 38"/>
          <p:cNvSpPr/>
          <p:nvPr/>
        </p:nvSpPr>
        <p:spPr>
          <a:xfrm>
            <a:off x="8321040" y="4820716"/>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4</a:t>
            </a:r>
          </a:p>
        </p:txBody>
      </p:sp>
      <p:sp>
        <p:nvSpPr>
          <p:cNvPr id="40" name="TextBox 39"/>
          <p:cNvSpPr txBox="1"/>
          <p:nvPr/>
        </p:nvSpPr>
        <p:spPr>
          <a:xfrm>
            <a:off x="8714232" y="4802428"/>
            <a:ext cx="2743200" cy="724204"/>
          </a:xfrm>
          <a:prstGeom prst="rect">
            <a:avLst/>
          </a:prstGeom>
          <a:noFill/>
        </p:spPr>
        <p:txBody>
          <a:bodyPr wrap="square" anchor="t" lIns="0" rIns="0" tIns="0" bIns="0">
            <a:spAutoFit/>
          </a:bodyPr>
          <a:lstStyle/>
          <a:p>
            <a:pPr algn="l"/>
            <a:r>
              <a:rPr sz="1100" b="1" i="0">
                <a:solidFill>
                  <a:srgbClr val="0B1F3A"/>
                </a:solidFill>
                <a:latin typeface="Lato"/>
              </a:rPr>
              <a:t>Waiting won't fix it.</a:t>
            </a:r>
            <a:r>
              <a:rPr sz="1100" b="0" i="0">
                <a:solidFill>
                  <a:srgbClr val="1F2937"/>
                </a:solidFill>
                <a:latin typeface="Lato"/>
              </a:rPr>
              <a:t> Apr–Aug 2026 trunk tickets +0.1% vs 2025, on an identical schedule. New markets still cover only a third of their cost.</a:t>
            </a:r>
          </a:p>
        </p:txBody>
      </p:sp>
      <p:sp>
        <p:nvSpPr>
          <p:cNvPr id="41" name="TextBox 40"/>
          <p:cNvSpPr txBox="1"/>
          <p:nvPr/>
        </p:nvSpPr>
        <p:spPr>
          <a:xfrm>
            <a:off x="8321040" y="5800953"/>
            <a:ext cx="3136391" cy="362102"/>
          </a:xfrm>
          <a:prstGeom prst="rect">
            <a:avLst/>
          </a:prstGeom>
          <a:noFill/>
        </p:spPr>
        <p:txBody>
          <a:bodyPr wrap="square" anchor="b" lIns="0" rIns="0" tIns="0" bIns="0">
            <a:spAutoFit/>
          </a:bodyPr>
          <a:lstStyle/>
          <a:p>
            <a:pPr algn="l"/>
            <a:r>
              <a:rPr sz="1100" b="1" i="0">
                <a:solidFill>
                  <a:srgbClr val="E8692A"/>
                </a:solidFill>
                <a:latin typeface="Lato"/>
              </a:rPr>
              <a:t>→ Fix the trunk first; the new markets are a smaller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03</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else matters</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Refunds, Rewards, ancillaries and connecting passengers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3 · REVENUE LEVERS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Extra flights explain most of the $36M decline; refunds and Rewards are each under $1.5M</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&amp; costs, FY24-25 vs FY25-26; like-for-like = same route &amp; month; gates by lease year; connection = 2 chained legs on one booking</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13</a:t>
            </a:r>
          </a:p>
        </p:txBody>
      </p:sp>
      <p:sp>
        <p:nvSpPr>
          <p:cNvPr id="8" name="Rectangle 7"/>
          <p:cNvSpPr/>
          <p:nvPr/>
        </p:nvSpPr>
        <p:spPr>
          <a:xfrm>
            <a:off x="548640" y="1572768"/>
            <a:ext cx="6492240" cy="46634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64208"/>
            <a:ext cx="6172200" cy="457200"/>
          </a:xfrm>
          <a:prstGeom prst="rect">
            <a:avLst/>
          </a:prstGeom>
          <a:noFill/>
        </p:spPr>
        <p:txBody>
          <a:bodyPr wrap="square" anchor="t" lIns="0" rIns="0" tIns="0" bIns="0">
            <a:spAutoFit/>
          </a:bodyPr>
          <a:lstStyle/>
          <a:p>
            <a:pPr algn="l"/>
            <a:r>
              <a:rPr sz="1200" b="1" i="0">
                <a:solidFill>
                  <a:srgbClr val="0B1F3A"/>
                </a:solidFill>
                <a:latin typeface="Lato"/>
              </a:rPr>
              <a:t>What moved contribution from −$12.4M to −$48.4M</a:t>
            </a:r>
          </a:p>
          <a:p>
            <a:pPr algn="l"/>
            <a:r>
              <a:rPr sz="1000" b="0" i="0">
                <a:solidFill>
                  <a:srgbClr val="6B7280"/>
                </a:solidFill>
                <a:latin typeface="Lato"/>
              </a:rPr>
              <a:t>$M change, FY24-25 → FY25-26, ranked by size; light bars are part of the dark bar above, not extra</a:t>
            </a:r>
          </a:p>
        </p:txBody>
      </p:sp>
      <p:graphicFrame>
        <p:nvGraphicFramePr>
          <p:cNvPr id="10" name="Chart 9"/>
          <p:cNvGraphicFramePr>
            <a:graphicFrameLocks noGrp="1"/>
          </p:cNvGraphicFramePr>
          <p:nvPr/>
        </p:nvGraphicFramePr>
        <p:xfrm>
          <a:off x="640080" y="2157984"/>
          <a:ext cx="6309360" cy="3401568"/>
        </p:xfrm>
        <a:graphic>
          <a:graphicData uri="http://schemas.openxmlformats.org/drawingml/2006/chart">
            <c:chart xmlns:c="http://schemas.openxmlformats.org/drawingml/2006/chart" r:id="rId3"/>
          </a:graphicData>
        </a:graphic>
      </p:graphicFrame>
      <p:sp>
        <p:nvSpPr>
          <p:cNvPr id="11" name="TextBox 10"/>
          <p:cNvSpPr txBox="1"/>
          <p:nvPr/>
        </p:nvSpPr>
        <p:spPr>
          <a:xfrm>
            <a:off x="731520" y="5614416"/>
            <a:ext cx="6172200" cy="566928"/>
          </a:xfrm>
          <a:prstGeom prst="rect">
            <a:avLst/>
          </a:prstGeom>
          <a:noFill/>
        </p:spPr>
        <p:txBody>
          <a:bodyPr wrap="square" anchor="t" lIns="0" rIns="0" tIns="0" bIns="0">
            <a:spAutoFit/>
          </a:bodyPr>
          <a:lstStyle/>
          <a:p>
            <a:pPr algn="l"/>
            <a:r>
              <a:rPr sz="1050" b="1" i="0">
                <a:solidFill>
                  <a:srgbClr val="0B1F3A"/>
                </a:solidFill>
                <a:latin typeface="Lato"/>
              </a:rPr>
              <a:t>How it adds up: </a:t>
            </a:r>
            <a:r>
              <a:rPr sz="1050" b="1" i="0">
                <a:solidFill>
                  <a:srgbClr val="1F2937"/>
                </a:solidFill>
                <a:latin typeface="Lato"/>
              </a:rPr>
              <a:t>−30.1 − 15.3 + 9.4 = −36.0. </a:t>
            </a:r>
            <a:r>
              <a:rPr sz="1050" b="0" i="0">
                <a:solidFill>
                  <a:srgbClr val="1F2937"/>
                </a:solidFill>
                <a:latin typeface="Lato"/>
              </a:rPr>
              <a:t>Cost growth is +$45.4M: ⅔ more flights, ⅓ higher cost per flight. Gate leases rose a further $0.21M, outside the total.</a:t>
            </a:r>
          </a:p>
        </p:txBody>
      </p:sp>
      <p:sp>
        <p:nvSpPr>
          <p:cNvPr id="12" name="Rectangle 11"/>
          <p:cNvSpPr/>
          <p:nvPr/>
        </p:nvSpPr>
        <p:spPr>
          <a:xfrm>
            <a:off x="7315200" y="1572768"/>
            <a:ext cx="4325112" cy="1101851"/>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24927" y="1645920"/>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1</a:t>
            </a:r>
          </a:p>
        </p:txBody>
      </p:sp>
      <p:sp>
        <p:nvSpPr>
          <p:cNvPr id="14" name="TextBox 13"/>
          <p:cNvSpPr txBox="1"/>
          <p:nvPr/>
        </p:nvSpPr>
        <p:spPr>
          <a:xfrm>
            <a:off x="7808975" y="1636776"/>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Refunds</a:t>
            </a:r>
          </a:p>
        </p:txBody>
      </p:sp>
      <p:sp>
        <p:nvSpPr>
          <p:cNvPr id="15" name="TextBox 14"/>
          <p:cNvSpPr txBox="1"/>
          <p:nvPr/>
        </p:nvSpPr>
        <p:spPr>
          <a:xfrm>
            <a:off x="10250424" y="1618488"/>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−$1.15M</a:t>
            </a:r>
          </a:p>
        </p:txBody>
      </p:sp>
      <p:sp>
        <p:nvSpPr>
          <p:cNvPr id="16" name="TextBox 15"/>
          <p:cNvSpPr txBox="1"/>
          <p:nvPr/>
        </p:nvSpPr>
        <p:spPr>
          <a:xfrm>
            <a:off x="7443216" y="1956816"/>
            <a:ext cx="4069080" cy="489203"/>
          </a:xfrm>
          <a:prstGeom prst="rect">
            <a:avLst/>
          </a:prstGeom>
          <a:noFill/>
        </p:spPr>
        <p:txBody>
          <a:bodyPr wrap="square" anchor="t" lIns="0" rIns="0" tIns="0" bIns="0">
            <a:spAutoFit/>
          </a:bodyPr>
          <a:lstStyle/>
          <a:p>
            <a:pPr algn="l"/>
            <a:r>
              <a:rPr sz="1050" b="0" i="0">
                <a:solidFill>
                  <a:srgbClr val="1F2937"/>
                </a:solidFill>
                <a:latin typeface="Lato"/>
              </a:rPr>
              <a:t>$6.7M → $7.8M, about 4% of revenue. OTA bookings refund 5.8% of sales vs 3.7% on web and app; St. John's refunds ~37% of its winter revenue.</a:t>
            </a:r>
          </a:p>
        </p:txBody>
      </p:sp>
      <p:sp>
        <p:nvSpPr>
          <p:cNvPr id="17" name="TextBox 16"/>
          <p:cNvSpPr txBox="1"/>
          <p:nvPr/>
        </p:nvSpPr>
        <p:spPr>
          <a:xfrm>
            <a:off x="7443216" y="2446020"/>
            <a:ext cx="4069080" cy="182880"/>
          </a:xfrm>
          <a:prstGeom prst="rect">
            <a:avLst/>
          </a:prstGeom>
          <a:noFill/>
        </p:spPr>
        <p:txBody>
          <a:bodyPr wrap="square" anchor="t" lIns="0" rIns="0" tIns="0" bIns="0">
            <a:spAutoFit/>
          </a:bodyPr>
          <a:lstStyle/>
          <a:p>
            <a:pPr algn="l"/>
            <a:r>
              <a:rPr sz="1000" b="1" i="0">
                <a:solidFill>
                  <a:srgbClr val="E8692A"/>
                </a:solidFill>
                <a:latin typeface="Lato"/>
              </a:rPr>
              <a:t>→ Rebook-first in St. John's; OTA bookings to direct</a:t>
            </a:r>
          </a:p>
        </p:txBody>
      </p:sp>
      <p:sp>
        <p:nvSpPr>
          <p:cNvPr id="18" name="Rectangle 17"/>
          <p:cNvSpPr/>
          <p:nvPr/>
        </p:nvSpPr>
        <p:spPr>
          <a:xfrm>
            <a:off x="7315200" y="2747772"/>
            <a:ext cx="4325112" cy="94183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424927" y="2820924"/>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2</a:t>
            </a:r>
          </a:p>
        </p:txBody>
      </p:sp>
      <p:sp>
        <p:nvSpPr>
          <p:cNvPr id="20" name="TextBox 19"/>
          <p:cNvSpPr txBox="1"/>
          <p:nvPr/>
        </p:nvSpPr>
        <p:spPr>
          <a:xfrm>
            <a:off x="7808975" y="2811779"/>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Ancillaries</a:t>
            </a:r>
          </a:p>
        </p:txBody>
      </p:sp>
      <p:sp>
        <p:nvSpPr>
          <p:cNvPr id="21" name="TextBox 20"/>
          <p:cNvSpPr txBox="1"/>
          <p:nvPr/>
        </p:nvSpPr>
        <p:spPr>
          <a:xfrm>
            <a:off x="10250424" y="2793491"/>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+$0.29M</a:t>
            </a:r>
          </a:p>
        </p:txBody>
      </p:sp>
      <p:sp>
        <p:nvSpPr>
          <p:cNvPr id="22" name="TextBox 21"/>
          <p:cNvSpPr txBox="1"/>
          <p:nvPr/>
        </p:nvSpPr>
        <p:spPr>
          <a:xfrm>
            <a:off x="7443216" y="3131820"/>
            <a:ext cx="4069080" cy="329184"/>
          </a:xfrm>
          <a:prstGeom prst="rect">
            <a:avLst/>
          </a:prstGeom>
          <a:noFill/>
        </p:spPr>
        <p:txBody>
          <a:bodyPr wrap="square" anchor="t" lIns="0" rIns="0" tIns="0" bIns="0">
            <a:spAutoFit/>
          </a:bodyPr>
          <a:lstStyle/>
          <a:p>
            <a:pPr algn="l"/>
            <a:r>
              <a:rPr sz="1050" b="0" i="0">
                <a:solidFill>
                  <a:srgbClr val="1F2937"/>
                </a:solidFill>
                <a:latin typeface="Lato"/>
              </a:rPr>
              <a:t>Bags, seats, food and change fees: 2.1% of revenue ($4.0M). Even +10% adds only ~$0.4M.</a:t>
            </a:r>
          </a:p>
        </p:txBody>
      </p:sp>
      <p:sp>
        <p:nvSpPr>
          <p:cNvPr id="23" name="TextBox 22"/>
          <p:cNvSpPr txBox="1"/>
          <p:nvPr/>
        </p:nvSpPr>
        <p:spPr>
          <a:xfrm>
            <a:off x="7443216" y="3461003"/>
            <a:ext cx="4069080" cy="182880"/>
          </a:xfrm>
          <a:prstGeom prst="rect">
            <a:avLst/>
          </a:prstGeom>
          <a:noFill/>
        </p:spPr>
        <p:txBody>
          <a:bodyPr wrap="square" anchor="t" lIns="0" rIns="0" tIns="0" bIns="0">
            <a:spAutoFit/>
          </a:bodyPr>
          <a:lstStyle/>
          <a:p>
            <a:pPr algn="l"/>
            <a:r>
              <a:rPr sz="1000" b="1" i="0">
                <a:solidFill>
                  <a:srgbClr val="E8692A"/>
                </a:solidFill>
                <a:latin typeface="Lato"/>
              </a:rPr>
              <a:t>→ All-in fare bundles on the flights we keep</a:t>
            </a:r>
          </a:p>
        </p:txBody>
      </p:sp>
      <p:sp>
        <p:nvSpPr>
          <p:cNvPr id="24" name="Rectangle 23"/>
          <p:cNvSpPr/>
          <p:nvPr/>
        </p:nvSpPr>
        <p:spPr>
          <a:xfrm>
            <a:off x="7315200" y="3762756"/>
            <a:ext cx="4325112" cy="126187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24927" y="3835908"/>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3</a:t>
            </a:r>
          </a:p>
        </p:txBody>
      </p:sp>
      <p:sp>
        <p:nvSpPr>
          <p:cNvPr id="26" name="TextBox 25"/>
          <p:cNvSpPr txBox="1"/>
          <p:nvPr/>
        </p:nvSpPr>
        <p:spPr>
          <a:xfrm>
            <a:off x="7808975" y="3826764"/>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Rewards</a:t>
            </a:r>
          </a:p>
        </p:txBody>
      </p:sp>
      <p:sp>
        <p:nvSpPr>
          <p:cNvPr id="27" name="TextBox 26"/>
          <p:cNvSpPr txBox="1"/>
          <p:nvPr/>
        </p:nvSpPr>
        <p:spPr>
          <a:xfrm>
            <a:off x="10250424" y="3808476"/>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 $1.3M</a:t>
            </a:r>
          </a:p>
        </p:txBody>
      </p:sp>
      <p:sp>
        <p:nvSpPr>
          <p:cNvPr id="28" name="TextBox 27"/>
          <p:cNvSpPr txBox="1"/>
          <p:nvPr/>
        </p:nvSpPr>
        <p:spPr>
          <a:xfrm>
            <a:off x="7443216" y="4146804"/>
            <a:ext cx="4069080" cy="649224"/>
          </a:xfrm>
          <a:prstGeom prst="rect">
            <a:avLst/>
          </a:prstGeom>
          <a:noFill/>
        </p:spPr>
        <p:txBody>
          <a:bodyPr wrap="square" anchor="t" lIns="0" rIns="0" tIns="0" bIns="0">
            <a:spAutoFit/>
          </a:bodyPr>
          <a:lstStyle/>
          <a:p>
            <a:pPr algn="l"/>
            <a:r>
              <a:rPr sz="1050" b="0" i="0">
                <a:solidFill>
                  <a:srgbClr val="1F2937"/>
                </a:solidFill>
                <a:latin typeface="Lato"/>
              </a:rPr>
              <a:t>No fare premium: all tiers pay within 0.3% of ~$1,031 a ticket. Gold and Platinum buy ~2× the seat upgrades. Points cost is not in the data; it can be no more than the $1.33M Points + Cash rise.</a:t>
            </a:r>
          </a:p>
        </p:txBody>
      </p:sp>
      <p:sp>
        <p:nvSpPr>
          <p:cNvPr id="29" name="TextBox 28"/>
          <p:cNvSpPr txBox="1"/>
          <p:nvPr/>
        </p:nvSpPr>
        <p:spPr>
          <a:xfrm>
            <a:off x="7443216" y="4796028"/>
            <a:ext cx="4069080" cy="182880"/>
          </a:xfrm>
          <a:prstGeom prst="rect">
            <a:avLst/>
          </a:prstGeom>
          <a:noFill/>
        </p:spPr>
        <p:txBody>
          <a:bodyPr wrap="square" anchor="t" lIns="0" rIns="0" tIns="0" bIns="0">
            <a:spAutoFit/>
          </a:bodyPr>
          <a:lstStyle/>
          <a:p>
            <a:pPr algn="l"/>
            <a:r>
              <a:rPr sz="1000" b="1" i="0">
                <a:solidFill>
                  <a:srgbClr val="E8692A"/>
                </a:solidFill>
                <a:latin typeface="Lato"/>
              </a:rPr>
              <a:t>→ Not a driver; get its cost data before any change</a:t>
            </a:r>
          </a:p>
        </p:txBody>
      </p:sp>
      <p:sp>
        <p:nvSpPr>
          <p:cNvPr id="30" name="Rectangle 29"/>
          <p:cNvSpPr/>
          <p:nvPr/>
        </p:nvSpPr>
        <p:spPr>
          <a:xfrm>
            <a:off x="7315200" y="5097780"/>
            <a:ext cx="4325112" cy="1101851"/>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424927" y="5170932"/>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4</a:t>
            </a:r>
          </a:p>
        </p:txBody>
      </p:sp>
      <p:sp>
        <p:nvSpPr>
          <p:cNvPr id="32" name="TextBox 31"/>
          <p:cNvSpPr txBox="1"/>
          <p:nvPr/>
        </p:nvSpPr>
        <p:spPr>
          <a:xfrm>
            <a:off x="7808975" y="5161788"/>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Connecting passengers</a:t>
            </a:r>
          </a:p>
        </p:txBody>
      </p:sp>
      <p:sp>
        <p:nvSpPr>
          <p:cNvPr id="33" name="TextBox 32"/>
          <p:cNvSpPr txBox="1"/>
          <p:nvPr/>
        </p:nvSpPr>
        <p:spPr>
          <a:xfrm>
            <a:off x="10250424" y="5143500"/>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$13.1M</a:t>
            </a:r>
          </a:p>
        </p:txBody>
      </p:sp>
      <p:sp>
        <p:nvSpPr>
          <p:cNvPr id="34" name="TextBox 33"/>
          <p:cNvSpPr txBox="1"/>
          <p:nvPr/>
        </p:nvSpPr>
        <p:spPr>
          <a:xfrm>
            <a:off x="7443216" y="5481828"/>
            <a:ext cx="4069080" cy="489203"/>
          </a:xfrm>
          <a:prstGeom prst="rect">
            <a:avLst/>
          </a:prstGeom>
          <a:noFill/>
        </p:spPr>
        <p:txBody>
          <a:bodyPr wrap="square" anchor="t" lIns="0" rIns="0" tIns="0" bIns="0">
            <a:spAutoFit/>
          </a:bodyPr>
          <a:lstStyle/>
          <a:p>
            <a:pPr algn="l"/>
            <a:r>
              <a:rPr sz="1050" b="0" i="0">
                <a:solidFill>
                  <a:srgbClr val="1F2937"/>
                </a:solidFill>
                <a:latin typeface="Lato"/>
              </a:rPr>
              <a:t>12,644 hub-connection bookings over two years (57% via Toronto, 30% via Calgary); 6.9% of FY25-26 revenue. Montréal–Vancouver has 0, so exiting it loses none.</a:t>
            </a:r>
          </a:p>
        </p:txBody>
      </p:sp>
      <p:sp>
        <p:nvSpPr>
          <p:cNvPr id="35" name="TextBox 34"/>
          <p:cNvSpPr txBox="1"/>
          <p:nvPr/>
        </p:nvSpPr>
        <p:spPr>
          <a:xfrm>
            <a:off x="7443216" y="5971032"/>
            <a:ext cx="4069080" cy="182880"/>
          </a:xfrm>
          <a:prstGeom prst="rect">
            <a:avLst/>
          </a:prstGeom>
          <a:noFill/>
        </p:spPr>
        <p:txBody>
          <a:bodyPr wrap="square" anchor="t" lIns="0" rIns="0" tIns="0" bIns="0">
            <a:spAutoFit/>
          </a:bodyPr>
          <a:lstStyle/>
          <a:p>
            <a:pPr algn="l"/>
            <a:r>
              <a:rPr sz="1000" b="1" i="0">
                <a:solidFill>
                  <a:srgbClr val="E8692A"/>
                </a:solidFill>
                <a:latin typeface="Lato"/>
              </a:rPr>
              <a:t>→ Keep every hub; market connections through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4 · GATE LEASES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Gate leases rose only 2.2%, to $9.88M; expect about $10.1M for the 2026-27 lease year</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gates, costs &amp; transactions; team analysis. FY25-26 gates = $10.02M: Sep–Dec 2025 lease + Jan–Aug 2026 estimate.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14</a:t>
            </a:r>
          </a:p>
        </p:txBody>
      </p:sp>
      <p:sp>
        <p:nvSpPr>
          <p:cNvPr id="8" name="Rectangle 7"/>
          <p:cNvSpPr/>
          <p:nvPr/>
        </p:nvSpPr>
        <p:spPr>
          <a:xfrm>
            <a:off x="548640" y="1572768"/>
            <a:ext cx="3291840" cy="395935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3017520" cy="566928"/>
          </a:xfrm>
          <a:prstGeom prst="rect">
            <a:avLst/>
          </a:prstGeom>
          <a:noFill/>
        </p:spPr>
        <p:txBody>
          <a:bodyPr wrap="square" anchor="t" lIns="0" rIns="0" tIns="0" bIns="0">
            <a:spAutoFit/>
          </a:bodyPr>
          <a:lstStyle/>
          <a:p>
            <a:pPr algn="l">
              <a:spcAft>
                <a:spcPts val="200"/>
              </a:spcAft>
            </a:pPr>
            <a:r>
              <a:rPr sz="1200" b="1" i="0">
                <a:solidFill>
                  <a:srgbClr val="0B1F3A"/>
                </a:solidFill>
                <a:latin typeface="Montserrat"/>
              </a:rPr>
              <a:t>Gate lease cost by airport, $M</a:t>
            </a:r>
          </a:p>
          <a:p>
            <a:pPr algn="l"/>
            <a:r>
              <a:rPr sz="1050" b="1" i="0">
                <a:solidFill>
                  <a:srgbClr val="1F2937"/>
                </a:solidFill>
                <a:latin typeface="Lato"/>
              </a:rPr>
              <a:t>Total $9.66M → $9.88M → $10.10M est.</a:t>
            </a:r>
          </a:p>
          <a:p>
            <a:pPr algn="l"/>
            <a:r>
              <a:rPr sz="1000" b="0" i="0">
                <a:solidFill>
                  <a:srgbClr val="6B7280"/>
                </a:solidFill>
                <a:latin typeface="Lato"/>
              </a:rPr>
              <a:t>34 gates, each counted once</a:t>
            </a:r>
          </a:p>
        </p:txBody>
      </p:sp>
      <p:graphicFrame>
        <p:nvGraphicFramePr>
          <p:cNvPr id="10" name="Chart 9"/>
          <p:cNvGraphicFramePr>
            <a:graphicFrameLocks noGrp="1"/>
          </p:cNvGraphicFramePr>
          <p:nvPr/>
        </p:nvGraphicFramePr>
        <p:xfrm>
          <a:off x="594360" y="2286000"/>
          <a:ext cx="3200400" cy="3191256"/>
        </p:xfrm>
        <a:graphic>
          <a:graphicData uri="http://schemas.openxmlformats.org/drawingml/2006/chart">
            <c:chart xmlns:c="http://schemas.openxmlformats.org/drawingml/2006/chart" r:id="rId3"/>
          </a:graphicData>
        </a:graphic>
      </p:graphicFrame>
      <p:sp>
        <p:nvSpPr>
          <p:cNvPr id="11" name="Rectangle 10"/>
          <p:cNvSpPr/>
          <p:nvPr/>
        </p:nvSpPr>
        <p:spPr>
          <a:xfrm>
            <a:off x="4114800" y="1572768"/>
            <a:ext cx="3520440" cy="395935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664208"/>
            <a:ext cx="3246120" cy="566928"/>
          </a:xfrm>
          <a:prstGeom prst="rect">
            <a:avLst/>
          </a:prstGeom>
          <a:noFill/>
        </p:spPr>
        <p:txBody>
          <a:bodyPr wrap="square" anchor="t" lIns="0" rIns="0" tIns="0" bIns="0">
            <a:spAutoFit/>
          </a:bodyPr>
          <a:lstStyle/>
          <a:p>
            <a:pPr algn="l">
              <a:spcAft>
                <a:spcPts val="200"/>
              </a:spcAft>
            </a:pPr>
            <a:r>
              <a:rPr sz="1200" b="1" i="0">
                <a:solidFill>
                  <a:srgbClr val="0B1F3A"/>
                </a:solidFill>
                <a:latin typeface="Montserrat"/>
              </a:rPr>
              <a:t>Gate cost per departing flight</a:t>
            </a:r>
          </a:p>
          <a:p>
            <a:pPr algn="l"/>
            <a:r>
              <a:rPr sz="1000" b="0" i="0">
                <a:solidFill>
                  <a:srgbClr val="6B7280"/>
                </a:solidFill>
                <a:latin typeface="Lato"/>
              </a:rPr>
              <a:t>FY25-26: airport's gate cost ÷ its departures</a:t>
            </a:r>
          </a:p>
          <a:p>
            <a:pPr algn="l"/>
            <a:r>
              <a:rPr sz="1000" b="1" i="0">
                <a:solidFill>
                  <a:srgbClr val="E8692A"/>
                </a:solidFill>
                <a:latin typeface="Lato"/>
              </a:rPr>
              <a:t>Orange: </a:t>
            </a:r>
            <a:r>
              <a:rPr sz="1000" b="0" i="0">
                <a:solidFill>
                  <a:srgbClr val="6B7280"/>
                </a:solidFill>
                <a:latin typeface="Lato"/>
              </a:rPr>
              <a:t>gates with no routes assigned</a:t>
            </a:r>
          </a:p>
        </p:txBody>
      </p:sp>
      <p:graphicFrame>
        <p:nvGraphicFramePr>
          <p:cNvPr id="13" name="Chart 12"/>
          <p:cNvGraphicFramePr>
            <a:graphicFrameLocks noGrp="1"/>
          </p:cNvGraphicFramePr>
          <p:nvPr/>
        </p:nvGraphicFramePr>
        <p:xfrm>
          <a:off x="4160520" y="2231136"/>
          <a:ext cx="3429000" cy="3264408"/>
        </p:xfrm>
        <a:graphic>
          <a:graphicData uri="http://schemas.openxmlformats.org/drawingml/2006/chart">
            <c:chart xmlns:c="http://schemas.openxmlformats.org/drawingml/2006/chart" r:id="rId4"/>
          </a:graphicData>
        </a:graphic>
      </p:graphicFrame>
      <p:sp>
        <p:nvSpPr>
          <p:cNvPr id="14" name="Rectangle 13"/>
          <p:cNvSpPr/>
          <p:nvPr/>
        </p:nvSpPr>
        <p:spPr>
          <a:xfrm>
            <a:off x="7909560" y="1572768"/>
            <a:ext cx="3730752" cy="89611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19288" y="166420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1</a:t>
            </a:r>
          </a:p>
        </p:txBody>
      </p:sp>
      <p:sp>
        <p:nvSpPr>
          <p:cNvPr id="16" name="TextBox 15"/>
          <p:cNvSpPr txBox="1"/>
          <p:nvPr/>
        </p:nvSpPr>
        <p:spPr>
          <a:xfrm>
            <a:off x="8513064" y="1655064"/>
            <a:ext cx="3017520" cy="274320"/>
          </a:xfrm>
          <a:prstGeom prst="rect">
            <a:avLst/>
          </a:prstGeom>
          <a:noFill/>
        </p:spPr>
        <p:txBody>
          <a:bodyPr wrap="square" anchor="t" lIns="0" rIns="0" tIns="0" bIns="0">
            <a:spAutoFit/>
          </a:bodyPr>
          <a:lstStyle/>
          <a:p>
            <a:pPr algn="l"/>
            <a:r>
              <a:rPr sz="1200" b="1" i="0">
                <a:solidFill>
                  <a:srgbClr val="0B1F3A"/>
                </a:solidFill>
                <a:latin typeface="Montserrat"/>
              </a:rPr>
              <a:t>Leases +2.2%: not the problem</a:t>
            </a:r>
          </a:p>
        </p:txBody>
      </p:sp>
      <p:sp>
        <p:nvSpPr>
          <p:cNvPr id="17" name="TextBox 16"/>
          <p:cNvSpPr txBox="1"/>
          <p:nvPr/>
        </p:nvSpPr>
        <p:spPr>
          <a:xfrm>
            <a:off x="8513064" y="1938528"/>
            <a:ext cx="3017520" cy="475488"/>
          </a:xfrm>
          <a:prstGeom prst="rect">
            <a:avLst/>
          </a:prstGeom>
          <a:noFill/>
        </p:spPr>
        <p:txBody>
          <a:bodyPr wrap="square" anchor="t" lIns="0" rIns="0" tIns="0" bIns="0">
            <a:spAutoFit/>
          </a:bodyPr>
          <a:lstStyle/>
          <a:p>
            <a:pPr algn="l"/>
            <a:r>
              <a:rPr sz="1050" b="0" i="0">
                <a:solidFill>
                  <a:srgbClr val="1F2937"/>
                </a:solidFill>
                <a:latin typeface="Lato"/>
              </a:rPr>
              <a:t>$9.66M → $9.88M (+$0.21M) on the same 34 gates, each up 1.3–2.6%. Flight costs rose $45.4M; gates are ~4% of all cost.</a:t>
            </a:r>
          </a:p>
        </p:txBody>
      </p:sp>
      <p:sp>
        <p:nvSpPr>
          <p:cNvPr id="18" name="Rectangle 17"/>
          <p:cNvSpPr/>
          <p:nvPr/>
        </p:nvSpPr>
        <p:spPr>
          <a:xfrm>
            <a:off x="7909560" y="2578608"/>
            <a:ext cx="3730752" cy="89611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19288" y="267004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2</a:t>
            </a:r>
          </a:p>
        </p:txBody>
      </p:sp>
      <p:sp>
        <p:nvSpPr>
          <p:cNvPr id="20" name="TextBox 19"/>
          <p:cNvSpPr txBox="1"/>
          <p:nvPr/>
        </p:nvSpPr>
        <p:spPr>
          <a:xfrm>
            <a:off x="8513064" y="2660904"/>
            <a:ext cx="3017520" cy="274320"/>
          </a:xfrm>
          <a:prstGeom prst="rect">
            <a:avLst/>
          </a:prstGeom>
          <a:noFill/>
        </p:spPr>
        <p:txBody>
          <a:bodyPr wrap="square" anchor="t" lIns="0" rIns="0" tIns="0" bIns="0">
            <a:spAutoFit/>
          </a:bodyPr>
          <a:lstStyle/>
          <a:p>
            <a:pPr algn="l"/>
            <a:r>
              <a:rPr sz="1200" b="1" i="0">
                <a:solidFill>
                  <a:srgbClr val="0B1F3A"/>
                </a:solidFill>
                <a:latin typeface="Montserrat"/>
              </a:rPr>
              <a:t>2026-27: expect about $10.1M</a:t>
            </a:r>
          </a:p>
        </p:txBody>
      </p:sp>
      <p:sp>
        <p:nvSpPr>
          <p:cNvPr id="21" name="TextBox 20"/>
          <p:cNvSpPr txBox="1"/>
          <p:nvPr/>
        </p:nvSpPr>
        <p:spPr>
          <a:xfrm>
            <a:off x="8513064" y="2944368"/>
            <a:ext cx="3017520" cy="475488"/>
          </a:xfrm>
          <a:prstGeom prst="rect">
            <a:avLst/>
          </a:prstGeom>
          <a:noFill/>
        </p:spPr>
        <p:txBody>
          <a:bodyPr wrap="square" anchor="t" lIns="0" rIns="0" tIns="0" bIns="0">
            <a:spAutoFit/>
          </a:bodyPr>
          <a:lstStyle/>
          <a:p>
            <a:pPr algn="l"/>
            <a:r>
              <a:rPr sz="1050" b="0" i="0">
                <a:solidFill>
                  <a:srgbClr val="1F2937"/>
                </a:solidFill>
                <a:latin typeface="Lato"/>
              </a:rPr>
              <a:t>Method: each gate repeats its own 2025 % increase → $10.10M (+2.2%). Range $10.01M–$10.13M: every gate at the lowest or highest 2025 rise.</a:t>
            </a:r>
          </a:p>
        </p:txBody>
      </p:sp>
      <p:sp>
        <p:nvSpPr>
          <p:cNvPr id="22" name="Rectangle 21"/>
          <p:cNvSpPr/>
          <p:nvPr/>
        </p:nvSpPr>
        <p:spPr>
          <a:xfrm>
            <a:off x="7909560" y="3584448"/>
            <a:ext cx="3730752" cy="89611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19288" y="367588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3</a:t>
            </a:r>
          </a:p>
        </p:txBody>
      </p:sp>
      <p:sp>
        <p:nvSpPr>
          <p:cNvPr id="24" name="TextBox 23"/>
          <p:cNvSpPr txBox="1"/>
          <p:nvPr/>
        </p:nvSpPr>
        <p:spPr>
          <a:xfrm>
            <a:off x="8513064" y="3666744"/>
            <a:ext cx="3017520" cy="274320"/>
          </a:xfrm>
          <a:prstGeom prst="rect">
            <a:avLst/>
          </a:prstGeom>
          <a:noFill/>
        </p:spPr>
        <p:txBody>
          <a:bodyPr wrap="square" anchor="t" lIns="0" rIns="0" tIns="0" bIns="0">
            <a:spAutoFit/>
          </a:bodyPr>
          <a:lstStyle/>
          <a:p>
            <a:pPr algn="l"/>
            <a:r>
              <a:rPr sz="1200" b="1" i="0">
                <a:solidFill>
                  <a:srgbClr val="0B1F3A"/>
                </a:solidFill>
                <a:latin typeface="Montserrat"/>
              </a:rPr>
              <a:t>Whitehorse: $1,951 a departure</a:t>
            </a:r>
          </a:p>
        </p:txBody>
      </p:sp>
      <p:sp>
        <p:nvSpPr>
          <p:cNvPr id="25" name="TextBox 24"/>
          <p:cNvSpPr txBox="1"/>
          <p:nvPr/>
        </p:nvSpPr>
        <p:spPr>
          <a:xfrm>
            <a:off x="8513064" y="3950208"/>
            <a:ext cx="3017520" cy="475488"/>
          </a:xfrm>
          <a:prstGeom prst="rect">
            <a:avLst/>
          </a:prstGeom>
          <a:noFill/>
        </p:spPr>
        <p:txBody>
          <a:bodyPr wrap="square" anchor="t" lIns="0" rIns="0" tIns="0" bIns="0">
            <a:spAutoFit/>
          </a:bodyPr>
          <a:lstStyle/>
          <a:p>
            <a:pPr algn="l"/>
            <a:r>
              <a:rPr sz="1050" b="0" i="0">
                <a:solidFill>
                  <a:srgbClr val="1F2937"/>
                </a:solidFill>
                <a:latin typeface="Lato"/>
              </a:rPr>
              <a:t>3× the $637 average (hubs $593–$811): one gate for ~1.5 departures a week. The fixed price of serving the North, not a reason to cut.</a:t>
            </a:r>
          </a:p>
        </p:txBody>
      </p:sp>
      <p:sp>
        <p:nvSpPr>
          <p:cNvPr id="26" name="Rectangle 25"/>
          <p:cNvSpPr/>
          <p:nvPr/>
        </p:nvSpPr>
        <p:spPr>
          <a:xfrm>
            <a:off x="7909560" y="4590288"/>
            <a:ext cx="3730752" cy="94183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9288" y="468172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4</a:t>
            </a:r>
          </a:p>
        </p:txBody>
      </p:sp>
      <p:sp>
        <p:nvSpPr>
          <p:cNvPr id="28" name="TextBox 27"/>
          <p:cNvSpPr txBox="1"/>
          <p:nvPr/>
        </p:nvSpPr>
        <p:spPr>
          <a:xfrm>
            <a:off x="8513064" y="4672584"/>
            <a:ext cx="3017520" cy="274320"/>
          </a:xfrm>
          <a:prstGeom prst="rect">
            <a:avLst/>
          </a:prstGeom>
          <a:noFill/>
        </p:spPr>
        <p:txBody>
          <a:bodyPr wrap="square" anchor="t" lIns="0" rIns="0" tIns="0" bIns="0">
            <a:spAutoFit/>
          </a:bodyPr>
          <a:lstStyle/>
          <a:p>
            <a:pPr algn="l"/>
            <a:r>
              <a:rPr sz="1200" b="1" i="0">
                <a:solidFill>
                  <a:srgbClr val="0B1F3A"/>
                </a:solidFill>
                <a:latin typeface="Montserrat"/>
              </a:rPr>
              <a:t>Loss after gates: −$58.4M</a:t>
            </a:r>
          </a:p>
        </p:txBody>
      </p:sp>
      <p:sp>
        <p:nvSpPr>
          <p:cNvPr id="29" name="TextBox 28"/>
          <p:cNvSpPr txBox="1"/>
          <p:nvPr/>
        </p:nvSpPr>
        <p:spPr>
          <a:xfrm>
            <a:off x="8513064" y="4956048"/>
            <a:ext cx="3017520" cy="521208"/>
          </a:xfrm>
          <a:prstGeom prst="rect">
            <a:avLst/>
          </a:prstGeom>
          <a:noFill/>
        </p:spPr>
        <p:txBody>
          <a:bodyPr wrap="square" anchor="t" lIns="0" rIns="0" tIns="0" bIns="0">
            <a:spAutoFit/>
          </a:bodyPr>
          <a:lstStyle/>
          <a:p>
            <a:pPr algn="l"/>
            <a:r>
              <a:rPr sz="1050" b="0" i="0">
                <a:solidFill>
                  <a:srgbClr val="1F2937"/>
                </a:solidFill>
                <a:latin typeface="Lato"/>
              </a:rPr>
              <a:t>−$48.4M less $10.02M of FY25-26 gates. Gates stay when flights go; release the 2 unassigned gates ($0.43M/yr) in Jan 2027.</a:t>
            </a:r>
          </a:p>
        </p:txBody>
      </p:sp>
      <p:sp>
        <p:nvSpPr>
          <p:cNvPr id="30" name="Rectangle 29"/>
          <p:cNvSpPr/>
          <p:nvPr/>
        </p:nvSpPr>
        <p:spPr>
          <a:xfrm>
            <a:off x="548640" y="5641848"/>
            <a:ext cx="11091672" cy="6492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87568"/>
            <a:ext cx="10789920" cy="557784"/>
          </a:xfrm>
          <a:prstGeom prst="rect">
            <a:avLst/>
          </a:prstGeom>
          <a:noFill/>
        </p:spPr>
        <p:txBody>
          <a:bodyPr wrap="square" anchor="ctr" lIns="0" rIns="0" tIns="0" bIns="0">
            <a:spAutoFit/>
          </a:bodyPr>
          <a:lstStyle/>
          <a:p>
            <a:pPr algn="l"/>
            <a:r>
              <a:rPr sz="1050" b="1" i="0">
                <a:solidFill>
                  <a:srgbClr val="0B1F3A"/>
                </a:solidFill>
                <a:latin typeface="Lato"/>
              </a:rPr>
              <a:t>Assumptions:  </a:t>
            </a:r>
            <a:r>
              <a:rPr sz="1050" b="0" i="0">
                <a:solidFill>
                  <a:srgbClr val="1F2937"/>
                </a:solidFill>
                <a:latin typeface="Lato"/>
              </a:rPr>
              <a:t>each physical gate is counted once (the file repeats a shared gate on every route row: $17.4M row sum vs $9.66M)  ·  lease years run Jan 1–Jan 1: 2024-25 = calendar 2024, 2025-26 = 2025; 2026-27 (calendar 2026) records were lost, same 34 gates assumed  ·  case rule: each airport's gate total is split evenly across its departing flights; arrivals pay nothing  ·  “idle” = no route assigned; station managers confirm before a gate is released.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04</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NorthByte should do</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Issues, alternatives, recommendation, implementation, risks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KEY ISSUES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The loss comes from flights NorthByte added in 2025, not the network it already flew</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&amp; costs, FY24-25 vs FY25-26; team analysis. Contribution = revenue − fuel, crew, maintenance, food (before gates).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16</a:t>
            </a:r>
          </a:p>
        </p:txBody>
      </p:sp>
      <p:sp>
        <p:nvSpPr>
          <p:cNvPr id="8" name="TextBox 7"/>
          <p:cNvSpPr txBox="1"/>
          <p:nvPr/>
        </p:nvSpPr>
        <p:spPr>
          <a:xfrm>
            <a:off x="548640" y="1481328"/>
            <a:ext cx="11064240" cy="274320"/>
          </a:xfrm>
          <a:prstGeom prst="rect">
            <a:avLst/>
          </a:prstGeom>
          <a:noFill/>
        </p:spPr>
        <p:txBody>
          <a:bodyPr wrap="square" anchor="t" lIns="0" rIns="0" tIns="0" bIns="0">
            <a:spAutoFit/>
          </a:bodyPr>
          <a:lstStyle/>
          <a:p>
            <a:pPr algn="l"/>
            <a:r>
              <a:rPr sz="1400" b="0" i="0">
                <a:solidFill>
                  <a:srgbClr val="1F2937"/>
                </a:solidFill>
                <a:latin typeface="Lato"/>
              </a:rPr>
              <a:t>On record revenue ($190.0M, +5.2%), NorthByte lost </a:t>
            </a:r>
            <a:r>
              <a:rPr sz="1400" b="1" i="0">
                <a:solidFill>
                  <a:srgbClr val="0B1F3A"/>
                </a:solidFill>
                <a:latin typeface="Lato"/>
              </a:rPr>
              <a:t>−$48.4M before gates (−$58.4M after)</a:t>
            </a:r>
            <a:r>
              <a:rPr sz="1400" b="0" i="0">
                <a:solidFill>
                  <a:srgbClr val="1F2937"/>
                </a:solidFill>
                <a:latin typeface="Lato"/>
              </a:rPr>
              <a:t>, nearly 4× the year before.</a:t>
            </a:r>
          </a:p>
        </p:txBody>
      </p:sp>
      <p:sp>
        <p:nvSpPr>
          <p:cNvPr id="9" name="Rectangle 8"/>
          <p:cNvSpPr/>
          <p:nvPr/>
        </p:nvSpPr>
        <p:spPr>
          <a:xfrm>
            <a:off x="548640" y="1901952"/>
            <a:ext cx="4160520" cy="3383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93392"/>
            <a:ext cx="3840480" cy="457200"/>
          </a:xfrm>
          <a:prstGeom prst="rect">
            <a:avLst/>
          </a:prstGeom>
          <a:noFill/>
        </p:spPr>
        <p:txBody>
          <a:bodyPr wrap="square" anchor="t" lIns="0" rIns="0" tIns="0" bIns="0">
            <a:spAutoFit/>
          </a:bodyPr>
          <a:lstStyle/>
          <a:p>
            <a:pPr algn="l"/>
            <a:r>
              <a:rPr sz="1200" b="1" i="0">
                <a:solidFill>
                  <a:srgbClr val="0B1F3A"/>
                </a:solidFill>
                <a:latin typeface="Lato"/>
              </a:rPr>
              <a:t>Where FY25-26 contribution comes from</a:t>
            </a:r>
          </a:p>
          <a:p>
            <a:pPr algn="l"/>
            <a:r>
              <a:rPr sz="1000" b="0" i="0">
                <a:solidFill>
                  <a:srgbClr val="6B7280"/>
                </a:solidFill>
                <a:latin typeface="Lato"/>
              </a:rPr>
              <a:t>$M before gates, by route group</a:t>
            </a:r>
          </a:p>
        </p:txBody>
      </p:sp>
      <p:graphicFrame>
        <p:nvGraphicFramePr>
          <p:cNvPr id="11" name="Chart 10"/>
          <p:cNvGraphicFramePr>
            <a:graphicFrameLocks noGrp="1"/>
          </p:cNvGraphicFramePr>
          <p:nvPr/>
        </p:nvGraphicFramePr>
        <p:xfrm>
          <a:off x="640080" y="2487168"/>
          <a:ext cx="3977639" cy="2743200"/>
        </p:xfrm>
        <a:graphic>
          <a:graphicData uri="http://schemas.openxmlformats.org/drawingml/2006/chart">
            <c:chart xmlns:c="http://schemas.openxmlformats.org/drawingml/2006/chart" r:id="rId3"/>
          </a:graphicData>
        </a:graphic>
      </p:graphicFrame>
      <p:sp>
        <p:nvSpPr>
          <p:cNvPr id="12" name="Rectangle 11"/>
          <p:cNvSpPr/>
          <p:nvPr/>
        </p:nvSpPr>
        <p:spPr>
          <a:xfrm>
            <a:off x="4937760" y="1901952"/>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074920" y="201168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1</a:t>
            </a:r>
          </a:p>
        </p:txBody>
      </p:sp>
      <p:sp>
        <p:nvSpPr>
          <p:cNvPr id="14" name="TextBox 13"/>
          <p:cNvSpPr txBox="1"/>
          <p:nvPr/>
        </p:nvSpPr>
        <p:spPr>
          <a:xfrm>
            <a:off x="5596128" y="1975104"/>
            <a:ext cx="4297680" cy="274320"/>
          </a:xfrm>
          <a:prstGeom prst="rect">
            <a:avLst/>
          </a:prstGeom>
          <a:noFill/>
        </p:spPr>
        <p:txBody>
          <a:bodyPr wrap="square" anchor="t" lIns="0" rIns="0" tIns="0" bIns="0">
            <a:spAutoFit/>
          </a:bodyPr>
          <a:lstStyle/>
          <a:p>
            <a:pPr algn="l"/>
            <a:r>
              <a:rPr sz="1400" b="1" i="0">
                <a:solidFill>
                  <a:srgbClr val="0B1F3A"/>
                </a:solidFill>
                <a:latin typeface="Montserrat"/>
              </a:rPr>
              <a:t>Capacity outran demand</a:t>
            </a:r>
          </a:p>
        </p:txBody>
      </p:sp>
      <p:sp>
        <p:nvSpPr>
          <p:cNvPr id="15" name="TextBox 14"/>
          <p:cNvSpPr txBox="1"/>
          <p:nvPr/>
        </p:nvSpPr>
        <p:spPr>
          <a:xfrm>
            <a:off x="5596128" y="2240280"/>
            <a:ext cx="4343400" cy="502920"/>
          </a:xfrm>
          <a:prstGeom prst="rect">
            <a:avLst/>
          </a:prstGeom>
          <a:noFill/>
        </p:spPr>
        <p:txBody>
          <a:bodyPr wrap="square" anchor="t" lIns="0" rIns="0" tIns="0" bIns="0">
            <a:spAutoFit/>
          </a:bodyPr>
          <a:lstStyle/>
          <a:p>
            <a:pPr algn="l"/>
            <a:r>
              <a:rPr sz="1050" b="0" i="0">
                <a:solidFill>
                  <a:srgbClr val="1F2937"/>
                </a:solidFill>
                <a:latin typeface="Lato"/>
              </a:rPr>
              <a:t>10 trunk directions, Sep–Feb: flights +101%, revenue +3.1% (other routes +4.0%), tickets/flight −44%. Montréal–Vancouver lost money all year. New markets cover a third of cost.</a:t>
            </a:r>
          </a:p>
        </p:txBody>
      </p:sp>
      <p:sp>
        <p:nvSpPr>
          <p:cNvPr id="16" name="TextBox 15"/>
          <p:cNvSpPr txBox="1"/>
          <p:nvPr/>
        </p:nvSpPr>
        <p:spPr>
          <a:xfrm>
            <a:off x="5596128" y="2724912"/>
            <a:ext cx="5943600" cy="219456"/>
          </a:xfrm>
          <a:prstGeom prst="rect">
            <a:avLst/>
          </a:prstGeom>
          <a:noFill/>
        </p:spPr>
        <p:txBody>
          <a:bodyPr wrap="square" anchor="t" lIns="0" rIns="0" tIns="0" bIns="0">
            <a:spAutoFit/>
          </a:bodyPr>
          <a:lstStyle/>
          <a:p>
            <a:pPr algn="l"/>
            <a:r>
              <a:rPr sz="1000" b="1" i="0">
                <a:solidFill>
                  <a:srgbClr val="E8692A"/>
                </a:solidFill>
                <a:latin typeface="Lato"/>
              </a:rPr>
              <a:t>→ Fix: right-size the schedule; re-add flights only on proven demand</a:t>
            </a:r>
          </a:p>
        </p:txBody>
      </p:sp>
      <p:sp>
        <p:nvSpPr>
          <p:cNvPr id="17" name="TextBox 16"/>
          <p:cNvSpPr txBox="1"/>
          <p:nvPr/>
        </p:nvSpPr>
        <p:spPr>
          <a:xfrm>
            <a:off x="10012680" y="1975104"/>
            <a:ext cx="1536192" cy="365760"/>
          </a:xfrm>
          <a:prstGeom prst="rect">
            <a:avLst/>
          </a:prstGeom>
          <a:noFill/>
        </p:spPr>
        <p:txBody>
          <a:bodyPr wrap="square" anchor="t" lIns="0" rIns="0" tIns="0" bIns="0">
            <a:spAutoFit/>
          </a:bodyPr>
          <a:lstStyle/>
          <a:p>
            <a:pPr algn="r"/>
            <a:r>
              <a:rPr sz="1800" b="1" i="0">
                <a:solidFill>
                  <a:srgbClr val="0B1F3A"/>
                </a:solidFill>
                <a:latin typeface="Montserrat"/>
              </a:rPr>
              <a:t>−$59M</a:t>
            </a:r>
          </a:p>
        </p:txBody>
      </p:sp>
      <p:sp>
        <p:nvSpPr>
          <p:cNvPr id="18" name="TextBox 17"/>
          <p:cNvSpPr txBox="1"/>
          <p:nvPr/>
        </p:nvSpPr>
        <p:spPr>
          <a:xfrm>
            <a:off x="10012680" y="2340864"/>
            <a:ext cx="1536192" cy="329184"/>
          </a:xfrm>
          <a:prstGeom prst="rect">
            <a:avLst/>
          </a:prstGeom>
          <a:noFill/>
        </p:spPr>
        <p:txBody>
          <a:bodyPr wrap="square" anchor="t" lIns="0" rIns="0" tIns="0" bIns="0">
            <a:spAutoFit/>
          </a:bodyPr>
          <a:lstStyle/>
          <a:p>
            <a:pPr algn="r"/>
            <a:r>
              <a:rPr sz="900" b="0" i="0">
                <a:solidFill>
                  <a:srgbClr val="6B7280"/>
                </a:solidFill>
                <a:latin typeface="Lato"/>
              </a:rPr>
              <a:t>contribution of the routes involved</a:t>
            </a:r>
          </a:p>
        </p:txBody>
      </p:sp>
      <p:sp>
        <p:nvSpPr>
          <p:cNvPr id="19" name="Rectangle 18"/>
          <p:cNvSpPr/>
          <p:nvPr/>
        </p:nvSpPr>
        <p:spPr>
          <a:xfrm>
            <a:off x="4937760" y="3054096"/>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074920" y="3163824"/>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2</a:t>
            </a:r>
          </a:p>
        </p:txBody>
      </p:sp>
      <p:sp>
        <p:nvSpPr>
          <p:cNvPr id="21" name="TextBox 20"/>
          <p:cNvSpPr txBox="1"/>
          <p:nvPr/>
        </p:nvSpPr>
        <p:spPr>
          <a:xfrm>
            <a:off x="5596128" y="3127248"/>
            <a:ext cx="4297680" cy="274320"/>
          </a:xfrm>
          <a:prstGeom prst="rect">
            <a:avLst/>
          </a:prstGeom>
          <a:noFill/>
        </p:spPr>
        <p:txBody>
          <a:bodyPr wrap="square" anchor="t" lIns="0" rIns="0" tIns="0" bIns="0">
            <a:spAutoFit/>
          </a:bodyPr>
          <a:lstStyle/>
          <a:p>
            <a:pPr algn="l"/>
            <a:r>
              <a:rPr sz="1400" b="1" i="0">
                <a:solidFill>
                  <a:srgbClr val="0B1F3A"/>
                </a:solidFill>
                <a:latin typeface="Montserrat"/>
              </a:rPr>
              <a:t>Each flight earns less and costs more</a:t>
            </a:r>
          </a:p>
        </p:txBody>
      </p:sp>
      <p:sp>
        <p:nvSpPr>
          <p:cNvPr id="22" name="TextBox 21"/>
          <p:cNvSpPr txBox="1"/>
          <p:nvPr/>
        </p:nvSpPr>
        <p:spPr>
          <a:xfrm>
            <a:off x="5596128" y="3392424"/>
            <a:ext cx="4343400" cy="502920"/>
          </a:xfrm>
          <a:prstGeom prst="rect">
            <a:avLst/>
          </a:prstGeom>
          <a:noFill/>
        </p:spPr>
        <p:txBody>
          <a:bodyPr wrap="square" anchor="t" lIns="0" rIns="0" tIns="0" bIns="0">
            <a:spAutoFit/>
          </a:bodyPr>
          <a:lstStyle/>
          <a:p>
            <a:pPr algn="l"/>
            <a:r>
              <a:rPr sz="1050" b="0" i="0">
                <a:solidFill>
                  <a:srgbClr val="1F2937"/>
                </a:solidFill>
                <a:latin typeface="Lato"/>
              </a:rPr>
              <a:t>Per flight, same route &amp; month: fuel +8.7%, crew +8.5%, rising Jan–Jul 2025. Trunk fares −8% (Sep–Feb): extra seats sold only at lower fares. Refunds $6.7M → $7.8M.</a:t>
            </a:r>
          </a:p>
        </p:txBody>
      </p:sp>
      <p:sp>
        <p:nvSpPr>
          <p:cNvPr id="23" name="TextBox 22"/>
          <p:cNvSpPr txBox="1"/>
          <p:nvPr/>
        </p:nvSpPr>
        <p:spPr>
          <a:xfrm>
            <a:off x="5596128" y="3877056"/>
            <a:ext cx="5943600" cy="219456"/>
          </a:xfrm>
          <a:prstGeom prst="rect">
            <a:avLst/>
          </a:prstGeom>
          <a:noFill/>
        </p:spPr>
        <p:txBody>
          <a:bodyPr wrap="square" anchor="t" lIns="0" rIns="0" tIns="0" bIns="0">
            <a:spAutoFit/>
          </a:bodyPr>
          <a:lstStyle/>
          <a:p>
            <a:pPr algn="l"/>
            <a:r>
              <a:rPr sz="1000" b="1" i="0">
                <a:solidFill>
                  <a:srgbClr val="E8692A"/>
                </a:solidFill>
                <a:latin typeface="Lato"/>
              </a:rPr>
              <a:t>→ Fix: restore trunk fares, rebook-first for disruptions, shift OTA bookings to direct</a:t>
            </a:r>
          </a:p>
        </p:txBody>
      </p:sp>
      <p:sp>
        <p:nvSpPr>
          <p:cNvPr id="24" name="TextBox 23"/>
          <p:cNvSpPr txBox="1"/>
          <p:nvPr/>
        </p:nvSpPr>
        <p:spPr>
          <a:xfrm>
            <a:off x="10012680" y="3127248"/>
            <a:ext cx="1536192" cy="365760"/>
          </a:xfrm>
          <a:prstGeom prst="rect">
            <a:avLst/>
          </a:prstGeom>
          <a:noFill/>
        </p:spPr>
        <p:txBody>
          <a:bodyPr wrap="square" anchor="t" lIns="0" rIns="0" tIns="0" bIns="0">
            <a:spAutoFit/>
          </a:bodyPr>
          <a:lstStyle/>
          <a:p>
            <a:pPr algn="r"/>
            <a:r>
              <a:rPr sz="1800" b="1" i="0">
                <a:solidFill>
                  <a:srgbClr val="0B1F3A"/>
                </a:solidFill>
                <a:latin typeface="Montserrat"/>
              </a:rPr>
              <a:t>$15.3M</a:t>
            </a:r>
          </a:p>
        </p:txBody>
      </p:sp>
      <p:sp>
        <p:nvSpPr>
          <p:cNvPr id="25" name="TextBox 24"/>
          <p:cNvSpPr txBox="1"/>
          <p:nvPr/>
        </p:nvSpPr>
        <p:spPr>
          <a:xfrm>
            <a:off x="10012680" y="3493008"/>
            <a:ext cx="1536192" cy="329184"/>
          </a:xfrm>
          <a:prstGeom prst="rect">
            <a:avLst/>
          </a:prstGeom>
          <a:noFill/>
        </p:spPr>
        <p:txBody>
          <a:bodyPr wrap="square" anchor="t" lIns="0" rIns="0" tIns="0" bIns="0">
            <a:spAutoFit/>
          </a:bodyPr>
          <a:lstStyle/>
          <a:p>
            <a:pPr algn="r"/>
            <a:r>
              <a:rPr sz="900" b="0" i="0">
                <a:solidFill>
                  <a:srgbClr val="6B7280"/>
                </a:solidFill>
                <a:latin typeface="Lato"/>
              </a:rPr>
              <a:t>cost rise, same route &amp; month (⅓ of growth)</a:t>
            </a:r>
          </a:p>
        </p:txBody>
      </p:sp>
      <p:sp>
        <p:nvSpPr>
          <p:cNvPr id="26" name="Rectangle 25"/>
          <p:cNvSpPr/>
          <p:nvPr/>
        </p:nvSpPr>
        <p:spPr>
          <a:xfrm>
            <a:off x="4937760" y="4206240"/>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74920" y="431596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3</a:t>
            </a:r>
          </a:p>
        </p:txBody>
      </p:sp>
      <p:sp>
        <p:nvSpPr>
          <p:cNvPr id="28" name="TextBox 27"/>
          <p:cNvSpPr txBox="1"/>
          <p:nvPr/>
        </p:nvSpPr>
        <p:spPr>
          <a:xfrm>
            <a:off x="5596128" y="4279392"/>
            <a:ext cx="4297680" cy="274320"/>
          </a:xfrm>
          <a:prstGeom prst="rect">
            <a:avLst/>
          </a:prstGeom>
          <a:noFill/>
        </p:spPr>
        <p:txBody>
          <a:bodyPr wrap="square" anchor="t" lIns="0" rIns="0" tIns="0" bIns="0">
            <a:spAutoFit/>
          </a:bodyPr>
          <a:lstStyle/>
          <a:p>
            <a:pPr algn="l"/>
            <a:r>
              <a:rPr sz="1400" b="1" i="0">
                <a:solidFill>
                  <a:srgbClr val="0B1F3A"/>
                </a:solidFill>
                <a:latin typeface="Montserrat"/>
              </a:rPr>
              <a:t>Decisions without route-level numbers</a:t>
            </a:r>
          </a:p>
        </p:txBody>
      </p:sp>
      <p:sp>
        <p:nvSpPr>
          <p:cNvPr id="29" name="TextBox 28"/>
          <p:cNvSpPr txBox="1"/>
          <p:nvPr/>
        </p:nvSpPr>
        <p:spPr>
          <a:xfrm>
            <a:off x="5596128" y="4544568"/>
            <a:ext cx="4343400" cy="502920"/>
          </a:xfrm>
          <a:prstGeom prst="rect">
            <a:avLst/>
          </a:prstGeom>
          <a:noFill/>
        </p:spPr>
        <p:txBody>
          <a:bodyPr wrap="square" anchor="t" lIns="0" rIns="0" tIns="0" bIns="0">
            <a:spAutoFit/>
          </a:bodyPr>
          <a:lstStyle/>
          <a:p>
            <a:pPr algn="l"/>
            <a:r>
              <a:rPr sz="1050" b="0" i="0">
                <a:solidFill>
                  <a:srgbClr val="1F2937"/>
                </a:solidFill>
                <a:latin typeface="Lato"/>
              </a:rPr>
              <a:t>Finance “reviewed costs at the company level, by category, rather than route by route” (case). Doubled routes already earned less (5.4% vs 12.3% margin); 2026 repeated the schedule.</a:t>
            </a:r>
          </a:p>
        </p:txBody>
      </p:sp>
      <p:sp>
        <p:nvSpPr>
          <p:cNvPr id="30" name="TextBox 29"/>
          <p:cNvSpPr txBox="1"/>
          <p:nvPr/>
        </p:nvSpPr>
        <p:spPr>
          <a:xfrm>
            <a:off x="5596128" y="5029200"/>
            <a:ext cx="5943600" cy="219456"/>
          </a:xfrm>
          <a:prstGeom prst="rect">
            <a:avLst/>
          </a:prstGeom>
          <a:noFill/>
        </p:spPr>
        <p:txBody>
          <a:bodyPr wrap="square" anchor="t" lIns="0" rIns="0" tIns="0" bIns="0">
            <a:spAutoFit/>
          </a:bodyPr>
          <a:lstStyle/>
          <a:p>
            <a:pPr algn="l"/>
            <a:r>
              <a:rPr sz="1000" b="1" i="0">
                <a:solidFill>
                  <a:srgbClr val="E8692A"/>
                </a:solidFill>
                <a:latin typeface="Lato"/>
              </a:rPr>
              <a:t>→ Fix: a route-level P&amp;L with add/remove triggers</a:t>
            </a:r>
          </a:p>
        </p:txBody>
      </p:sp>
      <p:sp>
        <p:nvSpPr>
          <p:cNvPr id="31" name="TextBox 30"/>
          <p:cNvSpPr txBox="1"/>
          <p:nvPr/>
        </p:nvSpPr>
        <p:spPr>
          <a:xfrm>
            <a:off x="10012680" y="4279392"/>
            <a:ext cx="1536192" cy="365760"/>
          </a:xfrm>
          <a:prstGeom prst="rect">
            <a:avLst/>
          </a:prstGeom>
          <a:noFill/>
        </p:spPr>
        <p:txBody>
          <a:bodyPr wrap="square" anchor="t" lIns="0" rIns="0" tIns="0" bIns="0">
            <a:spAutoFit/>
          </a:bodyPr>
          <a:lstStyle/>
          <a:p>
            <a:pPr algn="r"/>
            <a:r>
              <a:rPr sz="1800" b="1" i="0">
                <a:solidFill>
                  <a:srgbClr val="0B1F3A"/>
                </a:solidFill>
                <a:latin typeface="Montserrat"/>
              </a:rPr>
              <a:t>−$4.9M/mo</a:t>
            </a:r>
          </a:p>
        </p:txBody>
      </p:sp>
      <p:sp>
        <p:nvSpPr>
          <p:cNvPr id="32" name="TextBox 31"/>
          <p:cNvSpPr txBox="1"/>
          <p:nvPr/>
        </p:nvSpPr>
        <p:spPr>
          <a:xfrm>
            <a:off x="10012680" y="4645152"/>
            <a:ext cx="1536192" cy="329184"/>
          </a:xfrm>
          <a:prstGeom prst="rect">
            <a:avLst/>
          </a:prstGeom>
          <a:noFill/>
        </p:spPr>
        <p:txBody>
          <a:bodyPr wrap="square" anchor="t" lIns="0" rIns="0" tIns="0" bIns="0">
            <a:spAutoFit/>
          </a:bodyPr>
          <a:lstStyle/>
          <a:p>
            <a:pPr algn="r"/>
            <a:r>
              <a:rPr sz="900" b="0" i="0">
                <a:solidFill>
                  <a:srgbClr val="6B7280"/>
                </a:solidFill>
                <a:latin typeface="Lato"/>
              </a:rPr>
              <a:t>lost by the 16 added directions</a:t>
            </a:r>
          </a:p>
        </p:txBody>
      </p:sp>
      <p:sp>
        <p:nvSpPr>
          <p:cNvPr id="33" name="Rectangle 32"/>
          <p:cNvSpPr/>
          <p:nvPr/>
        </p:nvSpPr>
        <p:spPr>
          <a:xfrm>
            <a:off x="548640" y="5358384"/>
            <a:ext cx="11091672" cy="4572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394960"/>
            <a:ext cx="10789920" cy="402336"/>
          </a:xfrm>
          <a:prstGeom prst="rect">
            <a:avLst/>
          </a:prstGeom>
          <a:noFill/>
        </p:spPr>
        <p:txBody>
          <a:bodyPr wrap="square" anchor="ctr" lIns="0" rIns="0" tIns="0" bIns="0">
            <a:spAutoFit/>
          </a:bodyPr>
          <a:lstStyle/>
          <a:p>
            <a:pPr algn="l"/>
            <a:r>
              <a:rPr sz="1100" b="1" i="0">
                <a:solidFill>
                  <a:srgbClr val="0B1F3A"/>
                </a:solidFill>
                <a:latin typeface="Lato"/>
              </a:rPr>
              <a:t>Why the market punished it (Porter's Five Forces): </a:t>
            </a:r>
            <a:r>
              <a:rPr sz="1100" b="0" i="0">
                <a:solidFill>
                  <a:srgbClr val="1F2937"/>
                </a:solidFill>
                <a:latin typeface="Lato"/>
              </a:rPr>
              <a:t>among strong rivals and price-sensitive buyers (case), NorthByte's extra frequency sold only at lower fares; powerful suppliers set the cost of each flight. A small carrier wins on coverage, not frequency (our inference).</a:t>
            </a:r>
          </a:p>
        </p:txBody>
      </p:sp>
      <p:sp>
        <p:nvSpPr>
          <p:cNvPr id="35" name="TextBox 34"/>
          <p:cNvSpPr txBox="1"/>
          <p:nvPr/>
        </p:nvSpPr>
        <p:spPr>
          <a:xfrm>
            <a:off x="548640" y="5925312"/>
            <a:ext cx="11091672" cy="365760"/>
          </a:xfrm>
          <a:prstGeom prst="rect">
            <a:avLst/>
          </a:prstGeom>
          <a:noFill/>
        </p:spPr>
        <p:txBody>
          <a:bodyPr wrap="square" anchor="t" lIns="0" rIns="0" tIns="0" bIns="0">
            <a:spAutoFit/>
          </a:bodyPr>
          <a:lstStyle/>
          <a:p>
            <a:pPr algn="l"/>
            <a:r>
              <a:rPr sz="1100" b="1" i="0">
                <a:solidFill>
                  <a:srgbClr val="E8692A"/>
                </a:solidFill>
                <a:latin typeface="Lato"/>
              </a:rPr>
              <a:t>Not the problem:  </a:t>
            </a:r>
            <a:r>
              <a:rPr sz="1100" b="0" i="0">
                <a:solidFill>
                  <a:srgbClr val="1F2937"/>
                </a:solidFill>
                <a:latin typeface="Lato"/>
              </a:rPr>
              <a:t>Ancillaries (2% of revenue; +10% ≈ $0.4M)  ·  Gates (+2.2%, mostly fixed)  ·  Seasonality (every season loses $11–13M).   </a:t>
            </a:r>
            <a:r>
              <a:rPr sz="1100" b="1" i="0">
                <a:solidFill>
                  <a:srgbClr val="E8692A"/>
                </a:solidFill>
                <a:latin typeface="Lato"/>
              </a:rPr>
              <a:t>Not measurable: </a:t>
            </a:r>
            <a:r>
              <a:rPr sz="1100" b="0" i="0">
                <a:solidFill>
                  <a:srgbClr val="1F2937"/>
                </a:solidFill>
                <a:latin typeface="Lato"/>
              </a:rPr>
              <a:t>Rewards program cost (not in the data; no fare premium by tier)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ALTERNATIVES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Right-Size &amp; Recover is the only option whose central case breaks even, and it keeps all 20 airports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analysis/alternatives.py, FY25-26; gates accrued by fiscal year ($10.0M); flight costs avoidable (case p.10). Range: 0–100% recapture, levers low–high.</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17</a:t>
            </a:r>
          </a:p>
        </p:txBody>
      </p:sp>
      <p:graphicFrame>
        <p:nvGraphicFramePr>
          <p:cNvPr id="8" name="Table 7"/>
          <p:cNvGraphicFramePr>
            <a:graphicFrameLocks noGrp="1"/>
          </p:cNvGraphicFramePr>
          <p:nvPr/>
        </p:nvGraphicFramePr>
        <p:xfrm>
          <a:off x="548640" y="1572768"/>
          <a:ext cx="11091672" cy="3621024"/>
        </p:xfrm>
        <a:graphic>
          <a:graphicData uri="http://schemas.openxmlformats.org/drawingml/2006/table">
            <a:tbl>
              <a:tblPr>
                <a:tableStyleId>{5C22544A-7EE6-4342-B048-85BDC9FD1C3A}</a:tableStyleId>
              </a:tblPr>
              <a:tblGrid>
                <a:gridCol w="2697480"/>
                <a:gridCol w="868680"/>
                <a:gridCol w="868680"/>
                <a:gridCol w="777240"/>
                <a:gridCol w="896112"/>
                <a:gridCol w="868680"/>
                <a:gridCol w="868680"/>
                <a:gridCol w="777240"/>
                <a:gridCol w="2468880"/>
              </a:tblGrid>
              <a:tr h="548640">
                <a:tc>
                  <a:txBody>
                    <a:bodyPr wrap="square"/>
                    <a:lstStyle/>
                    <a:p>
                      <a:pPr algn="l"/>
                      <a:r>
                        <a:rPr sz="1000" b="1">
                          <a:solidFill>
                            <a:srgbClr val="FFFFFF"/>
                          </a:solidFill>
                          <a:latin typeface="Montserrat"/>
                        </a:rPr>
                        <a:t>Alternative</a:t>
                      </a:r>
                    </a:p>
                  </a:txBody>
                  <a:tcPr marL="54864" marR="54864" marT="36576" marB="36576" anchor="ctr">
                    <a:solidFill>
                      <a:srgbClr val="0B1F3A"/>
                    </a:solidFill>
                  </a:tcPr>
                </a:tc>
                <a:tc>
                  <a:txBody>
                    <a:bodyPr wrap="square"/>
                    <a:lstStyle/>
                    <a:p>
                      <a:pPr algn="ctr"/>
                      <a:r>
                        <a:rPr sz="1000" b="1">
                          <a:solidFill>
                            <a:srgbClr val="FFFFFF"/>
                          </a:solidFill>
                          <a:latin typeface="Lato"/>
                        </a:rPr>
                        <a:t>Financial</a:t>
                      </a:r>
                    </a:p>
                    <a:p>
                      <a:pPr algn="ctr"/>
                      <a:r>
                        <a:rPr sz="900" b="0">
                          <a:solidFill>
                            <a:srgbClr val="C9D2DF"/>
                          </a:solidFill>
                          <a:latin typeface="Lato"/>
                        </a:rPr>
                        <a:t>30%</a:t>
                      </a:r>
                    </a:p>
                  </a:txBody>
                  <a:tcPr marL="54864" marR="54864" marT="36576" marB="36576" anchor="ctr">
                    <a:solidFill>
                      <a:srgbClr val="0B1F3A"/>
                    </a:solidFill>
                  </a:tcPr>
                </a:tc>
                <a:tc>
                  <a:txBody>
                    <a:bodyPr wrap="square"/>
                    <a:lstStyle/>
                    <a:p>
                      <a:pPr algn="ctr"/>
                      <a:r>
                        <a:rPr sz="1000" b="1">
                          <a:solidFill>
                            <a:srgbClr val="FFFFFF"/>
                          </a:solidFill>
                          <a:latin typeface="Lato"/>
                        </a:rPr>
                        <a:t>Evidence</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Speed</a:t>
                      </a:r>
                    </a:p>
                    <a:p>
                      <a:pPr algn="ctr"/>
                      <a:r>
                        <a:rPr sz="900" b="0">
                          <a:solidFill>
                            <a:srgbClr val="C9D2DF"/>
                          </a:solidFill>
                          <a:latin typeface="Lato"/>
                        </a:rPr>
                        <a:t>10%</a:t>
                      </a:r>
                    </a:p>
                  </a:txBody>
                  <a:tcPr marL="54864" marR="54864" marT="36576" marB="36576" anchor="ctr">
                    <a:solidFill>
                      <a:srgbClr val="0B1F3A"/>
                    </a:solidFill>
                  </a:tcPr>
                </a:tc>
                <a:tc>
                  <a:txBody>
                    <a:bodyPr wrap="square"/>
                    <a:lstStyle/>
                    <a:p>
                      <a:pPr algn="ctr"/>
                      <a:r>
                        <a:rPr sz="1000" b="1">
                          <a:solidFill>
                            <a:srgbClr val="FFFFFF"/>
                          </a:solidFill>
                          <a:latin typeface="Lato"/>
                        </a:rPr>
                        <a:t>Communities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Customers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Employees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Weighted</a:t>
                      </a:r>
                    </a:p>
                    <a:p>
                      <a:pPr algn="ctr"/>
                      <a:r>
                        <a:rPr sz="1000" b="1">
                          <a:solidFill>
                            <a:srgbClr val="FFFFFF"/>
                          </a:solidFill>
                          <a:latin typeface="Lato"/>
                        </a:rPr>
                        <a:t>score</a:t>
                      </a:r>
                    </a:p>
                  </a:txBody>
                  <a:tcPr marL="54864" marR="54864" marT="36576" marB="36576" anchor="ctr">
                    <a:solidFill>
                      <a:srgbClr val="0B1F3A"/>
                    </a:solidFill>
                  </a:tcPr>
                </a:tc>
                <a:tc>
                  <a:txBody>
                    <a:bodyPr wrap="square"/>
                    <a:lstStyle/>
                    <a:p>
                      <a:pPr algn="ctr"/>
                      <a:r>
                        <a:rPr sz="1000" b="1">
                          <a:solidFill>
                            <a:srgbClr val="FFFFFF"/>
                          </a:solidFill>
                          <a:latin typeface="Montserrat"/>
                        </a:rPr>
                        <a:t>After gates, $M</a:t>
                      </a:r>
                    </a:p>
                    <a:p>
                      <a:pPr algn="ctr"/>
                      <a:r>
                        <a:rPr sz="900" b="0">
                          <a:solidFill>
                            <a:srgbClr val="C9D2DF"/>
                          </a:solidFill>
                          <a:latin typeface="Lato"/>
                        </a:rPr>
                        <a:t>central (range)</a:t>
                      </a:r>
                    </a:p>
                  </a:txBody>
                  <a:tcPr marL="54864" marR="54864" marT="36576" marB="36576" anchor="ctr">
                    <a:solidFill>
                      <a:srgbClr val="0B1F3A"/>
                    </a:solidFill>
                  </a:tcPr>
                </a:tc>
              </a:tr>
              <a:tr h="768096">
                <a:tc>
                  <a:txBody>
                    <a:bodyPr wrap="square"/>
                    <a:lstStyle/>
                    <a:p>
                      <a:pPr algn="l"/>
                      <a:r>
                        <a:rPr sz="1200" b="1">
                          <a:solidFill>
                            <a:srgbClr val="0B1F3A"/>
                          </a:solidFill>
                          <a:latin typeface="Montserrat"/>
                        </a:rPr>
                        <a:t>Stay the Course</a:t>
                      </a:r>
                    </a:p>
                    <a:p>
                      <a:pPr algn="l"/>
                      <a:r>
                        <a:rPr sz="1000" b="0">
                          <a:solidFill>
                            <a:srgbClr val="1F2937"/>
                          </a:solidFill>
                          <a:latin typeface="Lato"/>
                        </a:rPr>
                        <a:t>Keep the 2025 schedule and absorb the loss</a:t>
                      </a:r>
                    </a:p>
                  </a:txBody>
                  <a:tcPr marL="54864" marR="54864" marT="36576" marB="36576" anchor="ctr">
                    <a:solidFill>
                      <a:srgbClr val="F3F5F8"/>
                    </a:solidFill>
                  </a:tcPr>
                </a:tc>
                <a:tc>
                  <a:txBody>
                    <a:bodyPr wrap="square"/>
                    <a:lstStyle/>
                    <a:p>
                      <a:pPr algn="ctr"/>
                      <a:r>
                        <a:rPr sz="1300" b="1">
                          <a:solidFill>
                            <a:srgbClr val="1F2937"/>
                          </a:solidFill>
                          <a:latin typeface="Lato"/>
                        </a:rPr>
                        <a:t>1.0</a:t>
                      </a:r>
                    </a:p>
                  </a:txBody>
                  <a:tcPr marL="54864" marR="54864" marT="36576" marB="36576" anchor="ctr">
                    <a:solidFill>
                      <a:srgbClr val="EEF1F5"/>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0B1F3A"/>
                          </a:solidFill>
                          <a:latin typeface="Montserrat"/>
                        </a:rPr>
                        <a:t>1.9</a:t>
                      </a:r>
                    </a:p>
                  </a:txBody>
                  <a:tcPr marL="54864" marR="54864" marT="36576" marB="36576" anchor="ctr">
                    <a:solidFill>
                      <a:srgbClr val="F3F5F8"/>
                    </a:solidFill>
                  </a:tcPr>
                </a:tc>
                <a:tc>
                  <a:txBody>
                    <a:bodyPr wrap="square"/>
                    <a:lstStyle/>
                    <a:p>
                      <a:pPr algn="l"/>
                      <a:r>
                        <a:rPr sz="1000" b="1">
                          <a:solidFill>
                            <a:srgbClr val="0B1F3A"/>
                          </a:solidFill>
                          <a:latin typeface="Lato"/>
                        </a:rPr>
                        <a:t>−58.4</a:t>
                      </a:r>
                    </a:p>
                  </a:txBody>
                  <a:tcPr marL="54864" marR="54864" marT="36576" marB="36576" anchor="t">
                    <a:solidFill>
                      <a:srgbClr val="F3F5F8"/>
                    </a:solidFill>
                  </a:tcPr>
                </a:tc>
              </a:tr>
              <a:tr h="768096">
                <a:tc>
                  <a:txBody>
                    <a:bodyPr wrap="square"/>
                    <a:lstStyle/>
                    <a:p>
                      <a:pPr algn="l"/>
                      <a:r>
                        <a:rPr sz="1200" b="1">
                          <a:solidFill>
                            <a:srgbClr val="0B1F3A"/>
                          </a:solidFill>
                          <a:latin typeface="Montserrat"/>
                        </a:rPr>
                        <a:t>Fill the Planes</a:t>
                      </a:r>
                    </a:p>
                    <a:p>
                      <a:pPr algn="l"/>
                      <a:r>
                        <a:rPr sz="1000" b="0">
                          <a:solidFill>
                            <a:srgbClr val="1F2937"/>
                          </a:solidFill>
                          <a:latin typeface="Lato"/>
                        </a:rPr>
                        <a:t>Keep every flight; grow revenue to fill the seats</a:t>
                      </a:r>
                    </a:p>
                  </a:txBody>
                  <a:tcPr marL="54864" marR="54864" marT="36576" marB="36576" anchor="ctr">
                    <a:solidFill>
                      <a:srgbClr val="FFFFFF"/>
                    </a:solidFill>
                  </a:tcPr>
                </a:tc>
                <a:tc>
                  <a:txBody>
                    <a:bodyPr wrap="square"/>
                    <a:lstStyle/>
                    <a:p>
                      <a:pPr algn="ctr"/>
                      <a:r>
                        <a:rPr sz="1300" b="1">
                          <a:solidFill>
                            <a:srgbClr val="1F2937"/>
                          </a:solidFill>
                          <a:latin typeface="Lato"/>
                        </a:rPr>
                        <a:t>1.4</a:t>
                      </a:r>
                    </a:p>
                  </a:txBody>
                  <a:tcPr marL="54864" marR="54864" marT="36576" marB="36576" anchor="ctr">
                    <a:solidFill>
                      <a:srgbClr val="EEF1F5"/>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0B1F3A"/>
                          </a:solidFill>
                          <a:latin typeface="Montserrat"/>
                        </a:rPr>
                        <a:t>2.1</a:t>
                      </a:r>
                    </a:p>
                  </a:txBody>
                  <a:tcPr marL="54864" marR="54864" marT="36576" marB="36576" anchor="ctr">
                    <a:solidFill>
                      <a:srgbClr val="FFFFFF"/>
                    </a:solidFill>
                  </a:tcPr>
                </a:tc>
                <a:tc>
                  <a:txBody>
                    <a:bodyPr wrap="square"/>
                    <a:lstStyle/>
                    <a:p>
                      <a:pPr algn="l"/>
                      <a:r>
                        <a:rPr sz="1000" b="1">
                          <a:solidFill>
                            <a:srgbClr val="0B1F3A"/>
                          </a:solidFill>
                          <a:latin typeface="Lato"/>
                        </a:rPr>
                        <a:t>−53.1  (−55.9 to −28.3)</a:t>
                      </a:r>
                    </a:p>
                  </a:txBody>
                  <a:tcPr marL="54864" marR="54864" marT="36576" marB="36576" anchor="t">
                    <a:solidFill>
                      <a:srgbClr val="FFFFFF"/>
                    </a:solidFill>
                  </a:tcPr>
                </a:tc>
              </a:tr>
              <a:tr h="768096">
                <a:tc>
                  <a:txBody>
                    <a:bodyPr wrap="square"/>
                    <a:lstStyle/>
                    <a:p>
                      <a:pPr algn="l"/>
                      <a:r>
                        <a:rPr sz="1200" b="1">
                          <a:solidFill>
                            <a:srgbClr val="0B1F3A"/>
                          </a:solidFill>
                          <a:latin typeface="Montserrat"/>
                        </a:rPr>
                        <a:t>Right-Size &amp; Recover</a:t>
                      </a:r>
                    </a:p>
                    <a:p>
                      <a:pPr algn="l"/>
                      <a:r>
                        <a:rPr sz="1000" b="0">
                          <a:solidFill>
                            <a:srgbClr val="1F2937"/>
                          </a:solidFill>
                          <a:latin typeface="Lato"/>
                        </a:rPr>
                        <a:t>Undo 2025 trunk add-ons, exit Montréal–Vancouver, halve 3 new markets, add revenue levers</a:t>
                      </a:r>
                    </a:p>
                  </a:txBody>
                  <a:tcPr marL="54864" marR="54864" marT="36576" marB="36576" anchor="ctr">
                    <a:solidFill>
                      <a:srgbClr val="FFF4EE"/>
                    </a:solidFill>
                  </a:tcPr>
                </a:tc>
                <a:tc>
                  <a:txBody>
                    <a:bodyPr wrap="square"/>
                    <a:lstStyle/>
                    <a:p>
                      <a:pPr algn="ctr"/>
                      <a:r>
                        <a:rPr sz="1300" b="1">
                          <a:solidFill>
                            <a:srgbClr val="FFFFFF"/>
                          </a:solidFill>
                          <a:latin typeface="Lato"/>
                        </a:rPr>
                        <a:t>5.0</a:t>
                      </a:r>
                    </a:p>
                  </a:txBody>
                  <a:tcPr marL="54864" marR="54864" marT="36576" marB="36576" anchor="ctr">
                    <a:solidFill>
                      <a:srgbClr val="0B1F3A"/>
                    </a:solidFill>
                  </a:tcPr>
                </a:tc>
                <a:tc>
                  <a:txBody>
                    <a:bodyPr wrap="square"/>
                    <a:lstStyle/>
                    <a:p>
                      <a:pPr algn="ctr"/>
                      <a:r>
                        <a:rPr sz="1300" b="1">
                          <a:solidFill>
                            <a:srgbClr val="FFFFFF"/>
                          </a:solidFill>
                          <a:latin typeface="Lato"/>
                        </a:rPr>
                        <a:t>5</a:t>
                      </a:r>
                    </a:p>
                  </a:txBody>
                  <a:tcPr marL="54864" marR="54864" marT="36576" marB="36576" anchor="ctr">
                    <a:solidFill>
                      <a:srgbClr val="0B1F3A"/>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E8692A"/>
                          </a:solidFill>
                          <a:latin typeface="Montserrat"/>
                        </a:rPr>
                        <a:t>4.3</a:t>
                      </a:r>
                    </a:p>
                  </a:txBody>
                  <a:tcPr marL="54864" marR="54864" marT="36576" marB="36576" anchor="ctr">
                    <a:solidFill>
                      <a:srgbClr val="FFF4EE"/>
                    </a:solidFill>
                  </a:tcPr>
                </a:tc>
                <a:tc>
                  <a:txBody>
                    <a:bodyPr wrap="square"/>
                    <a:lstStyle/>
                    <a:p>
                      <a:pPr algn="l"/>
                      <a:r>
                        <a:rPr sz="1000" b="1">
                          <a:solidFill>
                            <a:srgbClr val="0B1F3A"/>
                          </a:solidFill>
                          <a:latin typeface="Lato"/>
                        </a:rPr>
                        <a:t>+1.4  (−16.9 to +5.7)</a:t>
                      </a:r>
                    </a:p>
                  </a:txBody>
                  <a:tcPr marL="54864" marR="54864" marT="36576" marB="36576" anchor="t">
                    <a:solidFill>
                      <a:srgbClr val="FFF4EE"/>
                    </a:solidFill>
                  </a:tcPr>
                </a:tc>
              </a:tr>
              <a:tr h="768096">
                <a:tc>
                  <a:txBody>
                    <a:bodyPr wrap="square"/>
                    <a:lstStyle/>
                    <a:p>
                      <a:pPr algn="l"/>
                      <a:r>
                        <a:rPr sz="1200" b="1">
                          <a:solidFill>
                            <a:srgbClr val="0B1F3A"/>
                          </a:solidFill>
                          <a:latin typeface="Montserrat"/>
                        </a:rPr>
                        <a:t>Shrink to Core</a:t>
                      </a:r>
                    </a:p>
                    <a:p>
                      <a:pPr algn="l"/>
                      <a:r>
                        <a:rPr sz="1000" b="0">
                          <a:solidFill>
                            <a:srgbClr val="1F2937"/>
                          </a:solidFill>
                          <a:latin typeface="Lato"/>
                        </a:rPr>
                        <a:t>Exit all 22 directions that lose money in every season</a:t>
                      </a:r>
                    </a:p>
                  </a:txBody>
                  <a:tcPr marL="54864" marR="54864" marT="36576" marB="36576" anchor="ctr">
                    <a:solidFill>
                      <a:srgbClr val="FFFFFF"/>
                    </a:solidFill>
                  </a:tcPr>
                </a:tc>
                <a:tc>
                  <a:txBody>
                    <a:bodyPr wrap="square"/>
                    <a:lstStyle/>
                    <a:p>
                      <a:pPr algn="ctr"/>
                      <a:r>
                        <a:rPr sz="1300" b="1">
                          <a:solidFill>
                            <a:srgbClr val="FFFFFF"/>
                          </a:solidFill>
                          <a:latin typeface="Lato"/>
                        </a:rPr>
                        <a:t>4.8</a:t>
                      </a:r>
                    </a:p>
                  </a:txBody>
                  <a:tcPr marL="54864" marR="54864" marT="36576" marB="36576" anchor="ctr">
                    <a:solidFill>
                      <a:srgbClr val="0B1F3A"/>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600" b="1">
                          <a:solidFill>
                            <a:srgbClr val="0B1F3A"/>
                          </a:solidFill>
                          <a:latin typeface="Montserrat"/>
                        </a:rPr>
                        <a:t>2.8</a:t>
                      </a:r>
                    </a:p>
                  </a:txBody>
                  <a:tcPr marL="54864" marR="54864" marT="36576" marB="36576" anchor="ctr">
                    <a:solidFill>
                      <a:srgbClr val="FFFFFF"/>
                    </a:solidFill>
                  </a:tcPr>
                </a:tc>
                <a:tc>
                  <a:txBody>
                    <a:bodyPr wrap="square"/>
                    <a:lstStyle/>
                    <a:p>
                      <a:pPr algn="l"/>
                      <a:r>
                        <a:rPr sz="1000" b="1">
                          <a:solidFill>
                            <a:srgbClr val="0B1F3A"/>
                          </a:solidFill>
                          <a:latin typeface="Lato"/>
                        </a:rPr>
                        <a:t>−3.4</a:t>
                      </a:r>
                    </a:p>
                  </a:txBody>
                  <a:tcPr marL="54864" marR="54864" marT="36576" marB="36576" anchor="t">
                    <a:solidFill>
                      <a:srgbClr val="FFFFFF"/>
                    </a:solidFill>
                  </a:tcPr>
                </a:tc>
              </a:tr>
            </a:tbl>
          </a:graphicData>
        </a:graphic>
      </p:graphicFrame>
      <p:sp>
        <p:nvSpPr>
          <p:cNvPr id="9" name="Oval 8"/>
          <p:cNvSpPr/>
          <p:nvPr/>
        </p:nvSpPr>
        <p:spPr>
          <a:xfrm>
            <a:off x="9371537" y="2575133"/>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12404" y="3411809"/>
            <a:ext cx="798049" cy="0"/>
          </a:xfrm>
          <a:prstGeom prst="line">
            <a:avLst/>
          </a:prstGeom>
          <a:ln w="38100">
            <a:solidFill>
              <a:srgbClr val="9AAAC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524785" y="3343229"/>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0640660" y="4179905"/>
            <a:ext cx="653185" cy="0"/>
          </a:xfrm>
          <a:prstGeom prst="line">
            <a:avLst/>
          </a:prstGeom>
          <a:ln w="38100">
            <a:solidFill>
              <a:srgbClr val="9AAAC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1099775" y="4111325"/>
            <a:ext cx="137160" cy="13716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60984" y="4879421"/>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11128742" y="2167127"/>
            <a:ext cx="0" cy="3044952"/>
          </a:xfrm>
          <a:prstGeom prst="line">
            <a:avLst/>
          </a:prstGeom>
          <a:ln w="15875">
            <a:solidFill>
              <a:srgbClr val="E8692A"/>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397222" y="2167127"/>
            <a:ext cx="685800" cy="182880"/>
          </a:xfrm>
          <a:prstGeom prst="rect">
            <a:avLst/>
          </a:prstGeom>
          <a:noFill/>
        </p:spPr>
        <p:txBody>
          <a:bodyPr wrap="square" anchor="t" lIns="0" rIns="0" tIns="0" bIns="0">
            <a:spAutoFit/>
          </a:bodyPr>
          <a:lstStyle/>
          <a:p>
            <a:pPr algn="r"/>
            <a:r>
              <a:rPr sz="800" b="0" i="0">
                <a:solidFill>
                  <a:srgbClr val="E8692A"/>
                </a:solidFill>
                <a:latin typeface="Lato"/>
              </a:rPr>
              <a:t>break-even</a:t>
            </a:r>
          </a:p>
        </p:txBody>
      </p:sp>
      <p:sp>
        <p:nvSpPr>
          <p:cNvPr id="17" name="Rectangle 16"/>
          <p:cNvSpPr/>
          <p:nvPr/>
        </p:nvSpPr>
        <p:spPr>
          <a:xfrm>
            <a:off x="548640" y="3657600"/>
            <a:ext cx="11091672" cy="768096"/>
          </a:xfrm>
          <a:prstGeom prst="rect">
            <a:avLst/>
          </a:prstGeom>
          <a:noFill/>
          <a:ln w="28575">
            <a:solidFill>
              <a:srgbClr val="E869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1792" y="3557016"/>
            <a:ext cx="1115568" cy="201168"/>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800" b="1">
                <a:solidFill>
                  <a:srgbClr val="FFFFFF"/>
                </a:solidFill>
                <a:latin typeface="Montserrat"/>
              </a:rPr>
              <a:t>RECOMMENDED</a:t>
            </a:r>
          </a:p>
        </p:txBody>
      </p:sp>
      <p:sp>
        <p:nvSpPr>
          <p:cNvPr id="19" name="Rectangle 18"/>
          <p:cNvSpPr/>
          <p:nvPr/>
        </p:nvSpPr>
        <p:spPr>
          <a:xfrm>
            <a:off x="548640"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Why not Fill the Planes?</a:t>
            </a:r>
          </a:p>
          <a:p>
            <a:pPr algn="l"/>
            <a:r>
              <a:rPr sz="1050" b="0" i="0">
                <a:solidFill>
                  <a:srgbClr val="1F2937"/>
                </a:solidFill>
                <a:latin typeface="Lato"/>
              </a:rPr>
              <a:t>Break-even needs +25.5% revenue (+30.7% after gates): ~5 years at this year's +5% growth. Levers ≈ $5M central; even a $30M ceiling leaves it negative. More trunk flights did not fill.</a:t>
            </a:r>
          </a:p>
        </p:txBody>
      </p:sp>
      <p:sp>
        <p:nvSpPr>
          <p:cNvPr id="21" name="Rectangle 20"/>
          <p:cNvSpPr/>
          <p:nvPr/>
        </p:nvSpPr>
        <p:spPr>
          <a:xfrm>
            <a:off x="4306824"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Why not Shrink to Core?</a:t>
            </a:r>
          </a:p>
          <a:p>
            <a:pPr algn="l"/>
            <a:r>
              <a:rPr sz="1050" b="0" i="0">
                <a:solidFill>
                  <a:srgbClr val="1F2937"/>
                </a:solidFill>
                <a:latin typeface="Lato"/>
              </a:rPr>
              <a:t>Its −3.4 is more certain, but it drops 6 airports, $8.1M of connecting revenue and 56% of flights. Right-Size leads once ≥66% of the trunk's cut-flight revenue moves to kept flights.</a:t>
            </a:r>
          </a:p>
        </p:txBody>
      </p:sp>
      <p:sp>
        <p:nvSpPr>
          <p:cNvPr id="23" name="Rectangle 22"/>
          <p:cNvSpPr/>
          <p:nvPr/>
        </p:nvSpPr>
        <p:spPr>
          <a:xfrm>
            <a:off x="8065008"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02168"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How we scored</a:t>
            </a:r>
          </a:p>
          <a:p>
            <a:pPr algn="l"/>
            <a:r>
              <a:rPr sz="1050" b="0" i="0">
                <a:solidFill>
                  <a:srgbClr val="1F2937"/>
                </a:solidFill>
                <a:latin typeface="Lato"/>
              </a:rPr>
              <a:t>Safety First is a pass/fail screen: all pass. Financial is linear (−$58.4M = 1, break-even = 5); the rest is team judgement. Even at Right-Size's 0%-recapture low, Shrink needs ≥70% Financial weight.</a:t>
            </a:r>
          </a:p>
        </p:txBody>
      </p:sp>
    </p:spTree>
  </p:cSld>
  <p:clrMapOvr>
    <a:masterClrMapping/>
  </p:clrMapOvr>
</p:sld>
</file>

<file path=ppt/slides/slide18.xml><?xml version="1.0" encoding="utf-8"?>
<p:sld xmlns:a="http://schemas.openxmlformats.org/drawingml/2006/main" xmlns:ns2="http://schemas.microsoft.com/office/drawing/2014/main" xmlns:p="http://schemas.openxmlformats.org/presentationml/2006/main">
  <p:cSld>
    <p:spTree>
      <p:nvGrpSpPr>
        <p:cNvPr id="1" name=""/>
        <p:cNvGrpSpPr/>
        <p:nvPr/>
      </p:nvGrpSpPr>
      <p:grpSpPr>
        <a:xfrm/>
      </p:grpSpPr>
      <p:sp>
        <p:nvSpPr>
          <p:cNvPr id="41" name="">
            <a:extLst>
              <a:ext uri="{FF2B5EF4-FFF2-40B4-BE49-F238E27FC236}">
                <ns2:creationId id="{E6314256-0700-4EF3-A98F-6A6A0ED650A3}"/>
              </a:ext>
            </a:extLst>
          </p:cNvPr>
          <p:cNvSpPr>
            <a:spLocks noGrp="1"/>
          </p:cNvSpPr>
          <p:nvPr/>
        </p:nvSpPr>
        <p:spPr>
          <a:xfrm>
            <a:off x="0" y="0"/>
            <a:ext cx="12192000" cy="109728"/>
          </a:xfrm>
          <a:prstGeom prst="rect">
            <a:avLst/>
          </a:prstGeom>
          <a:solidFill>
            <a:srgbClr val="0B1F3A"/>
          </a:solidFill>
          <a:ln w="0">
            <a:noFill/>
          </a:ln>
        </p:spPr>
      </p:sp>
      <p:sp>
        <p:nvSpPr>
          <p:cNvPr id="2" name="">
            <a:extLst>
              <a:ext uri="{FF2B5EF4-FFF2-40B4-BE49-F238E27FC236}">
                <ns2:creationId id="{C3C9F755-F283-4B3A-8C5C-4C3424FE84A3}"/>
              </a:ext>
            </a:extLst>
          </p:cNvPr>
          <p:cNvSpPr>
            <a:spLocks noGrp="1"/>
          </p:cNvSpPr>
          <p:nvPr/>
        </p:nvSpPr>
        <p:spPr>
          <a:xfrm>
            <a:off x="548640" y="320040"/>
            <a:ext cx="10477500" cy="276225"/>
          </a:xfrm>
          <a:prstGeom prst="rect">
            <a:avLst/>
          </a:prstGeom>
          <a:noFill/>
          <a:ln w="0">
            <a:noFill/>
          </a:ln>
        </p:spPr>
        <p:txBody>
          <a:bodyPr wrap="square" lIns="0" tIns="0" rIns="0" bIns="0" anchor="t">
            <a:noAutofit/>
          </a:bodyPr>
          <a:lstStyle>
            <a:defPPr>
              <a:defRPr sz="1100" b="1">
                <a:solidFill>
                  <a:srgbClr val="E8692A"/>
                </a:solidFill>
                <a:latin typeface="Montserrat"/>
                <a:ea typeface="Montserrat"/>
                <a:cs typeface="Montserrat"/>
              </a:defRPr>
            </a:defPPr>
          </a:lstStyle>
          <a:p>
            <a:pPr>
              <a:defRPr sz="1100" b="1">
                <a:solidFill>
                  <a:srgbClr val="E8692A"/>
                </a:solidFill>
                <a:latin typeface="Montserrat"/>
                <a:ea typeface="Montserrat"/>
                <a:cs typeface="Montserrat"/>
              </a:defRPr>
            </a:pPr>
            <a:r>
              <a:rPr sz="1100" b="1">
                <a:solidFill>
                  <a:srgbClr val="E8692A"/>
                </a:solidFill>
                <a:latin typeface="Montserrat"/>
                <a:ea typeface="Montserrat"/>
                <a:cs typeface="Montserrat"/>
              </a:rPr>
              <a:t>RECOMMENDATION</a:t>
            </a:r>
          </a:p>
        </p:txBody>
      </p:sp>
      <p:sp>
        <p:nvSpPr>
          <p:cNvPr id="3" name="">
            <a:extLst>
              <a:ext uri="{FF2B5EF4-FFF2-40B4-BE49-F238E27FC236}">
                <ns2:creationId id="{406967C1-7ACC-4F2F-989F-D98BA9F93D0D}"/>
              </a:ext>
            </a:extLst>
          </p:cNvPr>
          <p:cNvSpPr>
            <a:spLocks noGrp="1"/>
          </p:cNvSpPr>
          <p:nvPr/>
        </p:nvSpPr>
        <p:spPr>
          <a:xfrm>
            <a:off x="548640" y="619125"/>
            <a:ext cx="11087100" cy="762000"/>
          </a:xfrm>
          <a:prstGeom prst="rect">
            <a:avLst/>
          </a:prstGeom>
          <a:noFill/>
          <a:ln w="0">
            <a:noFill/>
          </a:ln>
        </p:spPr>
        <p:txBody>
          <a:bodyPr wrap="square" lIns="0" tIns="0" rIns="0" bIns="0" anchor="t">
            <a:noAutofit/>
          </a:bodyPr>
          <a:lstStyle>
            <a:defPPr>
              <a:defRPr sz="2400" b="1">
                <a:solidFill>
                  <a:srgbClr val="0B1F3A"/>
                </a:solidFill>
                <a:latin typeface="Montserrat"/>
                <a:ea typeface="Montserrat"/>
                <a:cs typeface="Montserrat"/>
              </a:defRPr>
            </a:defPPr>
          </a:lstStyle>
          <a:p>
            <a:pPr>
              <a:defRPr sz="2400" b="1">
                <a:solidFill>
                  <a:srgbClr val="0B1F3A"/>
                </a:solidFill>
                <a:latin typeface="Montserrat"/>
                <a:ea typeface="Montserrat"/>
                <a:cs typeface="Montserrat"/>
              </a:defRPr>
            </a:pPr>
            <a:r>
              <a:rPr sz="2400" b="1">
                <a:solidFill>
                  <a:srgbClr val="0B1F3A"/>
                </a:solidFill>
                <a:latin typeface="Montserrat"/>
                <a:ea typeface="Montserrat"/>
                <a:cs typeface="Montserrat"/>
              </a:rPr>
              <a:t>Right-Size &amp; Recover targets break-even with a smaller schedule</a:t>
            </a:r>
          </a:p>
        </p:txBody>
      </p:sp>
      <p:sp>
        <p:nvSpPr>
          <p:cNvPr id="4" name="">
            <a:extLst>
              <a:ext uri="{FF2B5EF4-FFF2-40B4-BE49-F238E27FC236}">
                <ns2:creationId id="{3DD13E99-E09A-47E1-93BF-27D935337216}"/>
              </a:ext>
            </a:extLst>
          </p:cNvPr>
          <p:cNvSpPr>
            <a:spLocks noGrp="1"/>
          </p:cNvSpPr>
          <p:nvPr/>
        </p:nvSpPr>
        <p:spPr>
          <a:xfrm>
            <a:off x="548640" y="6400800"/>
            <a:ext cx="11087100" cy="9525"/>
          </a:xfrm>
          <a:prstGeom prst="rect">
            <a:avLst/>
          </a:prstGeom>
          <a:solidFill>
            <a:srgbClr val="D1D5DB"/>
          </a:solidFill>
          <a:ln w="0">
            <a:noFill/>
          </a:ln>
        </p:spPr>
      </p:sp>
      <p:sp>
        <p:nvSpPr>
          <p:cNvPr id="5" name="">
            <a:extLst>
              <a:ext uri="{FF2B5EF4-FFF2-40B4-BE49-F238E27FC236}">
                <ns2:creationId id="{1F65BB4F-17A7-4D45-BBE8-05503AD2DB0E}"/>
              </a:ext>
            </a:extLst>
          </p:cNvPr>
          <p:cNvSpPr>
            <a:spLocks noGrp="1"/>
          </p:cNvSpPr>
          <p:nvPr/>
        </p:nvSpPr>
        <p:spPr>
          <a:xfrm>
            <a:off x="548640" y="6467475"/>
            <a:ext cx="10477500" cy="285750"/>
          </a:xfrm>
          <a:prstGeom prst="rect">
            <a:avLst/>
          </a:prstGeom>
          <a:noFill/>
          <a:ln w="0">
            <a:noFill/>
          </a:ln>
        </p:spPr>
        <p:txBody>
          <a:bodyPr wrap="square" lIns="0" tIns="0" rIns="0" bIns="0" anchor="t">
            <a:noAutofit/>
          </a:bodyPr>
          <a:lstStyle>
            <a:defPPr>
              <a:defRPr sz="825" b="0">
                <a:solidFill>
                  <a:srgbClr val="6B7280"/>
                </a:solidFill>
                <a:latin typeface="Lato"/>
                <a:ea typeface="Lato"/>
                <a:cs typeface="Lato"/>
              </a:defRPr>
            </a:defPPr>
          </a:lstStyle>
          <a:p>
            <a:pPr>
              <a:defRPr sz="825" b="0">
                <a:solidFill>
                  <a:srgbClr val="6B7280"/>
                </a:solidFill>
                <a:latin typeface="Lato"/>
                <a:ea typeface="Lato"/>
                <a:cs typeface="Lato"/>
              </a:defRPr>
            </a:pPr>
            <a:r>
              <a:rPr sz="825" b="0">
                <a:solidFill>
                  <a:srgbClr val="6B7280"/>
                </a:solidFill>
                <a:latin typeface="Lato"/>
                <a:ea typeface="Lato"/>
                <a:cs typeface="Lato"/>
              </a:rPr>
              <a:t>Source: team alternatives model, FY25–26 basis. Scenario contribution after gates excludes aircraft ownership and overhead.</a:t>
            </a:r>
          </a:p>
        </p:txBody>
      </p:sp>
      <p:sp>
        <p:nvSpPr>
          <p:cNvPr id="6" name="">
            <a:extLst>
              <a:ext uri="{FF2B5EF4-FFF2-40B4-BE49-F238E27FC236}">
                <ns2:creationId id="{23092FF5-7480-4C8A-B786-D9A5C39C3D64}"/>
              </a:ext>
            </a:extLst>
          </p:cNvPr>
          <p:cNvSpPr>
            <a:spLocks noGrp="1"/>
          </p:cNvSpPr>
          <p:nvPr/>
        </p:nvSpPr>
        <p:spPr>
          <a:xfrm>
            <a:off x="11191875" y="6467475"/>
            <a:ext cx="428625" cy="228600"/>
          </a:xfrm>
          <a:prstGeom prst="rect">
            <a:avLst/>
          </a:prstGeom>
          <a:noFill/>
          <a:ln w="0">
            <a:noFill/>
          </a:ln>
        </p:spPr>
        <p:txBody>
          <a:bodyPr wrap="square" lIns="0" tIns="0" rIns="0" bIns="0" anchor="t">
            <a:noAutofit/>
          </a:bodyPr>
          <a:lstStyle>
            <a:defPPr>
              <a:defRPr sz="900" b="0">
                <a:solidFill>
                  <a:srgbClr val="6B7280"/>
                </a:solidFill>
                <a:latin typeface="Lato"/>
                <a:ea typeface="Lato"/>
                <a:cs typeface="Lato"/>
              </a:defRPr>
            </a:defPPr>
          </a:lstStyle>
          <a:p>
            <a:pPr>
              <a:defRPr sz="900" b="0">
                <a:solidFill>
                  <a:srgbClr val="6B7280"/>
                </a:solidFill>
                <a:latin typeface="Lato"/>
                <a:ea typeface="Lato"/>
                <a:cs typeface="Lato"/>
              </a:defRPr>
            </a:pPr>
            <a:r>
              <a:rPr sz="900" b="0">
                <a:solidFill>
                  <a:srgbClr val="6B7280"/>
                </a:solidFill>
                <a:latin typeface="Lato"/>
                <a:ea typeface="Lato"/>
                <a:cs typeface="Lato"/>
              </a:rPr>
              <a:t>18</a:t>
            </a:r>
          </a:p>
        </p:txBody>
      </p:sp>
      <p:sp>
        <p:nvSpPr>
          <p:cNvPr id="7" name="">
            <a:extLst>
              <a:ext uri="{FF2B5EF4-FFF2-40B4-BE49-F238E27FC236}">
                <ns2:creationId id="{C0592E66-C70F-4F0F-B19F-C1CE71F0B010}"/>
              </a:ext>
            </a:extLst>
          </p:cNvPr>
          <p:cNvSpPr>
            <a:spLocks noGrp="1"/>
          </p:cNvSpPr>
          <p:nvPr/>
        </p:nvSpPr>
        <p:spPr>
          <a:xfrm>
            <a:off x="552450" y="1524000"/>
            <a:ext cx="438150" cy="361950"/>
          </a:xfrm>
          <a:prstGeom prst="rect">
            <a:avLst/>
          </a:prstGeom>
          <a:noFill/>
          <a:ln w="0">
            <a:noFill/>
          </a:ln>
        </p:spPr>
        <p:txBody>
          <a:bodyPr wrap="square" lIns="0" tIns="0" rIns="0" bIns="0" anchor="t">
            <a:noAutofit/>
          </a:bodyPr>
          <a:lstStyle>
            <a:defPPr>
              <a:defRPr sz="1950" b="1">
                <a:solidFill>
                  <a:srgbClr val="E8692A"/>
                </a:solidFill>
                <a:latin typeface="Montserrat"/>
                <a:ea typeface="Montserrat"/>
                <a:cs typeface="Montserrat"/>
              </a:defRPr>
            </a:defPPr>
          </a:lstStyle>
          <a:p>
            <a:pPr>
              <a:defRPr sz="1950" b="1">
                <a:solidFill>
                  <a:srgbClr val="E8692A"/>
                </a:solidFill>
                <a:latin typeface="Montserrat"/>
                <a:ea typeface="Montserrat"/>
                <a:cs typeface="Montserrat"/>
              </a:defRPr>
            </a:pPr>
            <a:r>
              <a:rPr sz="1950" b="1">
                <a:solidFill>
                  <a:srgbClr val="E8692A"/>
                </a:solidFill>
                <a:latin typeface="Montserrat"/>
                <a:ea typeface="Montserrat"/>
                <a:cs typeface="Montserrat"/>
              </a:rPr>
              <a:t>01</a:t>
            </a:r>
          </a:p>
        </p:txBody>
      </p:sp>
      <p:sp>
        <p:nvSpPr>
          <p:cNvPr id="8" name="">
            <a:extLst>
              <a:ext uri="{FF2B5EF4-FFF2-40B4-BE49-F238E27FC236}">
                <ns2:creationId id="{8411609A-0310-4DA7-A1F8-905492F33AF6}"/>
              </a:ext>
            </a:extLst>
          </p:cNvPr>
          <p:cNvSpPr>
            <a:spLocks noGrp="1"/>
          </p:cNvSpPr>
          <p:nvPr/>
        </p:nvSpPr>
        <p:spPr>
          <a:xfrm>
            <a:off x="1028700" y="1543050"/>
            <a:ext cx="3048000" cy="333375"/>
          </a:xfrm>
          <a:prstGeom prst="rect">
            <a:avLst/>
          </a:prstGeom>
          <a:noFill/>
          <a:ln w="0">
            <a:noFill/>
          </a:ln>
        </p:spPr>
        <p:txBody>
          <a:bodyPr wrap="square" lIns="0" tIns="0" rIns="0" bIns="0" anchor="t">
            <a:noAutofit/>
          </a:bodyPr>
          <a:lstStyle>
            <a:defPPr>
              <a:defRPr sz="1575" b="1">
                <a:solidFill>
                  <a:srgbClr val="0B1F3A"/>
                </a:solidFill>
                <a:latin typeface="Montserrat"/>
                <a:ea typeface="Montserrat"/>
                <a:cs typeface="Montserrat"/>
              </a:defRPr>
            </a:defPPr>
          </a:lstStyle>
          <a:p>
            <a:pPr>
              <a:defRPr sz="1575" b="1">
                <a:solidFill>
                  <a:srgbClr val="0B1F3A"/>
                </a:solidFill>
                <a:latin typeface="Montserrat"/>
                <a:ea typeface="Montserrat"/>
                <a:cs typeface="Montserrat"/>
              </a:defRPr>
            </a:pPr>
            <a:r>
              <a:rPr sz="1575" b="1">
                <a:solidFill>
                  <a:srgbClr val="0B1F3A"/>
                </a:solidFill>
                <a:latin typeface="Montserrat"/>
                <a:ea typeface="Montserrat"/>
                <a:cs typeface="Montserrat"/>
              </a:rPr>
              <a:t>Right-size capacity</a:t>
            </a:r>
          </a:p>
        </p:txBody>
      </p:sp>
      <p:sp>
        <p:nvSpPr>
          <p:cNvPr id="9" name="">
            <a:extLst>
              <a:ext uri="{FF2B5EF4-FFF2-40B4-BE49-F238E27FC236}">
                <ns2:creationId id="{4A67D475-D046-47B4-92CE-3ABABD439E80}"/>
              </a:ext>
            </a:extLst>
          </p:cNvPr>
          <p:cNvSpPr>
            <a:spLocks noGrp="1"/>
          </p:cNvSpPr>
          <p:nvPr/>
        </p:nvSpPr>
        <p:spPr>
          <a:xfrm>
            <a:off x="552450" y="1933575"/>
            <a:ext cx="3333750" cy="400050"/>
          </a:xfrm>
          <a:prstGeom prst="rect">
            <a:avLst/>
          </a:prstGeom>
          <a:noFill/>
          <a:ln w="0">
            <a:noFill/>
          </a:ln>
        </p:spPr>
        <p:txBody>
          <a:bodyPr wrap="square" lIns="0" tIns="0" rIns="0" bIns="0" anchor="t">
            <a:noAutofit/>
          </a:bodyPr>
          <a:lstStyle>
            <a:defPPr>
              <a:defRPr sz="2250" b="1">
                <a:solidFill>
                  <a:srgbClr val="2E7D5B"/>
                </a:solidFill>
                <a:latin typeface="Montserrat"/>
                <a:ea typeface="Montserrat"/>
                <a:cs typeface="Montserrat"/>
              </a:defRPr>
            </a:defPPr>
          </a:lstStyle>
          <a:p>
            <a:pPr>
              <a:defRPr sz="2250" b="1">
                <a:solidFill>
                  <a:srgbClr val="2E7D5B"/>
                </a:solidFill>
                <a:latin typeface="Montserrat"/>
                <a:ea typeface="Montserrat"/>
                <a:cs typeface="Montserrat"/>
              </a:defRPr>
            </a:pPr>
            <a:r>
              <a:rPr sz="2250" b="1">
                <a:solidFill>
                  <a:srgbClr val="2E7D5B"/>
                </a:solidFill>
                <a:latin typeface="Montserrat"/>
                <a:ea typeface="Montserrat"/>
                <a:cs typeface="Montserrat"/>
              </a:rPr>
              <a:t>+$54.6M</a:t>
            </a:r>
          </a:p>
        </p:txBody>
      </p:sp>
      <p:sp>
        <p:nvSpPr>
          <p:cNvPr id="10" name="">
            <a:extLst>
              <a:ext uri="{FF2B5EF4-FFF2-40B4-BE49-F238E27FC236}">
                <ns2:creationId id="{4815C7CE-1E6B-4956-81A3-35343CBD3C09}"/>
              </a:ext>
            </a:extLst>
          </p:cNvPr>
          <p:cNvSpPr>
            <a:spLocks noGrp="1"/>
          </p:cNvSpPr>
          <p:nvPr/>
        </p:nvSpPr>
        <p:spPr>
          <a:xfrm>
            <a:off x="552450" y="2419350"/>
            <a:ext cx="3333750" cy="952500"/>
          </a:xfrm>
          <a:prstGeom prst="rect">
            <a:avLst/>
          </a:prstGeom>
          <a:noFill/>
          <a:ln w="0">
            <a:noFill/>
          </a:ln>
        </p:spPr>
        <p:txBody>
          <a:bodyPr wrap="square" lIns="0" tIns="0" rIns="0" bIns="0" anchor="t">
            <a:noAutofit/>
          </a:bodyPr>
          <a:lstStyle>
            <a:defPPr>
              <a:defRPr sz="1275" b="0">
                <a:solidFill>
                  <a:srgbClr val="1F2937"/>
                </a:solidFill>
                <a:latin typeface="Lato"/>
                <a:ea typeface="Lato"/>
                <a:cs typeface="Lato"/>
              </a:defRPr>
            </a:defPPr>
          </a:lstStyle>
          <a:p>
            <a:pPr>
              <a:defRPr sz="1275" b="0">
                <a:solidFill>
                  <a:srgbClr val="1F2937"/>
                </a:solidFill>
                <a:latin typeface="Lato"/>
                <a:ea typeface="Lato"/>
                <a:cs typeface="Lato"/>
              </a:defRPr>
            </a:pPr>
            <a:r>
              <a:rPr sz="1275" b="0">
                <a:solidFill>
                  <a:srgbClr val="1F2937"/>
                </a:solidFill>
                <a:latin typeface="Lato"/>
                <a:ea typeface="Lato"/>
                <a:cs typeface="Lato"/>
              </a:rPr>
              <a:t>Remove added trunk rotations (+$28.5M). Exit Montréal–Vancouver (+$19.7M). Halve new-market flights for a six-month trial (+$6.4M).</a:t>
            </a:r>
          </a:p>
        </p:txBody>
      </p:sp>
      <p:sp>
        <p:nvSpPr>
          <p:cNvPr id="11" name="">
            <a:extLst>
              <a:ext uri="{FF2B5EF4-FFF2-40B4-BE49-F238E27FC236}">
                <ns2:creationId id="{97D1E790-858F-4ED0-9F63-40066C29BFF4}"/>
              </a:ext>
            </a:extLst>
          </p:cNvPr>
          <p:cNvSpPr>
            <a:spLocks noGrp="1"/>
          </p:cNvSpPr>
          <p:nvPr/>
        </p:nvSpPr>
        <p:spPr>
          <a:xfrm>
            <a:off x="4381500" y="1524000"/>
            <a:ext cx="438150" cy="361950"/>
          </a:xfrm>
          <a:prstGeom prst="rect">
            <a:avLst/>
          </a:prstGeom>
          <a:noFill/>
          <a:ln w="0">
            <a:noFill/>
          </a:ln>
        </p:spPr>
        <p:txBody>
          <a:bodyPr wrap="square" lIns="0" tIns="0" rIns="0" bIns="0" anchor="t">
            <a:noAutofit/>
          </a:bodyPr>
          <a:lstStyle>
            <a:defPPr>
              <a:defRPr sz="1950" b="1">
                <a:solidFill>
                  <a:srgbClr val="E8692A"/>
                </a:solidFill>
                <a:latin typeface="Montserrat"/>
                <a:ea typeface="Montserrat"/>
                <a:cs typeface="Montserrat"/>
              </a:defRPr>
            </a:defPPr>
          </a:lstStyle>
          <a:p>
            <a:pPr>
              <a:defRPr sz="1950" b="1">
                <a:solidFill>
                  <a:srgbClr val="E8692A"/>
                </a:solidFill>
                <a:latin typeface="Montserrat"/>
                <a:ea typeface="Montserrat"/>
                <a:cs typeface="Montserrat"/>
              </a:defRPr>
            </a:pPr>
            <a:r>
              <a:rPr sz="1950" b="1">
                <a:solidFill>
                  <a:srgbClr val="E8692A"/>
                </a:solidFill>
                <a:latin typeface="Montserrat"/>
                <a:ea typeface="Montserrat"/>
                <a:cs typeface="Montserrat"/>
              </a:rPr>
              <a:t>02</a:t>
            </a:r>
          </a:p>
        </p:txBody>
      </p:sp>
      <p:sp>
        <p:nvSpPr>
          <p:cNvPr id="12" name="">
            <a:extLst>
              <a:ext uri="{FF2B5EF4-FFF2-40B4-BE49-F238E27FC236}">
                <ns2:creationId id="{B85C4D52-2C96-4707-8D23-46B43B443123}"/>
              </a:ext>
            </a:extLst>
          </p:cNvPr>
          <p:cNvSpPr>
            <a:spLocks noGrp="1"/>
          </p:cNvSpPr>
          <p:nvPr/>
        </p:nvSpPr>
        <p:spPr>
          <a:xfrm>
            <a:off x="4857750" y="1543050"/>
            <a:ext cx="3048000" cy="333375"/>
          </a:xfrm>
          <a:prstGeom prst="rect">
            <a:avLst/>
          </a:prstGeom>
          <a:noFill/>
          <a:ln w="0">
            <a:noFill/>
          </a:ln>
        </p:spPr>
        <p:txBody>
          <a:bodyPr wrap="square" lIns="0" tIns="0" rIns="0" bIns="0" anchor="t">
            <a:noAutofit/>
          </a:bodyPr>
          <a:lstStyle>
            <a:defPPr>
              <a:defRPr sz="1575" b="1">
                <a:solidFill>
                  <a:srgbClr val="0B1F3A"/>
                </a:solidFill>
                <a:latin typeface="Montserrat"/>
                <a:ea typeface="Montserrat"/>
                <a:cs typeface="Montserrat"/>
              </a:defRPr>
            </a:defPPr>
          </a:lstStyle>
          <a:p>
            <a:pPr>
              <a:defRPr sz="1575" b="1">
                <a:solidFill>
                  <a:srgbClr val="0B1F3A"/>
                </a:solidFill>
                <a:latin typeface="Montserrat"/>
                <a:ea typeface="Montserrat"/>
                <a:cs typeface="Montserrat"/>
              </a:defRPr>
            </a:pPr>
            <a:r>
              <a:rPr sz="1575" b="1">
                <a:solidFill>
                  <a:srgbClr val="0B1F3A"/>
                </a:solidFill>
                <a:latin typeface="Montserrat"/>
                <a:ea typeface="Montserrat"/>
                <a:cs typeface="Montserrat"/>
              </a:rPr>
              <a:t>Recover revenue</a:t>
            </a:r>
          </a:p>
        </p:txBody>
      </p:sp>
      <p:sp>
        <p:nvSpPr>
          <p:cNvPr id="13" name="">
            <a:extLst>
              <a:ext uri="{FF2B5EF4-FFF2-40B4-BE49-F238E27FC236}">
                <ns2:creationId id="{1359668E-6524-4179-A052-9DB554FCB445}"/>
              </a:ext>
            </a:extLst>
          </p:cNvPr>
          <p:cNvSpPr>
            <a:spLocks noGrp="1"/>
          </p:cNvSpPr>
          <p:nvPr/>
        </p:nvSpPr>
        <p:spPr>
          <a:xfrm>
            <a:off x="4381500" y="1933575"/>
            <a:ext cx="3333750" cy="400050"/>
          </a:xfrm>
          <a:prstGeom prst="rect">
            <a:avLst/>
          </a:prstGeom>
          <a:noFill/>
          <a:ln w="0">
            <a:noFill/>
          </a:ln>
        </p:spPr>
        <p:txBody>
          <a:bodyPr wrap="square" lIns="0" tIns="0" rIns="0" bIns="0" anchor="t">
            <a:noAutofit/>
          </a:bodyPr>
          <a:lstStyle>
            <a:defPPr>
              <a:defRPr sz="2250" b="1">
                <a:solidFill>
                  <a:srgbClr val="2E7D5B"/>
                </a:solidFill>
                <a:latin typeface="Montserrat"/>
                <a:ea typeface="Montserrat"/>
                <a:cs typeface="Montserrat"/>
              </a:defRPr>
            </a:defPPr>
          </a:lstStyle>
          <a:p>
            <a:pPr>
              <a:defRPr sz="2250" b="1">
                <a:solidFill>
                  <a:srgbClr val="2E7D5B"/>
                </a:solidFill>
                <a:latin typeface="Montserrat"/>
                <a:ea typeface="Montserrat"/>
                <a:cs typeface="Montserrat"/>
              </a:defRPr>
            </a:pPr>
            <a:r>
              <a:rPr sz="2250" b="1">
                <a:solidFill>
                  <a:srgbClr val="2E7D5B"/>
                </a:solidFill>
                <a:latin typeface="Montserrat"/>
                <a:ea typeface="Montserrat"/>
                <a:cs typeface="Montserrat"/>
              </a:rPr>
              <a:t>+$5.2M</a:t>
            </a:r>
          </a:p>
        </p:txBody>
      </p:sp>
      <p:sp>
        <p:nvSpPr>
          <p:cNvPr id="14" name="">
            <a:extLst>
              <a:ext uri="{FF2B5EF4-FFF2-40B4-BE49-F238E27FC236}">
                <ns2:creationId id="{8BB634BA-A322-44A5-AA56-A92C9437CDA9}"/>
              </a:ext>
            </a:extLst>
          </p:cNvPr>
          <p:cNvSpPr>
            <a:spLocks noGrp="1"/>
          </p:cNvSpPr>
          <p:nvPr/>
        </p:nvSpPr>
        <p:spPr>
          <a:xfrm>
            <a:off x="4381500" y="2419350"/>
            <a:ext cx="3333750" cy="952500"/>
          </a:xfrm>
          <a:prstGeom prst="rect">
            <a:avLst/>
          </a:prstGeom>
          <a:noFill/>
          <a:ln w="0">
            <a:noFill/>
          </a:ln>
        </p:spPr>
        <p:txBody>
          <a:bodyPr wrap="square" lIns="0" tIns="0" rIns="0" bIns="0" anchor="t">
            <a:noAutofit/>
          </a:bodyPr>
          <a:lstStyle>
            <a:defPPr>
              <a:defRPr sz="1275" b="0">
                <a:solidFill>
                  <a:srgbClr val="1F2937"/>
                </a:solidFill>
                <a:latin typeface="Lato"/>
                <a:ea typeface="Lato"/>
                <a:cs typeface="Lato"/>
              </a:defRPr>
            </a:defPPr>
          </a:lstStyle>
          <a:p>
            <a:pPr>
              <a:defRPr sz="1275" b="0">
                <a:solidFill>
                  <a:srgbClr val="1F2937"/>
                </a:solidFill>
                <a:latin typeface="Lato"/>
                <a:ea typeface="Lato"/>
                <a:cs typeface="Lato"/>
              </a:defRPr>
            </a:pPr>
            <a:r>
              <a:rPr sz="1275" b="0">
                <a:solidFill>
                  <a:srgbClr val="1F2937"/>
                </a:solidFill>
                <a:latin typeface="Lato"/>
                <a:ea typeface="Lato"/>
                <a:cs typeface="Lato"/>
              </a:rPr>
              <a:t>Test fares and direct booking offers. Offer voluntary rebooking during disruptions and promote hub connections.</a:t>
            </a:r>
          </a:p>
        </p:txBody>
      </p:sp>
      <p:sp>
        <p:nvSpPr>
          <p:cNvPr id="15" name="">
            <a:extLst>
              <a:ext uri="{FF2B5EF4-FFF2-40B4-BE49-F238E27FC236}">
                <ns2:creationId id="{B3B01848-9685-41E1-8C6E-62D850B5B0E4}"/>
              </a:ext>
            </a:extLst>
          </p:cNvPr>
          <p:cNvSpPr>
            <a:spLocks noGrp="1"/>
          </p:cNvSpPr>
          <p:nvPr/>
        </p:nvSpPr>
        <p:spPr>
          <a:xfrm>
            <a:off x="8210550" y="1524000"/>
            <a:ext cx="438150" cy="361950"/>
          </a:xfrm>
          <a:prstGeom prst="rect">
            <a:avLst/>
          </a:prstGeom>
          <a:noFill/>
          <a:ln w="0">
            <a:noFill/>
          </a:ln>
        </p:spPr>
        <p:txBody>
          <a:bodyPr wrap="square" lIns="0" tIns="0" rIns="0" bIns="0" anchor="t">
            <a:noAutofit/>
          </a:bodyPr>
          <a:lstStyle>
            <a:defPPr>
              <a:defRPr sz="1950" b="1">
                <a:solidFill>
                  <a:srgbClr val="E8692A"/>
                </a:solidFill>
                <a:latin typeface="Montserrat"/>
                <a:ea typeface="Montserrat"/>
                <a:cs typeface="Montserrat"/>
              </a:defRPr>
            </a:defPPr>
          </a:lstStyle>
          <a:p>
            <a:pPr>
              <a:defRPr sz="1950" b="1">
                <a:solidFill>
                  <a:srgbClr val="E8692A"/>
                </a:solidFill>
                <a:latin typeface="Montserrat"/>
                <a:ea typeface="Montserrat"/>
                <a:cs typeface="Montserrat"/>
              </a:defRPr>
            </a:pPr>
            <a:r>
              <a:rPr sz="1950" b="1">
                <a:solidFill>
                  <a:srgbClr val="E8692A"/>
                </a:solidFill>
                <a:latin typeface="Montserrat"/>
                <a:ea typeface="Montserrat"/>
                <a:cs typeface="Montserrat"/>
              </a:rPr>
              <a:t>03</a:t>
            </a:r>
          </a:p>
        </p:txBody>
      </p:sp>
      <p:sp>
        <p:nvSpPr>
          <p:cNvPr id="16" name="">
            <a:extLst>
              <a:ext uri="{FF2B5EF4-FFF2-40B4-BE49-F238E27FC236}">
                <ns2:creationId id="{3D0357D6-6820-41BD-AC32-56CB3E863C98}"/>
              </a:ext>
            </a:extLst>
          </p:cNvPr>
          <p:cNvSpPr>
            <a:spLocks noGrp="1"/>
          </p:cNvSpPr>
          <p:nvPr/>
        </p:nvSpPr>
        <p:spPr>
          <a:xfrm>
            <a:off x="8686800" y="1543050"/>
            <a:ext cx="3048000" cy="333375"/>
          </a:xfrm>
          <a:prstGeom prst="rect">
            <a:avLst/>
          </a:prstGeom>
          <a:noFill/>
          <a:ln w="0">
            <a:noFill/>
          </a:ln>
        </p:spPr>
        <p:txBody>
          <a:bodyPr wrap="square" lIns="0" tIns="0" rIns="0" bIns="0" anchor="t">
            <a:noAutofit/>
          </a:bodyPr>
          <a:lstStyle>
            <a:defPPr>
              <a:defRPr sz="1575" b="1">
                <a:solidFill>
                  <a:srgbClr val="0B1F3A"/>
                </a:solidFill>
                <a:latin typeface="Montserrat"/>
                <a:ea typeface="Montserrat"/>
                <a:cs typeface="Montserrat"/>
              </a:defRPr>
            </a:defPPr>
          </a:lstStyle>
          <a:p>
            <a:pPr>
              <a:defRPr sz="1575" b="1">
                <a:solidFill>
                  <a:srgbClr val="0B1F3A"/>
                </a:solidFill>
                <a:latin typeface="Montserrat"/>
                <a:ea typeface="Montserrat"/>
                <a:cs typeface="Montserrat"/>
              </a:defRPr>
            </a:pPr>
            <a:r>
              <a:rPr sz="1575" b="1">
                <a:solidFill>
                  <a:srgbClr val="0B1F3A"/>
                </a:solidFill>
                <a:latin typeface="Montserrat"/>
                <a:ea typeface="Montserrat"/>
                <a:cs typeface="Montserrat"/>
              </a:rPr>
              <a:t>Manage route profitability</a:t>
            </a:r>
          </a:p>
        </p:txBody>
      </p:sp>
      <p:sp>
        <p:nvSpPr>
          <p:cNvPr id="17" name="">
            <a:extLst>
              <a:ext uri="{FF2B5EF4-FFF2-40B4-BE49-F238E27FC236}">
                <ns2:creationId id="{A6084A09-FFEC-4B40-93B2-A12DF40C0DB2}"/>
              </a:ext>
            </a:extLst>
          </p:cNvPr>
          <p:cNvSpPr>
            <a:spLocks noGrp="1"/>
          </p:cNvSpPr>
          <p:nvPr/>
        </p:nvSpPr>
        <p:spPr>
          <a:xfrm>
            <a:off x="8210550" y="1933575"/>
            <a:ext cx="3333750" cy="400050"/>
          </a:xfrm>
          <a:prstGeom prst="rect">
            <a:avLst/>
          </a:prstGeom>
          <a:noFill/>
          <a:ln w="0">
            <a:noFill/>
          </a:ln>
        </p:spPr>
        <p:txBody>
          <a:bodyPr wrap="square" lIns="0" tIns="0" rIns="0" bIns="0" anchor="t">
            <a:noAutofit/>
          </a:bodyPr>
          <a:lstStyle>
            <a:defPPr>
              <a:defRPr sz="2250" b="1">
                <a:solidFill>
                  <a:srgbClr val="0B1F3A"/>
                </a:solidFill>
                <a:latin typeface="Montserrat"/>
                <a:ea typeface="Montserrat"/>
                <a:cs typeface="Montserrat"/>
              </a:defRPr>
            </a:defPPr>
          </a:lstStyle>
          <a:p>
            <a:pPr>
              <a:defRPr sz="2250" b="1">
                <a:solidFill>
                  <a:srgbClr val="0B1F3A"/>
                </a:solidFill>
                <a:latin typeface="Montserrat"/>
                <a:ea typeface="Montserrat"/>
                <a:cs typeface="Montserrat"/>
              </a:defRPr>
            </a:pPr>
            <a:r>
              <a:rPr sz="2250" b="1">
                <a:solidFill>
                  <a:srgbClr val="0B1F3A"/>
                </a:solidFill>
                <a:latin typeface="Montserrat"/>
                <a:ea typeface="Montserrat"/>
                <a:cs typeface="Montserrat"/>
              </a:rPr>
              <a:t>Monthly review</a:t>
            </a:r>
          </a:p>
        </p:txBody>
      </p:sp>
      <p:sp>
        <p:nvSpPr>
          <p:cNvPr id="18" name="">
            <a:extLst>
              <a:ext uri="{FF2B5EF4-FFF2-40B4-BE49-F238E27FC236}">
                <ns2:creationId id="{180795E7-45E5-472E-976D-56579F03DEBF}"/>
              </a:ext>
            </a:extLst>
          </p:cNvPr>
          <p:cNvSpPr>
            <a:spLocks noGrp="1"/>
          </p:cNvSpPr>
          <p:nvPr/>
        </p:nvSpPr>
        <p:spPr>
          <a:xfrm>
            <a:off x="8210550" y="2419350"/>
            <a:ext cx="3333750" cy="952500"/>
          </a:xfrm>
          <a:prstGeom prst="rect">
            <a:avLst/>
          </a:prstGeom>
          <a:noFill/>
          <a:ln w="0">
            <a:noFill/>
          </a:ln>
        </p:spPr>
        <p:txBody>
          <a:bodyPr wrap="square" lIns="0" tIns="0" rIns="0" bIns="0" anchor="t">
            <a:noAutofit/>
          </a:bodyPr>
          <a:lstStyle>
            <a:defPPr>
              <a:defRPr sz="1275" b="0">
                <a:solidFill>
                  <a:srgbClr val="1F2937"/>
                </a:solidFill>
                <a:latin typeface="Lato"/>
                <a:ea typeface="Lato"/>
                <a:cs typeface="Lato"/>
              </a:defRPr>
            </a:defPPr>
          </a:lstStyle>
          <a:p>
            <a:pPr>
              <a:defRPr sz="1275" b="0">
                <a:solidFill>
                  <a:srgbClr val="1F2937"/>
                </a:solidFill>
                <a:latin typeface="Lato"/>
                <a:ea typeface="Lato"/>
                <a:cs typeface="Lato"/>
              </a:defRPr>
            </a:pPr>
            <a:r>
              <a:rPr sz="1275" b="0">
                <a:solidFill>
                  <a:srgbClr val="1F2937"/>
                </a:solidFill>
                <a:latin typeface="Lato"/>
                <a:ea typeface="Lato"/>
                <a:cs typeface="Lato"/>
              </a:rPr>
              <a:t>Add flights only when incremental demand covers avoidable costs. Continue new-market trials only with a credible recovery plan or explicit service funding.</a:t>
            </a:r>
          </a:p>
        </p:txBody>
      </p:sp>
      <p:sp>
        <p:nvSpPr>
          <p:cNvPr id="19" name="">
            <a:extLst>
              <a:ext uri="{FF2B5EF4-FFF2-40B4-BE49-F238E27FC236}">
                <ns2:creationId id="{992D956F-92D4-44F1-A5F0-E331B081F3F7}"/>
              </a:ext>
            </a:extLst>
          </p:cNvPr>
          <p:cNvSpPr>
            <a:spLocks noGrp="1"/>
          </p:cNvSpPr>
          <p:nvPr/>
        </p:nvSpPr>
        <p:spPr>
          <a:xfrm>
            <a:off x="552450" y="3476625"/>
            <a:ext cx="11087100" cy="9525"/>
          </a:xfrm>
          <a:prstGeom prst="rect">
            <a:avLst/>
          </a:prstGeom>
          <a:solidFill>
            <a:srgbClr val="D1D5DB"/>
          </a:solidFill>
          <a:ln w="0">
            <a:noFill/>
          </a:ln>
        </p:spPr>
      </p:sp>
      <p:sp>
        <p:nvSpPr>
          <p:cNvPr id="20" name="">
            <a:extLst>
              <a:ext uri="{FF2B5EF4-FFF2-40B4-BE49-F238E27FC236}">
                <ns2:creationId id="{C763944D-1DE6-41D9-90CE-7B451096ACF1}"/>
              </a:ext>
            </a:extLst>
          </p:cNvPr>
          <p:cNvSpPr>
            <a:spLocks noGrp="1"/>
          </p:cNvSpPr>
          <p:nvPr/>
        </p:nvSpPr>
        <p:spPr>
          <a:xfrm>
            <a:off x="552450" y="3638550"/>
            <a:ext cx="7239000" cy="257175"/>
          </a:xfrm>
          <a:prstGeom prst="rect">
            <a:avLst/>
          </a:prstGeom>
          <a:noFill/>
          <a:ln w="0">
            <a:noFill/>
          </a:ln>
        </p:spPr>
        <p:txBody>
          <a:bodyPr wrap="square" lIns="0" tIns="0" rIns="0" bIns="0" anchor="t">
            <a:noAutofit/>
          </a:bodyPr>
          <a:lstStyle>
            <a:defPPr>
              <a:defRPr sz="1100" b="1">
                <a:solidFill>
                  <a:srgbClr val="6B7280"/>
                </a:solidFill>
                <a:latin typeface="Montserrat"/>
                <a:ea typeface="Montserrat"/>
                <a:cs typeface="Montserrat"/>
              </a:defRPr>
            </a:defPPr>
          </a:lstStyle>
          <a:p>
            <a:pPr>
              <a:defRPr sz="1100" b="1">
                <a:solidFill>
                  <a:srgbClr val="6B7280"/>
                </a:solidFill>
                <a:latin typeface="Montserrat"/>
                <a:ea typeface="Montserrat"/>
                <a:cs typeface="Montserrat"/>
              </a:defRPr>
            </a:pPr>
            <a:r>
              <a:rPr sz="1100" b="1">
                <a:solidFill>
                  <a:srgbClr val="6B7280"/>
                </a:solidFill>
                <a:latin typeface="Montserrat"/>
                <a:ea typeface="Montserrat"/>
                <a:cs typeface="Montserrat"/>
              </a:rPr>
              <a:t>CENTRAL ANNUAL CONTRIBUTION AFTER GATES ($M)</a:t>
            </a:r>
          </a:p>
        </p:txBody>
      </p:sp>
      <p:sp>
        <p:nvSpPr>
          <p:cNvPr id="21" name="">
            <a:extLst>
              <a:ext uri="{FF2B5EF4-FFF2-40B4-BE49-F238E27FC236}">
                <ns2:creationId id="{C867058D-2E86-4883-A761-06D8ABBA70D4}"/>
              </a:ext>
            </a:extLst>
          </p:cNvPr>
          <p:cNvSpPr>
            <a:spLocks noGrp="1"/>
          </p:cNvSpPr>
          <p:nvPr/>
        </p:nvSpPr>
        <p:spPr>
          <a:xfrm>
            <a:off x="552450" y="4086225"/>
            <a:ext cx="7429500" cy="9525"/>
          </a:xfrm>
          <a:prstGeom prst="rect">
            <a:avLst/>
          </a:prstGeom>
          <a:solidFill>
            <a:srgbClr val="D1D5DB"/>
          </a:solidFill>
          <a:ln w="0">
            <a:noFill/>
          </a:ln>
        </p:spPr>
      </p:sp>
      <p:sp>
        <p:nvSpPr>
          <p:cNvPr id="22" name="">
            <a:extLst>
              <a:ext uri="{FF2B5EF4-FFF2-40B4-BE49-F238E27FC236}">
                <ns2:creationId id="{98384424-DD9F-46D0-86C2-3FF524FC4484}"/>
              </a:ext>
            </a:extLst>
          </p:cNvPr>
          <p:cNvSpPr>
            <a:spLocks noGrp="1"/>
          </p:cNvSpPr>
          <p:nvPr/>
        </p:nvSpPr>
        <p:spPr>
          <a:xfrm>
            <a:off x="819150" y="4086225"/>
            <a:ext cx="1028700" cy="1195959"/>
          </a:xfrm>
          <a:prstGeom prst="rect">
            <a:avLst/>
          </a:prstGeom>
          <a:solidFill>
            <a:srgbClr val="E8692A"/>
          </a:solidFill>
          <a:ln w="0">
            <a:noFill/>
          </a:ln>
        </p:spPr>
      </p:sp>
      <p:sp>
        <p:nvSpPr>
          <p:cNvPr id="23" name="">
            <a:extLst>
              <a:ext uri="{FF2B5EF4-FFF2-40B4-BE49-F238E27FC236}">
                <ns2:creationId id="{4D3F790C-80E9-487E-835A-415E3F3994DF}"/>
              </a:ext>
            </a:extLst>
          </p:cNvPr>
          <p:cNvSpPr>
            <a:spLocks noGrp="1"/>
          </p:cNvSpPr>
          <p:nvPr/>
        </p:nvSpPr>
        <p:spPr>
          <a:xfrm>
            <a:off x="704850" y="5329809"/>
            <a:ext cx="1381125" cy="266700"/>
          </a:xfrm>
          <a:prstGeom prst="rect">
            <a:avLst/>
          </a:prstGeom>
          <a:noFill/>
          <a:ln w="0">
            <a:noFill/>
          </a:ln>
        </p:spPr>
        <p:txBody>
          <a:bodyPr wrap="square" lIns="0" tIns="0" rIns="0" bIns="0" anchor="t">
            <a:noAutofit/>
          </a:bodyPr>
          <a:lstStyle>
            <a:defPPr>
              <a:defRPr sz="1650" b="1">
                <a:solidFill>
                  <a:srgbClr val="E8692A"/>
                </a:solidFill>
                <a:latin typeface="Montserrat"/>
                <a:ea typeface="Montserrat"/>
                <a:cs typeface="Montserrat"/>
              </a:defRPr>
            </a:defPPr>
          </a:lstStyle>
          <a:p>
            <a:pPr>
              <a:defRPr sz="1650" b="1">
                <a:solidFill>
                  <a:srgbClr val="E8692A"/>
                </a:solidFill>
                <a:latin typeface="Montserrat"/>
                <a:ea typeface="Montserrat"/>
                <a:cs typeface="Montserrat"/>
              </a:defRPr>
            </a:pPr>
            <a:r>
              <a:rPr sz="1650" b="1">
                <a:solidFill>
                  <a:srgbClr val="E8692A"/>
                </a:solidFill>
                <a:latin typeface="Montserrat"/>
                <a:ea typeface="Montserrat"/>
                <a:cs typeface="Montserrat"/>
              </a:rPr>
              <a:t>−58.4</a:t>
            </a:r>
          </a:p>
        </p:txBody>
      </p:sp>
      <p:sp>
        <p:nvSpPr>
          <p:cNvPr id="24" name="">
            <a:extLst>
              <a:ext uri="{FF2B5EF4-FFF2-40B4-BE49-F238E27FC236}">
                <ns2:creationId id="{62747C97-029F-40C7-913A-834115DA6D51}"/>
              </a:ext>
            </a:extLst>
          </p:cNvPr>
          <p:cNvSpPr>
            <a:spLocks noGrp="1"/>
          </p:cNvSpPr>
          <p:nvPr/>
        </p:nvSpPr>
        <p:spPr>
          <a:xfrm>
            <a:off x="628650" y="5657850"/>
            <a:ext cx="1524000" cy="266700"/>
          </a:xfrm>
          <a:prstGeom prst="rect">
            <a:avLst/>
          </a:prstGeom>
          <a:noFill/>
          <a:ln w="0">
            <a:noFill/>
          </a:ln>
        </p:spPr>
        <p:txBody>
          <a:bodyPr wrap="square" lIns="0" tIns="0" rIns="0" bIns="0" anchor="t">
            <a:noAutofit/>
          </a:bodyPr>
          <a:lstStyle>
            <a:defPPr>
              <a:defRPr sz="1200" b="0">
                <a:solidFill>
                  <a:srgbClr val="6B7280"/>
                </a:solidFill>
                <a:latin typeface="Lato"/>
                <a:ea typeface="Lato"/>
                <a:cs typeface="Lato"/>
              </a:defRPr>
            </a:defPPr>
          </a:lstStyle>
          <a:p>
            <a:pPr>
              <a:defRPr sz="1200" b="0">
                <a:solidFill>
                  <a:srgbClr val="6B7280"/>
                </a:solidFill>
                <a:latin typeface="Lato"/>
                <a:ea typeface="Lato"/>
                <a:cs typeface="Lato"/>
              </a:defRPr>
            </a:pPr>
            <a:r>
              <a:rPr sz="1200" b="0">
                <a:solidFill>
                  <a:srgbClr val="6B7280"/>
                </a:solidFill>
                <a:latin typeface="Lato"/>
                <a:ea typeface="Lato"/>
                <a:cs typeface="Lato"/>
              </a:rPr>
              <a:t>Current</a:t>
            </a:r>
          </a:p>
        </p:txBody>
      </p:sp>
      <p:sp>
        <p:nvSpPr>
          <p:cNvPr id="25" name="">
            <a:extLst>
              <a:ext uri="{FF2B5EF4-FFF2-40B4-BE49-F238E27FC236}">
                <ns2:creationId id="{C4857F76-55B9-44B7-B5B4-EBCB2957E47B}"/>
              </a:ext>
            </a:extLst>
          </p:cNvPr>
          <p:cNvSpPr>
            <a:spLocks noGrp="1"/>
          </p:cNvSpPr>
          <p:nvPr/>
        </p:nvSpPr>
        <p:spPr>
          <a:xfrm>
            <a:off x="1847850" y="5282184"/>
            <a:ext cx="771525" cy="9525"/>
          </a:xfrm>
          <a:prstGeom prst="rect">
            <a:avLst/>
          </a:prstGeom>
          <a:solidFill>
            <a:srgbClr val="D1D5DB"/>
          </a:solidFill>
          <a:ln w="0">
            <a:noFill/>
          </a:ln>
        </p:spPr>
      </p:sp>
      <p:sp>
        <p:nvSpPr>
          <p:cNvPr id="26" name="">
            <a:extLst>
              <a:ext uri="{FF2B5EF4-FFF2-40B4-BE49-F238E27FC236}">
                <ns2:creationId id="{C7A83733-E565-4EC2-B1B5-0BA4EE7060A3}"/>
              </a:ext>
            </a:extLst>
          </p:cNvPr>
          <p:cNvSpPr>
            <a:spLocks noGrp="1"/>
          </p:cNvSpPr>
          <p:nvPr/>
        </p:nvSpPr>
        <p:spPr>
          <a:xfrm>
            <a:off x="2619375" y="4164044"/>
            <a:ext cx="1028700" cy="1118140"/>
          </a:xfrm>
          <a:prstGeom prst="rect">
            <a:avLst/>
          </a:prstGeom>
          <a:solidFill>
            <a:srgbClr val="2E7D5B"/>
          </a:solidFill>
          <a:ln w="0">
            <a:noFill/>
          </a:ln>
        </p:spPr>
      </p:sp>
      <p:sp>
        <p:nvSpPr>
          <p:cNvPr id="27" name="">
            <a:extLst>
              <a:ext uri="{FF2B5EF4-FFF2-40B4-BE49-F238E27FC236}">
                <ns2:creationId id="{0ECD949A-36A5-4F1B-A893-46FEFA1A85A9}"/>
              </a:ext>
            </a:extLst>
          </p:cNvPr>
          <p:cNvSpPr>
            <a:spLocks noGrp="1"/>
          </p:cNvSpPr>
          <p:nvPr/>
        </p:nvSpPr>
        <p:spPr>
          <a:xfrm>
            <a:off x="2505075" y="3906869"/>
            <a:ext cx="1381125" cy="266700"/>
          </a:xfrm>
          <a:prstGeom prst="rect">
            <a:avLst/>
          </a:prstGeom>
          <a:noFill/>
          <a:ln w="0">
            <a:noFill/>
          </a:ln>
        </p:spPr>
        <p:txBody>
          <a:bodyPr wrap="square" lIns="0" tIns="0" rIns="0" bIns="0" anchor="t">
            <a:noAutofit/>
          </a:bodyPr>
          <a:lstStyle>
            <a:defPPr>
              <a:defRPr sz="1650" b="1">
                <a:solidFill>
                  <a:srgbClr val="0B1F3A"/>
                </a:solidFill>
                <a:latin typeface="Montserrat"/>
                <a:ea typeface="Montserrat"/>
                <a:cs typeface="Montserrat"/>
              </a:defRPr>
            </a:defPPr>
          </a:lstStyle>
          <a:p>
            <a:pPr>
              <a:defRPr sz="1650" b="1">
                <a:solidFill>
                  <a:srgbClr val="0B1F3A"/>
                </a:solidFill>
                <a:latin typeface="Montserrat"/>
                <a:ea typeface="Montserrat"/>
                <a:cs typeface="Montserrat"/>
              </a:defRPr>
            </a:pPr>
            <a:r>
              <a:rPr sz="1650" b="1">
                <a:solidFill>
                  <a:srgbClr val="0B1F3A"/>
                </a:solidFill>
                <a:latin typeface="Montserrat"/>
                <a:ea typeface="Montserrat"/>
                <a:cs typeface="Montserrat"/>
              </a:rPr>
              <a:t>+54.6</a:t>
            </a:r>
          </a:p>
        </p:txBody>
      </p:sp>
      <p:sp>
        <p:nvSpPr>
          <p:cNvPr id="28" name="">
            <a:extLst>
              <a:ext uri="{FF2B5EF4-FFF2-40B4-BE49-F238E27FC236}">
                <ns2:creationId id="{E5216E27-7FAC-4021-B51B-1F6914AE7511}"/>
              </a:ext>
            </a:extLst>
          </p:cNvPr>
          <p:cNvSpPr>
            <a:spLocks noGrp="1"/>
          </p:cNvSpPr>
          <p:nvPr/>
        </p:nvSpPr>
        <p:spPr>
          <a:xfrm>
            <a:off x="2428875" y="5657850"/>
            <a:ext cx="1524000" cy="266700"/>
          </a:xfrm>
          <a:prstGeom prst="rect">
            <a:avLst/>
          </a:prstGeom>
          <a:noFill/>
          <a:ln w="0">
            <a:noFill/>
          </a:ln>
        </p:spPr>
        <p:txBody>
          <a:bodyPr wrap="square" lIns="0" tIns="0" rIns="0" bIns="0" anchor="t">
            <a:noAutofit/>
          </a:bodyPr>
          <a:lstStyle>
            <a:defPPr>
              <a:defRPr sz="1200" b="0">
                <a:solidFill>
                  <a:srgbClr val="6B7280"/>
                </a:solidFill>
                <a:latin typeface="Lato"/>
                <a:ea typeface="Lato"/>
                <a:cs typeface="Lato"/>
              </a:defRPr>
            </a:defPPr>
          </a:lstStyle>
          <a:p>
            <a:pPr>
              <a:defRPr sz="1200" b="0">
                <a:solidFill>
                  <a:srgbClr val="6B7280"/>
                </a:solidFill>
                <a:latin typeface="Lato"/>
                <a:ea typeface="Lato"/>
                <a:cs typeface="Lato"/>
              </a:defRPr>
            </a:pPr>
            <a:r>
              <a:rPr sz="1200" b="0">
                <a:solidFill>
                  <a:srgbClr val="6B7280"/>
                </a:solidFill>
                <a:latin typeface="Lato"/>
                <a:ea typeface="Lato"/>
                <a:cs typeface="Lato"/>
              </a:rPr>
              <a:t>Schedule changes</a:t>
            </a:r>
          </a:p>
        </p:txBody>
      </p:sp>
      <p:sp>
        <p:nvSpPr>
          <p:cNvPr id="29" name="">
            <a:extLst>
              <a:ext uri="{FF2B5EF4-FFF2-40B4-BE49-F238E27FC236}">
                <ns2:creationId id="{0251236C-E482-4542-B55C-25CBBFFA5F41}"/>
              </a:ext>
            </a:extLst>
          </p:cNvPr>
          <p:cNvSpPr>
            <a:spLocks noGrp="1"/>
          </p:cNvSpPr>
          <p:nvPr/>
        </p:nvSpPr>
        <p:spPr>
          <a:xfrm>
            <a:off x="3648075" y="4164044"/>
            <a:ext cx="771525" cy="9525"/>
          </a:xfrm>
          <a:prstGeom prst="rect">
            <a:avLst/>
          </a:prstGeom>
          <a:solidFill>
            <a:srgbClr val="D1D5DB"/>
          </a:solidFill>
          <a:ln w="0">
            <a:noFill/>
          </a:ln>
        </p:spPr>
      </p:sp>
      <p:sp>
        <p:nvSpPr>
          <p:cNvPr id="30" name="">
            <a:extLst>
              <a:ext uri="{FF2B5EF4-FFF2-40B4-BE49-F238E27FC236}">
                <ns2:creationId id="{DEE3DE5C-7D46-40A2-880C-E83A68228B58}"/>
              </a:ext>
            </a:extLst>
          </p:cNvPr>
          <p:cNvSpPr>
            <a:spLocks noGrp="1"/>
          </p:cNvSpPr>
          <p:nvPr/>
        </p:nvSpPr>
        <p:spPr>
          <a:xfrm>
            <a:off x="4419600" y="4057555"/>
            <a:ext cx="1028700" cy="106489"/>
          </a:xfrm>
          <a:prstGeom prst="rect">
            <a:avLst/>
          </a:prstGeom>
          <a:solidFill>
            <a:srgbClr val="2E7D5B"/>
          </a:solidFill>
          <a:ln w="0">
            <a:noFill/>
          </a:ln>
        </p:spPr>
      </p:sp>
      <p:sp>
        <p:nvSpPr>
          <p:cNvPr id="31" name="">
            <a:extLst>
              <a:ext uri="{FF2B5EF4-FFF2-40B4-BE49-F238E27FC236}">
                <ns2:creationId id="{5489F308-BD39-462B-8ACF-B494CBDDEBA6}"/>
              </a:ext>
            </a:extLst>
          </p:cNvPr>
          <p:cNvSpPr>
            <a:spLocks noGrp="1"/>
          </p:cNvSpPr>
          <p:nvPr/>
        </p:nvSpPr>
        <p:spPr>
          <a:xfrm>
            <a:off x="4305300" y="3857625"/>
            <a:ext cx="1381125" cy="266700"/>
          </a:xfrm>
          <a:prstGeom prst="rect">
            <a:avLst/>
          </a:prstGeom>
          <a:noFill/>
          <a:ln w="0">
            <a:noFill/>
          </a:ln>
        </p:spPr>
        <p:txBody>
          <a:bodyPr wrap="square" lIns="0" tIns="0" rIns="0" bIns="0" anchor="t">
            <a:noAutofit/>
          </a:bodyPr>
          <a:lstStyle>
            <a:defPPr>
              <a:defRPr sz="1650" b="1">
                <a:solidFill>
                  <a:srgbClr val="0B1F3A"/>
                </a:solidFill>
                <a:latin typeface="Montserrat"/>
                <a:ea typeface="Montserrat"/>
                <a:cs typeface="Montserrat"/>
              </a:defRPr>
            </a:defPPr>
          </a:lstStyle>
          <a:p>
            <a:pPr>
              <a:defRPr sz="1650" b="1">
                <a:solidFill>
                  <a:srgbClr val="0B1F3A"/>
                </a:solidFill>
                <a:latin typeface="Montserrat"/>
                <a:ea typeface="Montserrat"/>
                <a:cs typeface="Montserrat"/>
              </a:defRPr>
            </a:pPr>
            <a:r>
              <a:rPr sz="1650" b="1">
                <a:solidFill>
                  <a:srgbClr val="0B1F3A"/>
                </a:solidFill>
                <a:latin typeface="Montserrat"/>
                <a:ea typeface="Montserrat"/>
                <a:cs typeface="Montserrat"/>
              </a:rPr>
              <a:t>+5.2</a:t>
            </a:r>
          </a:p>
        </p:txBody>
      </p:sp>
      <p:sp>
        <p:nvSpPr>
          <p:cNvPr id="32" name="">
            <a:extLst>
              <a:ext uri="{FF2B5EF4-FFF2-40B4-BE49-F238E27FC236}">
                <ns2:creationId id="{0E7BA877-FB82-408B-ACEE-438AFB41E21E}"/>
              </a:ext>
            </a:extLst>
          </p:cNvPr>
          <p:cNvSpPr>
            <a:spLocks noGrp="1"/>
          </p:cNvSpPr>
          <p:nvPr/>
        </p:nvSpPr>
        <p:spPr>
          <a:xfrm>
            <a:off x="4229100" y="5657850"/>
            <a:ext cx="1524000" cy="266700"/>
          </a:xfrm>
          <a:prstGeom prst="rect">
            <a:avLst/>
          </a:prstGeom>
          <a:noFill/>
          <a:ln w="0">
            <a:noFill/>
          </a:ln>
        </p:spPr>
        <p:txBody>
          <a:bodyPr wrap="square" lIns="0" tIns="0" rIns="0" bIns="0" anchor="t">
            <a:noAutofit/>
          </a:bodyPr>
          <a:lstStyle>
            <a:defPPr>
              <a:defRPr sz="1200" b="0">
                <a:solidFill>
                  <a:srgbClr val="6B7280"/>
                </a:solidFill>
                <a:latin typeface="Lato"/>
                <a:ea typeface="Lato"/>
                <a:cs typeface="Lato"/>
              </a:defRPr>
            </a:defPPr>
          </a:lstStyle>
          <a:p>
            <a:pPr>
              <a:defRPr sz="1200" b="0">
                <a:solidFill>
                  <a:srgbClr val="6B7280"/>
                </a:solidFill>
                <a:latin typeface="Lato"/>
                <a:ea typeface="Lato"/>
                <a:cs typeface="Lato"/>
              </a:defRPr>
            </a:pPr>
            <a:r>
              <a:rPr sz="1200" b="0">
                <a:solidFill>
                  <a:srgbClr val="6B7280"/>
                </a:solidFill>
                <a:latin typeface="Lato"/>
                <a:ea typeface="Lato"/>
                <a:cs typeface="Lato"/>
              </a:rPr>
              <a:t>Revenue recovery</a:t>
            </a:r>
          </a:p>
        </p:txBody>
      </p:sp>
      <p:sp>
        <p:nvSpPr>
          <p:cNvPr id="33" name="">
            <a:extLst>
              <a:ext uri="{FF2B5EF4-FFF2-40B4-BE49-F238E27FC236}">
                <ns2:creationId id="{3203DAA1-B53A-4CD9-BBDD-5E611A727830}"/>
              </a:ext>
            </a:extLst>
          </p:cNvPr>
          <p:cNvSpPr>
            <a:spLocks noGrp="1"/>
          </p:cNvSpPr>
          <p:nvPr/>
        </p:nvSpPr>
        <p:spPr>
          <a:xfrm>
            <a:off x="5448300" y="4057555"/>
            <a:ext cx="771525" cy="9525"/>
          </a:xfrm>
          <a:prstGeom prst="rect">
            <a:avLst/>
          </a:prstGeom>
          <a:solidFill>
            <a:srgbClr val="D1D5DB"/>
          </a:solidFill>
          <a:ln w="0">
            <a:noFill/>
          </a:ln>
        </p:spPr>
      </p:sp>
      <p:sp>
        <p:nvSpPr>
          <p:cNvPr id="34" name="">
            <a:extLst>
              <a:ext uri="{FF2B5EF4-FFF2-40B4-BE49-F238E27FC236}">
                <ns2:creationId id="{0DEAC2D6-C812-4E6B-AE4C-B057B4AE3D49}"/>
              </a:ext>
            </a:extLst>
          </p:cNvPr>
          <p:cNvSpPr>
            <a:spLocks noGrp="1"/>
          </p:cNvSpPr>
          <p:nvPr/>
        </p:nvSpPr>
        <p:spPr>
          <a:xfrm>
            <a:off x="6219825" y="4057555"/>
            <a:ext cx="1028700" cy="38100"/>
          </a:xfrm>
          <a:prstGeom prst="rect">
            <a:avLst/>
          </a:prstGeom>
          <a:solidFill>
            <a:srgbClr val="0B1F3A"/>
          </a:solidFill>
          <a:ln w="0">
            <a:noFill/>
          </a:ln>
        </p:spPr>
      </p:sp>
      <p:sp>
        <p:nvSpPr>
          <p:cNvPr id="35" name="">
            <a:extLst>
              <a:ext uri="{FF2B5EF4-FFF2-40B4-BE49-F238E27FC236}">
                <ns2:creationId id="{701D8DB4-A14F-4206-BB45-D55BB2BEF0FA}"/>
              </a:ext>
            </a:extLst>
          </p:cNvPr>
          <p:cNvSpPr>
            <a:spLocks noGrp="1"/>
          </p:cNvSpPr>
          <p:nvPr/>
        </p:nvSpPr>
        <p:spPr>
          <a:xfrm>
            <a:off x="6105525" y="3857625"/>
            <a:ext cx="1381125" cy="266700"/>
          </a:xfrm>
          <a:prstGeom prst="rect">
            <a:avLst/>
          </a:prstGeom>
          <a:noFill/>
          <a:ln w="0">
            <a:noFill/>
          </a:ln>
        </p:spPr>
        <p:txBody>
          <a:bodyPr wrap="square" lIns="0" tIns="0" rIns="0" bIns="0" anchor="t">
            <a:noAutofit/>
          </a:bodyPr>
          <a:lstStyle>
            <a:defPPr>
              <a:defRPr sz="1650" b="1">
                <a:solidFill>
                  <a:srgbClr val="0B1F3A"/>
                </a:solidFill>
                <a:latin typeface="Montserrat"/>
                <a:ea typeface="Montserrat"/>
                <a:cs typeface="Montserrat"/>
              </a:defRPr>
            </a:defPPr>
          </a:lstStyle>
          <a:p>
            <a:pPr>
              <a:defRPr sz="1650" b="1">
                <a:solidFill>
                  <a:srgbClr val="0B1F3A"/>
                </a:solidFill>
                <a:latin typeface="Montserrat"/>
                <a:ea typeface="Montserrat"/>
                <a:cs typeface="Montserrat"/>
              </a:defRPr>
            </a:pPr>
            <a:r>
              <a:rPr sz="1650" b="1">
                <a:solidFill>
                  <a:srgbClr val="0B1F3A"/>
                </a:solidFill>
                <a:latin typeface="Montserrat"/>
                <a:ea typeface="Montserrat"/>
                <a:cs typeface="Montserrat"/>
              </a:rPr>
              <a:t>+1.4</a:t>
            </a:r>
          </a:p>
        </p:txBody>
      </p:sp>
      <p:sp>
        <p:nvSpPr>
          <p:cNvPr id="36" name="">
            <a:extLst>
              <a:ext uri="{FF2B5EF4-FFF2-40B4-BE49-F238E27FC236}">
                <ns2:creationId id="{CE60864F-9280-48DD-B8BB-C15DF3DE9992}"/>
              </a:ext>
            </a:extLst>
          </p:cNvPr>
          <p:cNvSpPr>
            <a:spLocks noGrp="1"/>
          </p:cNvSpPr>
          <p:nvPr/>
        </p:nvSpPr>
        <p:spPr>
          <a:xfrm>
            <a:off x="6029325" y="5657850"/>
            <a:ext cx="1524000" cy="266700"/>
          </a:xfrm>
          <a:prstGeom prst="rect">
            <a:avLst/>
          </a:prstGeom>
          <a:noFill/>
          <a:ln w="0">
            <a:noFill/>
          </a:ln>
        </p:spPr>
        <p:txBody>
          <a:bodyPr wrap="square" lIns="0" tIns="0" rIns="0" bIns="0" anchor="t">
            <a:noAutofit/>
          </a:bodyPr>
          <a:lstStyle>
            <a:defPPr>
              <a:defRPr sz="1200" b="0">
                <a:solidFill>
                  <a:srgbClr val="6B7280"/>
                </a:solidFill>
                <a:latin typeface="Lato"/>
                <a:ea typeface="Lato"/>
                <a:cs typeface="Lato"/>
              </a:defRPr>
            </a:defPPr>
          </a:lstStyle>
          <a:p>
            <a:pPr>
              <a:defRPr sz="1200" b="0">
                <a:solidFill>
                  <a:srgbClr val="6B7280"/>
                </a:solidFill>
                <a:latin typeface="Lato"/>
                <a:ea typeface="Lato"/>
                <a:cs typeface="Lato"/>
              </a:defRPr>
            </a:pPr>
            <a:r>
              <a:rPr sz="1200" b="0">
                <a:solidFill>
                  <a:srgbClr val="6B7280"/>
                </a:solidFill>
                <a:latin typeface="Lato"/>
                <a:ea typeface="Lato"/>
                <a:cs typeface="Lato"/>
              </a:rPr>
              <a:t>Central case</a:t>
            </a:r>
          </a:p>
        </p:txBody>
      </p:sp>
      <p:sp>
        <p:nvSpPr>
          <p:cNvPr id="37" name="">
            <a:extLst>
              <a:ext uri="{FF2B5EF4-FFF2-40B4-BE49-F238E27FC236}">
                <ns2:creationId id="{CEF22526-A361-403E-84CF-5E23620EE0C6}"/>
              </a:ext>
            </a:extLst>
          </p:cNvPr>
          <p:cNvSpPr>
            <a:spLocks noGrp="1"/>
          </p:cNvSpPr>
          <p:nvPr/>
        </p:nvSpPr>
        <p:spPr>
          <a:xfrm>
            <a:off x="8429625" y="3714750"/>
            <a:ext cx="3143250" cy="285750"/>
          </a:xfrm>
          <a:prstGeom prst="rect">
            <a:avLst/>
          </a:prstGeom>
          <a:noFill/>
          <a:ln w="0">
            <a:noFill/>
          </a:ln>
        </p:spPr>
        <p:txBody>
          <a:bodyPr wrap="square" lIns="0" tIns="0" rIns="0" bIns="0" anchor="t">
            <a:noAutofit/>
          </a:bodyPr>
          <a:lstStyle>
            <a:defPPr>
              <a:defRPr sz="1125" b="1">
                <a:solidFill>
                  <a:srgbClr val="E8692A"/>
                </a:solidFill>
                <a:latin typeface="Montserrat"/>
                <a:ea typeface="Montserrat"/>
                <a:cs typeface="Montserrat"/>
              </a:defRPr>
            </a:defPPr>
          </a:lstStyle>
          <a:p>
            <a:pPr>
              <a:defRPr sz="1125" b="1">
                <a:solidFill>
                  <a:srgbClr val="E8692A"/>
                </a:solidFill>
                <a:latin typeface="Montserrat"/>
                <a:ea typeface="Montserrat"/>
                <a:cs typeface="Montserrat"/>
              </a:defRPr>
            </a:pPr>
            <a:r>
              <a:rPr sz="1125" b="1">
                <a:solidFill>
                  <a:srgbClr val="E8692A"/>
                </a:solidFill>
                <a:latin typeface="Montserrat"/>
                <a:ea typeface="Montserrat"/>
                <a:cs typeface="Montserrat"/>
              </a:rPr>
              <a:t>WHAT MUST HOLD</a:t>
            </a:r>
          </a:p>
        </p:txBody>
      </p:sp>
      <p:sp>
        <p:nvSpPr>
          <p:cNvPr id="38" name="">
            <a:extLst>
              <a:ext uri="{FF2B5EF4-FFF2-40B4-BE49-F238E27FC236}">
                <ns2:creationId id="{90BAFB9F-0817-4203-977E-1D02481187C2}"/>
              </a:ext>
            </a:extLst>
          </p:cNvPr>
          <p:cNvSpPr>
            <a:spLocks noGrp="1"/>
          </p:cNvSpPr>
          <p:nvPr/>
        </p:nvSpPr>
        <p:spPr>
          <a:xfrm>
            <a:off x="8429625" y="4095750"/>
            <a:ext cx="3143250" cy="1000125"/>
          </a:xfrm>
          <a:prstGeom prst="rect">
            <a:avLst/>
          </a:prstGeom>
          <a:noFill/>
          <a:ln w="0">
            <a:noFill/>
          </a:ln>
        </p:spPr>
        <p:txBody>
          <a:bodyPr wrap="square" lIns="0" tIns="0" rIns="0" bIns="0" anchor="t">
            <a:noAutofit/>
          </a:bodyPr>
          <a:lstStyle>
            <a:defPPr>
              <a:defRPr sz="1425" b="1">
                <a:solidFill>
                  <a:srgbClr val="0B1F3A"/>
                </a:solidFill>
                <a:latin typeface="Lato"/>
                <a:ea typeface="Lato"/>
                <a:cs typeface="Lato"/>
              </a:defRPr>
            </a:defPPr>
          </a:lstStyle>
          <a:p>
            <a:pPr>
              <a:defRPr sz="1425" b="1">
                <a:solidFill>
                  <a:srgbClr val="0B1F3A"/>
                </a:solidFill>
                <a:latin typeface="Lato"/>
                <a:ea typeface="Lato"/>
                <a:cs typeface="Lato"/>
              </a:defRPr>
            </a:pPr>
            <a:r>
              <a:rPr sz="1425" b="1">
                <a:solidFill>
                  <a:srgbClr val="0B1F3A"/>
                </a:solidFill>
                <a:latin typeface="Lato"/>
                <a:ea typeface="Lato"/>
                <a:cs typeface="Lato"/>
              </a:rPr>
              <a:t>Full trunk revenue recapture in the central case. Removed flight costs must be avoidable.</a:t>
            </a:r>
          </a:p>
        </p:txBody>
      </p:sp>
      <p:sp>
        <p:nvSpPr>
          <p:cNvPr id="39" name="">
            <a:extLst>
              <a:ext uri="{FF2B5EF4-FFF2-40B4-BE49-F238E27FC236}">
                <ns2:creationId id="{3E0B64DC-BC3C-4B1A-92B1-6D4B3ACF86FB}"/>
              </a:ext>
            </a:extLst>
          </p:cNvPr>
          <p:cNvSpPr>
            <a:spLocks noGrp="1"/>
          </p:cNvSpPr>
          <p:nvPr/>
        </p:nvSpPr>
        <p:spPr>
          <a:xfrm>
            <a:off x="8429625" y="5153025"/>
            <a:ext cx="3143250" cy="542925"/>
          </a:xfrm>
          <a:prstGeom prst="rect">
            <a:avLst/>
          </a:prstGeom>
          <a:noFill/>
          <a:ln w="0">
            <a:noFill/>
          </a:ln>
        </p:spPr>
        <p:txBody>
          <a:bodyPr wrap="square" lIns="0" tIns="0" rIns="0" bIns="0" anchor="t">
            <a:noAutofit/>
          </a:bodyPr>
          <a:lstStyle>
            <a:defPPr>
              <a:defRPr sz="1275" b="0">
                <a:solidFill>
                  <a:srgbClr val="6B7280"/>
                </a:solidFill>
                <a:latin typeface="Lato"/>
                <a:ea typeface="Lato"/>
                <a:cs typeface="Lato"/>
              </a:defRPr>
            </a:defPPr>
          </a:lstStyle>
          <a:p>
            <a:pPr>
              <a:defRPr sz="1275" b="0">
                <a:solidFill>
                  <a:srgbClr val="6B7280"/>
                </a:solidFill>
                <a:latin typeface="Lato"/>
                <a:ea typeface="Lato"/>
                <a:cs typeface="Lato"/>
              </a:defRPr>
            </a:pPr>
            <a:r>
              <a:rPr sz="1275" b="0">
                <a:solidFill>
                  <a:srgbClr val="6B7280"/>
                </a:solidFill>
                <a:latin typeface="Lato"/>
                <a:ea typeface="Lato"/>
                <a:cs typeface="Lato"/>
              </a:rPr>
              <a:t>Scenario range: −$16.9M to +$5.7M. Target: FY27–28 break-even.</a:t>
            </a:r>
          </a:p>
        </p:txBody>
      </p:sp>
      <p:sp>
        <p:nvSpPr>
          <p:cNvPr id="40" name="">
            <a:extLst>
              <a:ext uri="{FF2B5EF4-FFF2-40B4-BE49-F238E27FC236}">
                <ns2:creationId id="{F62A3228-9D6D-48D5-9D6A-E5B6022483A8}"/>
              </a:ext>
            </a:extLst>
          </p:cNvPr>
          <p:cNvSpPr>
            <a:spLocks noGrp="1"/>
          </p:cNvSpPr>
          <p:nvPr/>
        </p:nvSpPr>
        <p:spPr>
          <a:xfrm>
            <a:off x="552450" y="6048375"/>
            <a:ext cx="11049000" cy="266700"/>
          </a:xfrm>
          <a:prstGeom prst="rect">
            <a:avLst/>
          </a:prstGeom>
          <a:noFill/>
          <a:ln w="0">
            <a:noFill/>
          </a:ln>
        </p:spPr>
        <p:txBody>
          <a:bodyPr wrap="square" lIns="0" tIns="0" rIns="0" bIns="0" anchor="t">
            <a:noAutofit/>
          </a:bodyPr>
          <a:lstStyle>
            <a:defPPr>
              <a:defRPr sz="1275" b="0">
                <a:solidFill>
                  <a:srgbClr val="0B1F3A"/>
                </a:solidFill>
                <a:latin typeface="Lato"/>
                <a:ea typeface="Lato"/>
                <a:cs typeface="Lato"/>
              </a:defRPr>
            </a:defPPr>
          </a:lstStyle>
          <a:p>
            <a:pPr>
              <a:defRPr sz="1275" b="0">
                <a:solidFill>
                  <a:srgbClr val="0B1F3A"/>
                </a:solidFill>
                <a:latin typeface="Lato"/>
                <a:ea typeface="Lato"/>
                <a:cs typeface="Lato"/>
              </a:defRPr>
            </a:pPr>
            <a:r>
              <a:rPr sz="1275" b="0">
                <a:solidFill>
                  <a:srgbClr val="0B1F3A"/>
                </a:solidFill>
                <a:latin typeface="Lato"/>
                <a:ea typeface="Lato"/>
                <a:cs typeface="Lato"/>
              </a:rPr>
              <a:t>Customers: protect connections     Employees: redeploy and retrain     Communities: keep all 20 airports initially</a:t>
            </a:r>
          </a:p>
        </p:txBody>
      </p:sp>
    </p:spTree>
  </p:cSld>
  <p:clrMapOvr>
    <a:masterClrMapping/>
  </p:clrMapOvr>
</p:sld>
</file>

<file path=ppt/slides/slide19.xml><?xml version="1.0" encoding="utf-8"?>
<p:sld xmlns:a="http://schemas.openxmlformats.org/drawingml/2006/main" xmlns:ns2="http://schemas.microsoft.com/office/drawing/2014/main" xmlns:p="http://schemas.openxmlformats.org/presentationml/2006/main">
  <p:cSld>
    <p:spTree>
      <p:nvGrpSpPr>
        <p:cNvPr id="1" name=""/>
        <p:cNvGrpSpPr/>
        <p:nvPr/>
      </p:nvGrpSpPr>
      <p:grpSpPr>
        <a:xfrm/>
      </p:grpSpPr>
      <p:sp>
        <p:nvSpPr>
          <p:cNvPr id="35" name="">
            <a:extLst>
              <a:ext uri="{FF2B5EF4-FFF2-40B4-BE49-F238E27FC236}">
                <ns2:creationId id="{86E3BE2E-B764-43E3-B5D4-F61D07C14BF2}"/>
              </a:ext>
            </a:extLst>
          </p:cNvPr>
          <p:cNvSpPr>
            <a:spLocks noGrp="1"/>
          </p:cNvSpPr>
          <p:nvPr/>
        </p:nvSpPr>
        <p:spPr>
          <a:xfrm>
            <a:off x="0" y="0"/>
            <a:ext cx="12192000" cy="109728"/>
          </a:xfrm>
          <a:prstGeom prst="rect">
            <a:avLst/>
          </a:prstGeom>
          <a:solidFill>
            <a:srgbClr val="0B1F3A"/>
          </a:solidFill>
          <a:ln w="0">
            <a:noFill/>
          </a:ln>
        </p:spPr>
      </p:sp>
      <p:sp>
        <p:nvSpPr>
          <p:cNvPr id="2" name="">
            <a:extLst>
              <a:ext uri="{FF2B5EF4-FFF2-40B4-BE49-F238E27FC236}">
                <ns2:creationId id="{46730A8D-BB41-46D3-A015-F82509DBD292}"/>
              </a:ext>
            </a:extLst>
          </p:cNvPr>
          <p:cNvSpPr>
            <a:spLocks noGrp="1"/>
          </p:cNvSpPr>
          <p:nvPr/>
        </p:nvSpPr>
        <p:spPr>
          <a:xfrm>
            <a:off x="548640" y="320040"/>
            <a:ext cx="10477500" cy="276225"/>
          </a:xfrm>
          <a:prstGeom prst="rect">
            <a:avLst/>
          </a:prstGeom>
          <a:noFill/>
          <a:ln w="0">
            <a:noFill/>
          </a:ln>
        </p:spPr>
        <p:txBody>
          <a:bodyPr wrap="square" lIns="0" tIns="0" rIns="0" bIns="0" anchor="t">
            <a:noAutofit/>
          </a:bodyPr>
          <a:lstStyle>
            <a:defPPr>
              <a:defRPr sz="1100" b="1">
                <a:solidFill>
                  <a:srgbClr val="E8692A"/>
                </a:solidFill>
                <a:latin typeface="Montserrat"/>
                <a:ea typeface="Montserrat"/>
                <a:cs typeface="Montserrat"/>
              </a:defRPr>
            </a:defPPr>
          </a:lstStyle>
          <a:p>
            <a:pPr>
              <a:defRPr sz="1100" b="1">
                <a:solidFill>
                  <a:srgbClr val="E8692A"/>
                </a:solidFill>
                <a:latin typeface="Montserrat"/>
                <a:ea typeface="Montserrat"/>
                <a:cs typeface="Montserrat"/>
              </a:defRPr>
            </a:pPr>
            <a:r>
              <a:rPr sz="1100" b="1">
                <a:solidFill>
                  <a:srgbClr val="E8692A"/>
                </a:solidFill>
                <a:latin typeface="Montserrat"/>
                <a:ea typeface="Montserrat"/>
                <a:cs typeface="Montserrat"/>
              </a:rPr>
              <a:t>IMPLEMENTATION</a:t>
            </a:r>
          </a:p>
        </p:txBody>
      </p:sp>
      <p:sp>
        <p:nvSpPr>
          <p:cNvPr id="3" name="">
            <a:extLst>
              <a:ext uri="{FF2B5EF4-FFF2-40B4-BE49-F238E27FC236}">
                <ns2:creationId id="{C1021F07-28B0-46FB-A51E-702A2D13828E}"/>
              </a:ext>
            </a:extLst>
          </p:cNvPr>
          <p:cNvSpPr>
            <a:spLocks noGrp="1"/>
          </p:cNvSpPr>
          <p:nvPr/>
        </p:nvSpPr>
        <p:spPr>
          <a:xfrm>
            <a:off x="548640" y="619125"/>
            <a:ext cx="11087100" cy="762000"/>
          </a:xfrm>
          <a:prstGeom prst="rect">
            <a:avLst/>
          </a:prstGeom>
          <a:noFill/>
          <a:ln w="0">
            <a:noFill/>
          </a:ln>
        </p:spPr>
        <p:txBody>
          <a:bodyPr wrap="square" lIns="0" tIns="0" rIns="0" bIns="0" anchor="t">
            <a:noAutofit/>
          </a:bodyPr>
          <a:lstStyle>
            <a:defPPr>
              <a:defRPr sz="2400" b="1">
                <a:solidFill>
                  <a:srgbClr val="0B1F3A"/>
                </a:solidFill>
                <a:latin typeface="Montserrat"/>
                <a:ea typeface="Montserrat"/>
                <a:cs typeface="Montserrat"/>
              </a:defRPr>
            </a:defPPr>
          </a:lstStyle>
          <a:p>
            <a:pPr>
              <a:defRPr sz="2400" b="1">
                <a:solidFill>
                  <a:srgbClr val="0B1F3A"/>
                </a:solidFill>
                <a:latin typeface="Montserrat"/>
                <a:ea typeface="Montserrat"/>
                <a:cs typeface="Montserrat"/>
              </a:defRPr>
            </a:pPr>
            <a:r>
              <a:rPr sz="2400" b="1">
                <a:solidFill>
                  <a:srgbClr val="0B1F3A"/>
                </a:solidFill>
                <a:latin typeface="Montserrat"/>
                <a:ea typeface="Montserrat"/>
                <a:cs typeface="Montserrat"/>
              </a:rPr>
              <a:t>Two decision gates keep the rollout tied to actual results</a:t>
            </a:r>
          </a:p>
        </p:txBody>
      </p:sp>
      <p:sp>
        <p:nvSpPr>
          <p:cNvPr id="4" name="">
            <a:extLst>
              <a:ext uri="{FF2B5EF4-FFF2-40B4-BE49-F238E27FC236}">
                <ns2:creationId id="{2115508E-4D5F-48F5-8FA8-FCB8CD5054ED}"/>
              </a:ext>
            </a:extLst>
          </p:cNvPr>
          <p:cNvSpPr>
            <a:spLocks noGrp="1"/>
          </p:cNvSpPr>
          <p:nvPr/>
        </p:nvSpPr>
        <p:spPr>
          <a:xfrm>
            <a:off x="548640" y="6400800"/>
            <a:ext cx="11087100" cy="9525"/>
          </a:xfrm>
          <a:prstGeom prst="rect">
            <a:avLst/>
          </a:prstGeom>
          <a:solidFill>
            <a:srgbClr val="D1D5DB"/>
          </a:solidFill>
          <a:ln w="0">
            <a:noFill/>
          </a:ln>
        </p:spPr>
      </p:sp>
      <p:sp>
        <p:nvSpPr>
          <p:cNvPr id="5" name="">
            <a:extLst>
              <a:ext uri="{FF2B5EF4-FFF2-40B4-BE49-F238E27FC236}">
                <ns2:creationId id="{C1835FD1-7128-43CD-86C7-4F07536F7C2F}"/>
              </a:ext>
            </a:extLst>
          </p:cNvPr>
          <p:cNvSpPr>
            <a:spLocks noGrp="1"/>
          </p:cNvSpPr>
          <p:nvPr/>
        </p:nvSpPr>
        <p:spPr>
          <a:xfrm>
            <a:off x="548640" y="6467475"/>
            <a:ext cx="10477500" cy="285750"/>
          </a:xfrm>
          <a:prstGeom prst="rect">
            <a:avLst/>
          </a:prstGeom>
          <a:noFill/>
          <a:ln w="0">
            <a:noFill/>
          </a:ln>
        </p:spPr>
        <p:txBody>
          <a:bodyPr wrap="square" lIns="0" tIns="0" rIns="0" bIns="0" anchor="t">
            <a:noAutofit/>
          </a:bodyPr>
          <a:lstStyle>
            <a:defPPr>
              <a:defRPr sz="825" b="0">
                <a:solidFill>
                  <a:srgbClr val="6B7280"/>
                </a:solidFill>
                <a:latin typeface="Lato"/>
                <a:ea typeface="Lato"/>
                <a:cs typeface="Lato"/>
              </a:defRPr>
            </a:defPPr>
          </a:lstStyle>
          <a:p>
            <a:pPr>
              <a:defRPr sz="825" b="0">
                <a:solidFill>
                  <a:srgbClr val="6B7280"/>
                </a:solidFill>
                <a:latin typeface="Lato"/>
                <a:ea typeface="Lato"/>
                <a:cs typeface="Lato"/>
              </a:defRPr>
            </a:pPr>
            <a:r>
              <a:rPr sz="825" b="0">
                <a:solidFill>
                  <a:srgbClr val="6B7280"/>
                </a:solidFill>
                <a:latin typeface="Lato"/>
                <a:ea typeface="Lato"/>
                <a:cs typeface="Lato"/>
              </a:rPr>
              <a:t>Proposed timing from approval. ~90% trunk recapture is the model break-even threshold with other central assumptions fixed.</a:t>
            </a:r>
          </a:p>
        </p:txBody>
      </p:sp>
      <p:sp>
        <p:nvSpPr>
          <p:cNvPr id="6" name="">
            <a:extLst>
              <a:ext uri="{FF2B5EF4-FFF2-40B4-BE49-F238E27FC236}">
                <ns2:creationId id="{70611F1E-C8D8-46C2-A06E-9BE01A739E67}"/>
              </a:ext>
            </a:extLst>
          </p:cNvPr>
          <p:cNvSpPr>
            <a:spLocks noGrp="1"/>
          </p:cNvSpPr>
          <p:nvPr/>
        </p:nvSpPr>
        <p:spPr>
          <a:xfrm>
            <a:off x="11191875" y="6467475"/>
            <a:ext cx="428625" cy="228600"/>
          </a:xfrm>
          <a:prstGeom prst="rect">
            <a:avLst/>
          </a:prstGeom>
          <a:noFill/>
          <a:ln w="0">
            <a:noFill/>
          </a:ln>
        </p:spPr>
        <p:txBody>
          <a:bodyPr wrap="square" lIns="0" tIns="0" rIns="0" bIns="0" anchor="t">
            <a:noAutofit/>
          </a:bodyPr>
          <a:lstStyle>
            <a:defPPr>
              <a:defRPr sz="900" b="0">
                <a:solidFill>
                  <a:srgbClr val="6B7280"/>
                </a:solidFill>
                <a:latin typeface="Lato"/>
                <a:ea typeface="Lato"/>
                <a:cs typeface="Lato"/>
              </a:defRPr>
            </a:defPPr>
          </a:lstStyle>
          <a:p>
            <a:pPr>
              <a:defRPr sz="900" b="0">
                <a:solidFill>
                  <a:srgbClr val="6B7280"/>
                </a:solidFill>
                <a:latin typeface="Lato"/>
                <a:ea typeface="Lato"/>
                <a:cs typeface="Lato"/>
              </a:defRPr>
            </a:pPr>
            <a:r>
              <a:rPr sz="900" b="0">
                <a:solidFill>
                  <a:srgbClr val="6B7280"/>
                </a:solidFill>
                <a:latin typeface="Lato"/>
                <a:ea typeface="Lato"/>
                <a:cs typeface="Lato"/>
              </a:rPr>
              <a:t>19</a:t>
            </a:r>
          </a:p>
        </p:txBody>
      </p:sp>
      <p:sp>
        <p:nvSpPr>
          <p:cNvPr id="7" name="">
            <a:extLst>
              <a:ext uri="{FF2B5EF4-FFF2-40B4-BE49-F238E27FC236}">
                <ns2:creationId id="{04112BD2-CA05-4BCF-A77A-DD84C6ED8961}"/>
              </a:ext>
            </a:extLst>
          </p:cNvPr>
          <p:cNvSpPr>
            <a:spLocks noGrp="1"/>
          </p:cNvSpPr>
          <p:nvPr/>
        </p:nvSpPr>
        <p:spPr>
          <a:xfrm>
            <a:off x="552450" y="1552575"/>
            <a:ext cx="3381375" cy="276225"/>
          </a:xfrm>
          <a:prstGeom prst="rect">
            <a:avLst/>
          </a:prstGeom>
          <a:noFill/>
          <a:ln w="0">
            <a:noFill/>
          </a:ln>
        </p:spPr>
        <p:txBody>
          <a:bodyPr wrap="square" lIns="0" tIns="0" rIns="0" bIns="0" anchor="t">
            <a:noAutofit/>
          </a:bodyPr>
          <a:lstStyle>
            <a:defPPr>
              <a:defRPr sz="1200" b="1">
                <a:solidFill>
                  <a:srgbClr val="E8692A"/>
                </a:solidFill>
                <a:latin typeface="Montserrat"/>
                <a:ea typeface="Montserrat"/>
                <a:cs typeface="Montserrat"/>
              </a:defRPr>
            </a:defPPr>
          </a:lstStyle>
          <a:p>
            <a:pPr>
              <a:defRPr sz="1200" b="1">
                <a:solidFill>
                  <a:srgbClr val="E8692A"/>
                </a:solidFill>
                <a:latin typeface="Montserrat"/>
                <a:ea typeface="Montserrat"/>
                <a:cs typeface="Montserrat"/>
              </a:defRPr>
            </a:pPr>
            <a:r>
              <a:rPr sz="1200" b="1">
                <a:solidFill>
                  <a:srgbClr val="E8692A"/>
                </a:solidFill>
                <a:latin typeface="Montserrat"/>
                <a:ea typeface="Montserrat"/>
                <a:cs typeface="Montserrat"/>
              </a:rPr>
              <a:t>0–3 MONTHS</a:t>
            </a:r>
          </a:p>
        </p:txBody>
      </p:sp>
      <p:sp>
        <p:nvSpPr>
          <p:cNvPr id="8" name="">
            <a:extLst>
              <a:ext uri="{FF2B5EF4-FFF2-40B4-BE49-F238E27FC236}">
                <ns2:creationId id="{AA9C6323-B480-432A-86D1-8D32378016D6}"/>
              </a:ext>
            </a:extLst>
          </p:cNvPr>
          <p:cNvSpPr>
            <a:spLocks noGrp="1"/>
          </p:cNvSpPr>
          <p:nvPr/>
        </p:nvSpPr>
        <p:spPr>
          <a:xfrm>
            <a:off x="552450" y="1943100"/>
            <a:ext cx="3333750" cy="9525"/>
          </a:xfrm>
          <a:prstGeom prst="rect">
            <a:avLst/>
          </a:prstGeom>
          <a:solidFill>
            <a:srgbClr val="0B1F3A"/>
          </a:solidFill>
          <a:ln w="0">
            <a:noFill/>
          </a:ln>
        </p:spPr>
      </p:sp>
      <p:sp>
        <p:nvSpPr>
          <p:cNvPr id="9" name="">
            <a:extLst>
              <a:ext uri="{FF2B5EF4-FFF2-40B4-BE49-F238E27FC236}">
                <ns2:creationId id="{63B59DD7-1BBA-4678-A99E-1ABB02C93954}"/>
              </a:ext>
            </a:extLst>
          </p:cNvPr>
          <p:cNvSpPr>
            <a:spLocks noGrp="1"/>
          </p:cNvSpPr>
          <p:nvPr/>
        </p:nvSpPr>
        <p:spPr>
          <a:xfrm>
            <a:off x="552450" y="2143125"/>
            <a:ext cx="3381375" cy="352425"/>
          </a:xfrm>
          <a:prstGeom prst="rect">
            <a:avLst/>
          </a:prstGeom>
          <a:noFill/>
          <a:ln w="0">
            <a:noFill/>
          </a:ln>
        </p:spPr>
        <p:txBody>
          <a:bodyPr wrap="square" lIns="0" tIns="0" rIns="0" bIns="0" anchor="t">
            <a:noAutofit/>
          </a:bodyPr>
          <a:lstStyle>
            <a:defPPr>
              <a:defRPr sz="1800" b="1">
                <a:solidFill>
                  <a:srgbClr val="0B1F3A"/>
                </a:solidFill>
                <a:latin typeface="Montserrat"/>
                <a:ea typeface="Montserrat"/>
                <a:cs typeface="Montserrat"/>
              </a:defRPr>
            </a:defPPr>
          </a:lstStyle>
          <a:p>
            <a:pPr>
              <a:defRPr sz="1800" b="1">
                <a:solidFill>
                  <a:srgbClr val="0B1F3A"/>
                </a:solidFill>
                <a:latin typeface="Montserrat"/>
                <a:ea typeface="Montserrat"/>
                <a:cs typeface="Montserrat"/>
              </a:defRPr>
            </a:pPr>
            <a:r>
              <a:rPr sz="1800" b="1">
                <a:solidFill>
                  <a:srgbClr val="0B1F3A"/>
                </a:solidFill>
                <a:latin typeface="Montserrat"/>
                <a:ea typeface="Montserrat"/>
                <a:cs typeface="Montserrat"/>
              </a:rPr>
              <a:t>Validate and prepare</a:t>
            </a:r>
          </a:p>
        </p:txBody>
      </p:sp>
      <p:sp>
        <p:nvSpPr>
          <p:cNvPr id="10" name="">
            <a:extLst>
              <a:ext uri="{FF2B5EF4-FFF2-40B4-BE49-F238E27FC236}">
                <ns2:creationId id="{1743E671-74D5-4CFA-8556-0AD90C65C06D}"/>
              </a:ext>
            </a:extLst>
          </p:cNvPr>
          <p:cNvSpPr>
            <a:spLocks noGrp="1"/>
          </p:cNvSpPr>
          <p:nvPr/>
        </p:nvSpPr>
        <p:spPr>
          <a:xfrm>
            <a:off x="552450" y="2609850"/>
            <a:ext cx="3381375" cy="247650"/>
          </a:xfrm>
          <a:prstGeom prst="rect">
            <a:avLst/>
          </a:prstGeom>
          <a:noFill/>
          <a:ln w="0">
            <a:noFill/>
          </a:ln>
        </p:spPr>
        <p:txBody>
          <a:bodyPr wrap="square" lIns="0" tIns="0" rIns="0" bIns="0" anchor="t">
            <a:noAutofit/>
          </a:bodyPr>
          <a:lstStyle>
            <a:defPPr>
              <a:defRPr sz="1200" b="1">
                <a:solidFill>
                  <a:srgbClr val="6B7280"/>
                </a:solidFill>
                <a:latin typeface="Lato"/>
                <a:ea typeface="Lato"/>
                <a:cs typeface="Lato"/>
              </a:defRPr>
            </a:defPPr>
          </a:lstStyle>
          <a:p>
            <a:pPr>
              <a:defRPr sz="1200" b="1">
                <a:solidFill>
                  <a:srgbClr val="6B7280"/>
                </a:solidFill>
                <a:latin typeface="Lato"/>
                <a:ea typeface="Lato"/>
                <a:cs typeface="Lato"/>
              </a:defRPr>
            </a:pPr>
            <a:r>
              <a:rPr sz="1200" b="1">
                <a:solidFill>
                  <a:srgbClr val="6B7280"/>
                </a:solidFill>
                <a:latin typeface="Lato"/>
                <a:ea typeface="Lato"/>
                <a:cs typeface="Lato"/>
              </a:rPr>
              <a:t>Finance + Network Planning</a:t>
            </a:r>
          </a:p>
        </p:txBody>
      </p:sp>
      <p:sp>
        <p:nvSpPr>
          <p:cNvPr id="11" name="">
            <a:extLst>
              <a:ext uri="{FF2B5EF4-FFF2-40B4-BE49-F238E27FC236}">
                <ns2:creationId id="{9034BA31-F3DE-4AB1-BBA4-0DF1F3CF6515}"/>
              </a:ext>
            </a:extLst>
          </p:cNvPr>
          <p:cNvSpPr>
            <a:spLocks noGrp="1"/>
          </p:cNvSpPr>
          <p:nvPr/>
        </p:nvSpPr>
        <p:spPr>
          <a:xfrm>
            <a:off x="552450" y="3028950"/>
            <a:ext cx="3286125" cy="971550"/>
          </a:xfrm>
          <a:prstGeom prst="rect">
            <a:avLst/>
          </a:prstGeom>
          <a:noFill/>
          <a:ln w="0">
            <a:noFill/>
          </a:ln>
        </p:spPr>
        <p:txBody>
          <a:bodyPr wrap="square" lIns="0" tIns="0" rIns="0" bIns="0" anchor="t">
            <a:noAutofit/>
          </a:bodyPr>
          <a:lstStyle>
            <a:defPPr>
              <a:defRPr sz="1500" b="0">
                <a:solidFill>
                  <a:srgbClr val="1F2937"/>
                </a:solidFill>
                <a:latin typeface="Lato"/>
                <a:ea typeface="Lato"/>
                <a:cs typeface="Lato"/>
              </a:defRPr>
            </a:defPPr>
          </a:lstStyle>
          <a:p>
            <a:pPr>
              <a:defRPr sz="1500" b="0">
                <a:solidFill>
                  <a:srgbClr val="1F2937"/>
                </a:solidFill>
                <a:latin typeface="Lato"/>
                <a:ea typeface="Lato"/>
                <a:cs typeface="Lato"/>
              </a:defRPr>
            </a:pPr>
            <a:r>
              <a:rPr sz="1500" b="0">
                <a:solidFill>
                  <a:srgbClr val="1F2937"/>
                </a:solidFill>
                <a:latin typeface="Lato"/>
                <a:ea typeface="Lato"/>
                <a:cs typeface="Lato"/>
              </a:rPr>
              <a:t>Link bookings to departures. Confirm avoidable costs, crew constraints and essential connections.</a:t>
            </a:r>
          </a:p>
        </p:txBody>
      </p:sp>
      <p:sp>
        <p:nvSpPr>
          <p:cNvPr id="12" name="">
            <a:extLst>
              <a:ext uri="{FF2B5EF4-FFF2-40B4-BE49-F238E27FC236}">
                <ns2:creationId id="{4A41F551-593C-477F-BCB1-7646241514E1}"/>
              </a:ext>
            </a:extLst>
          </p:cNvPr>
          <p:cNvSpPr>
            <a:spLocks noGrp="1"/>
          </p:cNvSpPr>
          <p:nvPr/>
        </p:nvSpPr>
        <p:spPr>
          <a:xfrm>
            <a:off x="552450" y="4133850"/>
            <a:ext cx="3381375" cy="219075"/>
          </a:xfrm>
          <a:prstGeom prst="rect">
            <a:avLst/>
          </a:prstGeom>
          <a:noFill/>
          <a:ln w="0">
            <a:noFill/>
          </a:ln>
        </p:spPr>
        <p:txBody>
          <a:bodyPr wrap="square" lIns="0" tIns="0" rIns="0" bIns="0" anchor="t">
            <a:noAutofit/>
          </a:bodyPr>
          <a:lstStyle>
            <a:defPPr>
              <a:defRPr sz="975" b="1">
                <a:solidFill>
                  <a:srgbClr val="E8692A"/>
                </a:solidFill>
                <a:latin typeface="Montserrat"/>
                <a:ea typeface="Montserrat"/>
                <a:cs typeface="Montserrat"/>
              </a:defRPr>
            </a:defPPr>
          </a:lstStyle>
          <a:p>
            <a:pPr>
              <a:defRPr sz="975" b="1">
                <a:solidFill>
                  <a:srgbClr val="E8692A"/>
                </a:solidFill>
                <a:latin typeface="Montserrat"/>
                <a:ea typeface="Montserrat"/>
                <a:cs typeface="Montserrat"/>
              </a:defRPr>
            </a:pPr>
            <a:r>
              <a:rPr sz="975" b="1">
                <a:solidFill>
                  <a:srgbClr val="E8692A"/>
                </a:solidFill>
                <a:latin typeface="Montserrat"/>
                <a:ea typeface="Montserrat"/>
                <a:cs typeface="Montserrat"/>
              </a:rPr>
              <a:t>OUTPUT</a:t>
            </a:r>
          </a:p>
        </p:txBody>
      </p:sp>
      <p:sp>
        <p:nvSpPr>
          <p:cNvPr id="13" name="">
            <a:extLst>
              <a:ext uri="{FF2B5EF4-FFF2-40B4-BE49-F238E27FC236}">
                <ns2:creationId id="{32169C7B-838B-4694-979C-2E64D30E085E}"/>
              </a:ext>
            </a:extLst>
          </p:cNvPr>
          <p:cNvSpPr>
            <a:spLocks noGrp="1"/>
          </p:cNvSpPr>
          <p:nvPr/>
        </p:nvSpPr>
        <p:spPr>
          <a:xfrm>
            <a:off x="552450" y="4419600"/>
            <a:ext cx="3333750" cy="428625"/>
          </a:xfrm>
          <a:prstGeom prst="rect">
            <a:avLst/>
          </a:prstGeom>
          <a:noFill/>
          <a:ln w="0">
            <a:noFill/>
          </a:ln>
        </p:spPr>
        <p:txBody>
          <a:bodyPr wrap="square" lIns="0" tIns="0" rIns="0" bIns="0" anchor="t">
            <a:noAutofit/>
          </a:bodyPr>
          <a:lstStyle>
            <a:defPPr>
              <a:defRPr sz="1425" b="1">
                <a:solidFill>
                  <a:srgbClr val="0B1F3A"/>
                </a:solidFill>
                <a:latin typeface="Lato"/>
                <a:ea typeface="Lato"/>
                <a:cs typeface="Lato"/>
              </a:defRPr>
            </a:defPPr>
          </a:lstStyle>
          <a:p>
            <a:pPr>
              <a:defRPr sz="1425" b="1">
                <a:solidFill>
                  <a:srgbClr val="0B1F3A"/>
                </a:solidFill>
                <a:latin typeface="Lato"/>
                <a:ea typeface="Lato"/>
                <a:cs typeface="Lato"/>
              </a:defRPr>
            </a:pPr>
            <a:r>
              <a:rPr sz="1425" b="1">
                <a:solidFill>
                  <a:srgbClr val="0B1F3A"/>
                </a:solidFill>
                <a:latin typeface="Lato"/>
                <a:ea typeface="Lato"/>
                <a:cs typeface="Lato"/>
              </a:rPr>
              <a:t>Cost baseline and pilot schedule</a:t>
            </a:r>
          </a:p>
        </p:txBody>
      </p:sp>
      <p:sp>
        <p:nvSpPr>
          <p:cNvPr id="14" name="">
            <a:extLst>
              <a:ext uri="{FF2B5EF4-FFF2-40B4-BE49-F238E27FC236}">
                <ns2:creationId id="{B945A885-4267-4FB7-A486-3A722EAFEC5A}"/>
              </a:ext>
            </a:extLst>
          </p:cNvPr>
          <p:cNvSpPr>
            <a:spLocks noGrp="1"/>
          </p:cNvSpPr>
          <p:nvPr/>
        </p:nvSpPr>
        <p:spPr>
          <a:xfrm>
            <a:off x="4381500" y="1552575"/>
            <a:ext cx="3381375" cy="276225"/>
          </a:xfrm>
          <a:prstGeom prst="rect">
            <a:avLst/>
          </a:prstGeom>
          <a:noFill/>
          <a:ln w="0">
            <a:noFill/>
          </a:ln>
        </p:spPr>
        <p:txBody>
          <a:bodyPr wrap="square" lIns="0" tIns="0" rIns="0" bIns="0" anchor="t">
            <a:noAutofit/>
          </a:bodyPr>
          <a:lstStyle>
            <a:defPPr>
              <a:defRPr sz="1200" b="1">
                <a:solidFill>
                  <a:srgbClr val="E8692A"/>
                </a:solidFill>
                <a:latin typeface="Montserrat"/>
                <a:ea typeface="Montserrat"/>
                <a:cs typeface="Montserrat"/>
              </a:defRPr>
            </a:defPPr>
          </a:lstStyle>
          <a:p>
            <a:pPr>
              <a:defRPr sz="1200" b="1">
                <a:solidFill>
                  <a:srgbClr val="E8692A"/>
                </a:solidFill>
                <a:latin typeface="Montserrat"/>
                <a:ea typeface="Montserrat"/>
                <a:cs typeface="Montserrat"/>
              </a:defRPr>
            </a:pPr>
            <a:r>
              <a:rPr sz="1200" b="1">
                <a:solidFill>
                  <a:srgbClr val="E8692A"/>
                </a:solidFill>
                <a:latin typeface="Montserrat"/>
                <a:ea typeface="Montserrat"/>
                <a:cs typeface="Montserrat"/>
              </a:rPr>
              <a:t>3–12 MONTHS</a:t>
            </a:r>
          </a:p>
        </p:txBody>
      </p:sp>
      <p:sp>
        <p:nvSpPr>
          <p:cNvPr id="15" name="">
            <a:extLst>
              <a:ext uri="{FF2B5EF4-FFF2-40B4-BE49-F238E27FC236}">
                <ns2:creationId id="{3B0F1974-C4DC-4674-A71C-9CA4D4CF1A98}"/>
              </a:ext>
            </a:extLst>
          </p:cNvPr>
          <p:cNvSpPr>
            <a:spLocks noGrp="1"/>
          </p:cNvSpPr>
          <p:nvPr/>
        </p:nvSpPr>
        <p:spPr>
          <a:xfrm>
            <a:off x="4381500" y="1943100"/>
            <a:ext cx="3333750" cy="9525"/>
          </a:xfrm>
          <a:prstGeom prst="rect">
            <a:avLst/>
          </a:prstGeom>
          <a:solidFill>
            <a:srgbClr val="0B1F3A"/>
          </a:solidFill>
          <a:ln w="0">
            <a:noFill/>
          </a:ln>
        </p:spPr>
      </p:sp>
      <p:sp>
        <p:nvSpPr>
          <p:cNvPr id="16" name="">
            <a:extLst>
              <a:ext uri="{FF2B5EF4-FFF2-40B4-BE49-F238E27FC236}">
                <ns2:creationId id="{48E0D73C-6E77-41FB-96CF-ADFE83BF3CDA}"/>
              </a:ext>
            </a:extLst>
          </p:cNvPr>
          <p:cNvSpPr>
            <a:spLocks noGrp="1"/>
          </p:cNvSpPr>
          <p:nvPr/>
        </p:nvSpPr>
        <p:spPr>
          <a:xfrm>
            <a:off x="4381500" y="2143125"/>
            <a:ext cx="3381375" cy="352425"/>
          </a:xfrm>
          <a:prstGeom prst="rect">
            <a:avLst/>
          </a:prstGeom>
          <a:noFill/>
          <a:ln w="0">
            <a:noFill/>
          </a:ln>
        </p:spPr>
        <p:txBody>
          <a:bodyPr wrap="square" lIns="0" tIns="0" rIns="0" bIns="0" anchor="t">
            <a:noAutofit/>
          </a:bodyPr>
          <a:lstStyle>
            <a:defPPr>
              <a:defRPr sz="1800" b="1">
                <a:solidFill>
                  <a:srgbClr val="0B1F3A"/>
                </a:solidFill>
                <a:latin typeface="Montserrat"/>
                <a:ea typeface="Montserrat"/>
                <a:cs typeface="Montserrat"/>
              </a:defRPr>
            </a:defPPr>
          </a:lstStyle>
          <a:p>
            <a:pPr>
              <a:defRPr sz="1800" b="1">
                <a:solidFill>
                  <a:srgbClr val="0B1F3A"/>
                </a:solidFill>
                <a:latin typeface="Montserrat"/>
                <a:ea typeface="Montserrat"/>
                <a:cs typeface="Montserrat"/>
              </a:defRPr>
            </a:pPr>
            <a:r>
              <a:rPr sz="1800" b="1">
                <a:solidFill>
                  <a:srgbClr val="0B1F3A"/>
                </a:solidFill>
                <a:latin typeface="Montserrat"/>
                <a:ea typeface="Montserrat"/>
                <a:cs typeface="Montserrat"/>
              </a:rPr>
              <a:t>Pilot and adjust</a:t>
            </a:r>
          </a:p>
        </p:txBody>
      </p:sp>
      <p:sp>
        <p:nvSpPr>
          <p:cNvPr id="17" name="">
            <a:extLst>
              <a:ext uri="{FF2B5EF4-FFF2-40B4-BE49-F238E27FC236}">
                <ns2:creationId id="{889D4F26-3DE0-40EB-BE0B-7B9520E34C36}"/>
              </a:ext>
            </a:extLst>
          </p:cNvPr>
          <p:cNvSpPr>
            <a:spLocks noGrp="1"/>
          </p:cNvSpPr>
          <p:nvPr/>
        </p:nvSpPr>
        <p:spPr>
          <a:xfrm>
            <a:off x="4381500" y="2609850"/>
            <a:ext cx="3381375" cy="247650"/>
          </a:xfrm>
          <a:prstGeom prst="rect">
            <a:avLst/>
          </a:prstGeom>
          <a:noFill/>
          <a:ln w="0">
            <a:noFill/>
          </a:ln>
        </p:spPr>
        <p:txBody>
          <a:bodyPr wrap="square" lIns="0" tIns="0" rIns="0" bIns="0" anchor="t">
            <a:noAutofit/>
          </a:bodyPr>
          <a:lstStyle>
            <a:defPPr>
              <a:defRPr sz="1200" b="1">
                <a:solidFill>
                  <a:srgbClr val="6B7280"/>
                </a:solidFill>
                <a:latin typeface="Lato"/>
                <a:ea typeface="Lato"/>
                <a:cs typeface="Lato"/>
              </a:defRPr>
            </a:defPPr>
          </a:lstStyle>
          <a:p>
            <a:pPr>
              <a:defRPr sz="1200" b="1">
                <a:solidFill>
                  <a:srgbClr val="6B7280"/>
                </a:solidFill>
                <a:latin typeface="Lato"/>
                <a:ea typeface="Lato"/>
                <a:cs typeface="Lato"/>
              </a:defRPr>
            </a:pPr>
            <a:r>
              <a:rPr sz="1200" b="1">
                <a:solidFill>
                  <a:srgbClr val="6B7280"/>
                </a:solidFill>
                <a:latin typeface="Lato"/>
                <a:ea typeface="Lato"/>
                <a:cs typeface="Lato"/>
              </a:rPr>
              <a:t>Operations + Commercial</a:t>
            </a:r>
          </a:p>
        </p:txBody>
      </p:sp>
      <p:sp>
        <p:nvSpPr>
          <p:cNvPr id="18" name="">
            <a:extLst>
              <a:ext uri="{FF2B5EF4-FFF2-40B4-BE49-F238E27FC236}">
                <ns2:creationId id="{3AC824C2-5FE7-41FF-9D87-135C63721502}"/>
              </a:ext>
            </a:extLst>
          </p:cNvPr>
          <p:cNvSpPr>
            <a:spLocks noGrp="1"/>
          </p:cNvSpPr>
          <p:nvPr/>
        </p:nvSpPr>
        <p:spPr>
          <a:xfrm>
            <a:off x="4381500" y="3028950"/>
            <a:ext cx="3286125" cy="971550"/>
          </a:xfrm>
          <a:prstGeom prst="rect">
            <a:avLst/>
          </a:prstGeom>
          <a:noFill/>
          <a:ln w="0">
            <a:noFill/>
          </a:ln>
        </p:spPr>
        <p:txBody>
          <a:bodyPr wrap="square" lIns="0" tIns="0" rIns="0" bIns="0" anchor="t">
            <a:noAutofit/>
          </a:bodyPr>
          <a:lstStyle>
            <a:defPPr>
              <a:defRPr sz="1500" b="0">
                <a:solidFill>
                  <a:srgbClr val="1F2937"/>
                </a:solidFill>
                <a:latin typeface="Lato"/>
                <a:ea typeface="Lato"/>
                <a:cs typeface="Lato"/>
              </a:defRPr>
            </a:defPPr>
          </a:lstStyle>
          <a:p>
            <a:pPr>
              <a:defRPr sz="1500" b="0">
                <a:solidFill>
                  <a:srgbClr val="1F2937"/>
                </a:solidFill>
                <a:latin typeface="Lato"/>
                <a:ea typeface="Lato"/>
                <a:cs typeface="Lato"/>
              </a:defRPr>
            </a:pPr>
            <a:r>
              <a:rPr sz="1500" b="0">
                <a:solidFill>
                  <a:srgbClr val="1F2937"/>
                </a:solidFill>
                <a:latin typeface="Lato"/>
                <a:ea typeface="Lato"/>
                <a:cs typeface="Lato"/>
              </a:rPr>
              <a:t>Pilot trunk reductions, then phase the wider changes. Run new-market trials and revenue tests.</a:t>
            </a:r>
          </a:p>
        </p:txBody>
      </p:sp>
      <p:sp>
        <p:nvSpPr>
          <p:cNvPr id="19" name="">
            <a:extLst>
              <a:ext uri="{FF2B5EF4-FFF2-40B4-BE49-F238E27FC236}">
                <ns2:creationId id="{39870264-36D2-4FEA-A784-DF3D8F805F95}"/>
              </a:ext>
            </a:extLst>
          </p:cNvPr>
          <p:cNvSpPr>
            <a:spLocks noGrp="1"/>
          </p:cNvSpPr>
          <p:nvPr/>
        </p:nvSpPr>
        <p:spPr>
          <a:xfrm>
            <a:off x="4381500" y="4133850"/>
            <a:ext cx="3381375" cy="219075"/>
          </a:xfrm>
          <a:prstGeom prst="rect">
            <a:avLst/>
          </a:prstGeom>
          <a:noFill/>
          <a:ln w="0">
            <a:noFill/>
          </a:ln>
        </p:spPr>
        <p:txBody>
          <a:bodyPr wrap="square" lIns="0" tIns="0" rIns="0" bIns="0" anchor="t">
            <a:noAutofit/>
          </a:bodyPr>
          <a:lstStyle>
            <a:defPPr>
              <a:defRPr sz="975" b="1">
                <a:solidFill>
                  <a:srgbClr val="E8692A"/>
                </a:solidFill>
                <a:latin typeface="Montserrat"/>
                <a:ea typeface="Montserrat"/>
                <a:cs typeface="Montserrat"/>
              </a:defRPr>
            </a:defPPr>
          </a:lstStyle>
          <a:p>
            <a:pPr>
              <a:defRPr sz="975" b="1">
                <a:solidFill>
                  <a:srgbClr val="E8692A"/>
                </a:solidFill>
                <a:latin typeface="Montserrat"/>
                <a:ea typeface="Montserrat"/>
                <a:cs typeface="Montserrat"/>
              </a:defRPr>
            </a:pPr>
            <a:r>
              <a:rPr sz="975" b="1">
                <a:solidFill>
                  <a:srgbClr val="E8692A"/>
                </a:solidFill>
                <a:latin typeface="Montserrat"/>
                <a:ea typeface="Montserrat"/>
                <a:cs typeface="Montserrat"/>
              </a:rPr>
              <a:t>OUTPUT</a:t>
            </a:r>
          </a:p>
        </p:txBody>
      </p:sp>
      <p:sp>
        <p:nvSpPr>
          <p:cNvPr id="20" name="">
            <a:extLst>
              <a:ext uri="{FF2B5EF4-FFF2-40B4-BE49-F238E27FC236}">
                <ns2:creationId id="{68DA9941-E566-42CD-8A63-EF053E07680D}"/>
              </a:ext>
            </a:extLst>
          </p:cNvPr>
          <p:cNvSpPr>
            <a:spLocks noGrp="1"/>
          </p:cNvSpPr>
          <p:nvPr/>
        </p:nvSpPr>
        <p:spPr>
          <a:xfrm>
            <a:off x="4381500" y="4419600"/>
            <a:ext cx="3333750" cy="428625"/>
          </a:xfrm>
          <a:prstGeom prst="rect">
            <a:avLst/>
          </a:prstGeom>
          <a:noFill/>
          <a:ln w="0">
            <a:noFill/>
          </a:ln>
        </p:spPr>
        <p:txBody>
          <a:bodyPr wrap="square" lIns="0" tIns="0" rIns="0" bIns="0" anchor="t">
            <a:noAutofit/>
          </a:bodyPr>
          <a:lstStyle>
            <a:defPPr>
              <a:defRPr sz="1425" b="1">
                <a:solidFill>
                  <a:srgbClr val="0B1F3A"/>
                </a:solidFill>
                <a:latin typeface="Lato"/>
                <a:ea typeface="Lato"/>
                <a:cs typeface="Lato"/>
              </a:defRPr>
            </a:defPPr>
          </a:lstStyle>
          <a:p>
            <a:pPr>
              <a:defRPr sz="1425" b="1">
                <a:solidFill>
                  <a:srgbClr val="0B1F3A"/>
                </a:solidFill>
                <a:latin typeface="Lato"/>
                <a:ea typeface="Lato"/>
                <a:cs typeface="Lato"/>
              </a:defRPr>
            </a:pPr>
            <a:r>
              <a:rPr sz="1425" b="1">
                <a:solidFill>
                  <a:srgbClr val="0B1F3A"/>
                </a:solidFill>
                <a:latin typeface="Lato"/>
                <a:ea typeface="Lato"/>
                <a:cs typeface="Lato"/>
              </a:rPr>
              <a:t>Measured retention and savings</a:t>
            </a:r>
          </a:p>
        </p:txBody>
      </p:sp>
      <p:sp>
        <p:nvSpPr>
          <p:cNvPr id="21" name="">
            <a:extLst>
              <a:ext uri="{FF2B5EF4-FFF2-40B4-BE49-F238E27FC236}">
                <ns2:creationId id="{55A7A10D-45A3-4DD9-B673-3DAAAA4F6538}"/>
              </a:ext>
            </a:extLst>
          </p:cNvPr>
          <p:cNvSpPr>
            <a:spLocks noGrp="1"/>
          </p:cNvSpPr>
          <p:nvPr/>
        </p:nvSpPr>
        <p:spPr>
          <a:xfrm>
            <a:off x="8210550" y="1552575"/>
            <a:ext cx="3381375" cy="276225"/>
          </a:xfrm>
          <a:prstGeom prst="rect">
            <a:avLst/>
          </a:prstGeom>
          <a:noFill/>
          <a:ln w="0">
            <a:noFill/>
          </a:ln>
        </p:spPr>
        <p:txBody>
          <a:bodyPr wrap="square" lIns="0" tIns="0" rIns="0" bIns="0" anchor="t">
            <a:noAutofit/>
          </a:bodyPr>
          <a:lstStyle>
            <a:defPPr>
              <a:defRPr sz="1200" b="1">
                <a:solidFill>
                  <a:srgbClr val="E8692A"/>
                </a:solidFill>
                <a:latin typeface="Montserrat"/>
                <a:ea typeface="Montserrat"/>
                <a:cs typeface="Montserrat"/>
              </a:defRPr>
            </a:defPPr>
          </a:lstStyle>
          <a:p>
            <a:pPr>
              <a:defRPr sz="1200" b="1">
                <a:solidFill>
                  <a:srgbClr val="E8692A"/>
                </a:solidFill>
                <a:latin typeface="Montserrat"/>
                <a:ea typeface="Montserrat"/>
                <a:cs typeface="Montserrat"/>
              </a:defRPr>
            </a:pPr>
            <a:r>
              <a:rPr sz="1200" b="1">
                <a:solidFill>
                  <a:srgbClr val="E8692A"/>
                </a:solidFill>
                <a:latin typeface="Montserrat"/>
                <a:ea typeface="Montserrat"/>
                <a:cs typeface="Montserrat"/>
              </a:rPr>
              <a:t>12+ MONTHS</a:t>
            </a:r>
          </a:p>
        </p:txBody>
      </p:sp>
      <p:sp>
        <p:nvSpPr>
          <p:cNvPr id="22" name="">
            <a:extLst>
              <a:ext uri="{FF2B5EF4-FFF2-40B4-BE49-F238E27FC236}">
                <ns2:creationId id="{5DBBA47D-FB87-498A-82AF-259BCA2505F4}"/>
              </a:ext>
            </a:extLst>
          </p:cNvPr>
          <p:cNvSpPr>
            <a:spLocks noGrp="1"/>
          </p:cNvSpPr>
          <p:nvPr/>
        </p:nvSpPr>
        <p:spPr>
          <a:xfrm>
            <a:off x="8210550" y="1943100"/>
            <a:ext cx="3333750" cy="9525"/>
          </a:xfrm>
          <a:prstGeom prst="rect">
            <a:avLst/>
          </a:prstGeom>
          <a:solidFill>
            <a:srgbClr val="0B1F3A"/>
          </a:solidFill>
          <a:ln w="0">
            <a:noFill/>
          </a:ln>
        </p:spPr>
      </p:sp>
      <p:sp>
        <p:nvSpPr>
          <p:cNvPr id="23" name="">
            <a:extLst>
              <a:ext uri="{FF2B5EF4-FFF2-40B4-BE49-F238E27FC236}">
                <ns2:creationId id="{C34C5B1A-0DAF-4F9E-B6B0-E97BA018B786}"/>
              </a:ext>
            </a:extLst>
          </p:cNvPr>
          <p:cNvSpPr>
            <a:spLocks noGrp="1"/>
          </p:cNvSpPr>
          <p:nvPr/>
        </p:nvSpPr>
        <p:spPr>
          <a:xfrm>
            <a:off x="8210550" y="2143125"/>
            <a:ext cx="3381375" cy="352425"/>
          </a:xfrm>
          <a:prstGeom prst="rect">
            <a:avLst/>
          </a:prstGeom>
          <a:noFill/>
          <a:ln w="0">
            <a:noFill/>
          </a:ln>
        </p:spPr>
        <p:txBody>
          <a:bodyPr wrap="square" lIns="0" tIns="0" rIns="0" bIns="0" anchor="t">
            <a:noAutofit/>
          </a:bodyPr>
          <a:lstStyle>
            <a:defPPr>
              <a:defRPr sz="1800" b="1">
                <a:solidFill>
                  <a:srgbClr val="0B1F3A"/>
                </a:solidFill>
                <a:latin typeface="Montserrat"/>
                <a:ea typeface="Montserrat"/>
                <a:cs typeface="Montserrat"/>
              </a:defRPr>
            </a:defPPr>
          </a:lstStyle>
          <a:p>
            <a:pPr>
              <a:defRPr sz="1800" b="1">
                <a:solidFill>
                  <a:srgbClr val="0B1F3A"/>
                </a:solidFill>
                <a:latin typeface="Montserrat"/>
                <a:ea typeface="Montserrat"/>
                <a:cs typeface="Montserrat"/>
              </a:defRPr>
            </a:pPr>
            <a:r>
              <a:rPr sz="1800" b="1">
                <a:solidFill>
                  <a:srgbClr val="0B1F3A"/>
                </a:solidFill>
                <a:latin typeface="Montserrat"/>
                <a:ea typeface="Montserrat"/>
                <a:cs typeface="Montserrat"/>
              </a:rPr>
              <a:t>Review and recover</a:t>
            </a:r>
          </a:p>
        </p:txBody>
      </p:sp>
      <p:sp>
        <p:nvSpPr>
          <p:cNvPr id="24" name="">
            <a:extLst>
              <a:ext uri="{FF2B5EF4-FFF2-40B4-BE49-F238E27FC236}">
                <ns2:creationId id="{DC4F225E-F05F-4CA2-84D7-4F98EC8FC3B1}"/>
              </a:ext>
            </a:extLst>
          </p:cNvPr>
          <p:cNvSpPr>
            <a:spLocks noGrp="1"/>
          </p:cNvSpPr>
          <p:nvPr/>
        </p:nvSpPr>
        <p:spPr>
          <a:xfrm>
            <a:off x="8210550" y="2609850"/>
            <a:ext cx="3381375" cy="247650"/>
          </a:xfrm>
          <a:prstGeom prst="rect">
            <a:avLst/>
          </a:prstGeom>
          <a:noFill/>
          <a:ln w="0">
            <a:noFill/>
          </a:ln>
        </p:spPr>
        <p:txBody>
          <a:bodyPr wrap="square" lIns="0" tIns="0" rIns="0" bIns="0" anchor="t">
            <a:noAutofit/>
          </a:bodyPr>
          <a:lstStyle>
            <a:defPPr>
              <a:defRPr sz="1200" b="1">
                <a:solidFill>
                  <a:srgbClr val="6B7280"/>
                </a:solidFill>
                <a:latin typeface="Lato"/>
                <a:ea typeface="Lato"/>
                <a:cs typeface="Lato"/>
              </a:defRPr>
            </a:defPPr>
          </a:lstStyle>
          <a:p>
            <a:pPr>
              <a:defRPr sz="1200" b="1">
                <a:solidFill>
                  <a:srgbClr val="6B7280"/>
                </a:solidFill>
                <a:latin typeface="Lato"/>
                <a:ea typeface="Lato"/>
                <a:cs typeface="Lato"/>
              </a:defRPr>
            </a:pPr>
            <a:r>
              <a:rPr sz="1200" b="1">
                <a:solidFill>
                  <a:srgbClr val="6B7280"/>
                </a:solidFill>
                <a:latin typeface="Lato"/>
                <a:ea typeface="Lato"/>
                <a:cs typeface="Lato"/>
              </a:rPr>
              <a:t>CFO + Network Planning</a:t>
            </a:r>
          </a:p>
        </p:txBody>
      </p:sp>
      <p:sp>
        <p:nvSpPr>
          <p:cNvPr id="25" name="">
            <a:extLst>
              <a:ext uri="{FF2B5EF4-FFF2-40B4-BE49-F238E27FC236}">
                <ns2:creationId id="{2FA76D39-7000-4B0C-9BC8-D3312BB16ACD}"/>
              </a:ext>
            </a:extLst>
          </p:cNvPr>
          <p:cNvSpPr>
            <a:spLocks noGrp="1"/>
          </p:cNvSpPr>
          <p:nvPr/>
        </p:nvSpPr>
        <p:spPr>
          <a:xfrm>
            <a:off x="8210550" y="3028950"/>
            <a:ext cx="3286125" cy="971550"/>
          </a:xfrm>
          <a:prstGeom prst="rect">
            <a:avLst/>
          </a:prstGeom>
          <a:noFill/>
          <a:ln w="0">
            <a:noFill/>
          </a:ln>
        </p:spPr>
        <p:txBody>
          <a:bodyPr wrap="square" lIns="0" tIns="0" rIns="0" bIns="0" anchor="t">
            <a:noAutofit/>
          </a:bodyPr>
          <a:lstStyle>
            <a:defPPr>
              <a:defRPr sz="1500" b="0">
                <a:solidFill>
                  <a:srgbClr val="1F2937"/>
                </a:solidFill>
                <a:latin typeface="Lato"/>
                <a:ea typeface="Lato"/>
                <a:cs typeface="Lato"/>
              </a:defRPr>
            </a:defPPr>
          </a:lstStyle>
          <a:p>
            <a:pPr>
              <a:defRPr sz="1500" b="0">
                <a:solidFill>
                  <a:srgbClr val="1F2937"/>
                </a:solidFill>
                <a:latin typeface="Lato"/>
                <a:ea typeface="Lato"/>
                <a:cs typeface="Lato"/>
              </a:defRPr>
            </a:pPr>
            <a:r>
              <a:rPr sz="1500" b="0">
                <a:solidFill>
                  <a:srgbClr val="1F2937"/>
                </a:solidFill>
                <a:latin typeface="Lato"/>
                <a:ea typeface="Lato"/>
                <a:cs typeface="Lato"/>
              </a:rPr>
              <a:t>Review route P&amp;Ls monthly. Add peak flights only with positive incremental contribution.</a:t>
            </a:r>
          </a:p>
        </p:txBody>
      </p:sp>
      <p:sp>
        <p:nvSpPr>
          <p:cNvPr id="26" name="">
            <a:extLst>
              <a:ext uri="{FF2B5EF4-FFF2-40B4-BE49-F238E27FC236}">
                <ns2:creationId id="{CFB43E7F-CD92-4F5C-8876-7987E71DA4AE}"/>
              </a:ext>
            </a:extLst>
          </p:cNvPr>
          <p:cNvSpPr>
            <a:spLocks noGrp="1"/>
          </p:cNvSpPr>
          <p:nvPr/>
        </p:nvSpPr>
        <p:spPr>
          <a:xfrm>
            <a:off x="8210550" y="4133850"/>
            <a:ext cx="3381375" cy="219075"/>
          </a:xfrm>
          <a:prstGeom prst="rect">
            <a:avLst/>
          </a:prstGeom>
          <a:noFill/>
          <a:ln w="0">
            <a:noFill/>
          </a:ln>
        </p:spPr>
        <p:txBody>
          <a:bodyPr wrap="square" lIns="0" tIns="0" rIns="0" bIns="0" anchor="t">
            <a:noAutofit/>
          </a:bodyPr>
          <a:lstStyle>
            <a:defPPr>
              <a:defRPr sz="975" b="1">
                <a:solidFill>
                  <a:srgbClr val="E8692A"/>
                </a:solidFill>
                <a:latin typeface="Montserrat"/>
                <a:ea typeface="Montserrat"/>
                <a:cs typeface="Montserrat"/>
              </a:defRPr>
            </a:defPPr>
          </a:lstStyle>
          <a:p>
            <a:pPr>
              <a:defRPr sz="975" b="1">
                <a:solidFill>
                  <a:srgbClr val="E8692A"/>
                </a:solidFill>
                <a:latin typeface="Montserrat"/>
                <a:ea typeface="Montserrat"/>
                <a:cs typeface="Montserrat"/>
              </a:defRPr>
            </a:pPr>
            <a:r>
              <a:rPr sz="975" b="1">
                <a:solidFill>
                  <a:srgbClr val="E8692A"/>
                </a:solidFill>
                <a:latin typeface="Montserrat"/>
                <a:ea typeface="Montserrat"/>
                <a:cs typeface="Montserrat"/>
              </a:rPr>
              <a:t>OUTPUT</a:t>
            </a:r>
          </a:p>
        </p:txBody>
      </p:sp>
      <p:sp>
        <p:nvSpPr>
          <p:cNvPr id="27" name="">
            <a:extLst>
              <a:ext uri="{FF2B5EF4-FFF2-40B4-BE49-F238E27FC236}">
                <ns2:creationId id="{D27B7956-A72B-4452-9C76-F14757512478}"/>
              </a:ext>
            </a:extLst>
          </p:cNvPr>
          <p:cNvSpPr>
            <a:spLocks noGrp="1"/>
          </p:cNvSpPr>
          <p:nvPr/>
        </p:nvSpPr>
        <p:spPr>
          <a:xfrm>
            <a:off x="8210550" y="4419600"/>
            <a:ext cx="3333750" cy="428625"/>
          </a:xfrm>
          <a:prstGeom prst="rect">
            <a:avLst/>
          </a:prstGeom>
          <a:noFill/>
          <a:ln w="0">
            <a:noFill/>
          </a:ln>
        </p:spPr>
        <p:txBody>
          <a:bodyPr wrap="square" lIns="0" tIns="0" rIns="0" bIns="0" anchor="t">
            <a:noAutofit/>
          </a:bodyPr>
          <a:lstStyle>
            <a:defPPr>
              <a:defRPr sz="1425" b="1">
                <a:solidFill>
                  <a:srgbClr val="0B1F3A"/>
                </a:solidFill>
                <a:latin typeface="Lato"/>
                <a:ea typeface="Lato"/>
                <a:cs typeface="Lato"/>
              </a:defRPr>
            </a:defPPr>
          </a:lstStyle>
          <a:p>
            <a:pPr>
              <a:defRPr sz="1425" b="1">
                <a:solidFill>
                  <a:srgbClr val="0B1F3A"/>
                </a:solidFill>
                <a:latin typeface="Lato"/>
                <a:ea typeface="Lato"/>
                <a:cs typeface="Lato"/>
              </a:defRPr>
            </a:pPr>
            <a:r>
              <a:rPr sz="1425" b="1">
                <a:solidFill>
                  <a:srgbClr val="0B1F3A"/>
                </a:solidFill>
                <a:latin typeface="Lato"/>
                <a:ea typeface="Lato"/>
                <a:cs typeface="Lato"/>
              </a:rPr>
              <a:t>FY27–28 break-even plan</a:t>
            </a:r>
          </a:p>
        </p:txBody>
      </p:sp>
      <p:sp>
        <p:nvSpPr>
          <p:cNvPr id="28" name="">
            <a:extLst>
              <a:ext uri="{FF2B5EF4-FFF2-40B4-BE49-F238E27FC236}">
                <ns2:creationId id="{AA7C6F21-BB5C-4BCD-8413-B8E0F47B83E5}"/>
              </a:ext>
            </a:extLst>
          </p:cNvPr>
          <p:cNvSpPr>
            <a:spLocks noGrp="1"/>
          </p:cNvSpPr>
          <p:nvPr/>
        </p:nvSpPr>
        <p:spPr>
          <a:xfrm>
            <a:off x="552450" y="5038725"/>
            <a:ext cx="5334000" cy="609600"/>
          </a:xfrm>
          <a:prstGeom prst="rect">
            <a:avLst/>
          </a:prstGeom>
          <a:solidFill>
            <a:srgbClr val="F3F5F8"/>
          </a:solidFill>
          <a:ln w="0">
            <a:noFill/>
          </a:ln>
        </p:spPr>
      </p:sp>
      <p:sp>
        <p:nvSpPr>
          <p:cNvPr id="29" name="">
            <a:extLst>
              <a:ext uri="{FF2B5EF4-FFF2-40B4-BE49-F238E27FC236}">
                <ns2:creationId id="{2FB51E7D-E285-4F93-AB97-E2C91CEED6A9}"/>
              </a:ext>
            </a:extLst>
          </p:cNvPr>
          <p:cNvSpPr>
            <a:spLocks noGrp="1"/>
          </p:cNvSpPr>
          <p:nvPr/>
        </p:nvSpPr>
        <p:spPr>
          <a:xfrm>
            <a:off x="714375" y="5133975"/>
            <a:ext cx="4953000" cy="219075"/>
          </a:xfrm>
          <a:prstGeom prst="rect">
            <a:avLst/>
          </a:prstGeom>
          <a:noFill/>
          <a:ln w="0">
            <a:noFill/>
          </a:ln>
        </p:spPr>
        <p:txBody>
          <a:bodyPr wrap="square" lIns="0" tIns="0" rIns="0" bIns="0" anchor="t">
            <a:noAutofit/>
          </a:bodyPr>
          <a:lstStyle>
            <a:defPPr>
              <a:defRPr sz="1275" b="1">
                <a:solidFill>
                  <a:srgbClr val="E8692A"/>
                </a:solidFill>
                <a:latin typeface="Montserrat"/>
                <a:ea typeface="Montserrat"/>
                <a:cs typeface="Montserrat"/>
              </a:defRPr>
            </a:defPPr>
          </a:lstStyle>
          <a:p>
            <a:pPr>
              <a:defRPr sz="1275" b="1">
                <a:solidFill>
                  <a:srgbClr val="E8692A"/>
                </a:solidFill>
                <a:latin typeface="Montserrat"/>
                <a:ea typeface="Montserrat"/>
                <a:cs typeface="Montserrat"/>
              </a:defRPr>
            </a:pPr>
            <a:r>
              <a:rPr sz="1275" b="1">
                <a:solidFill>
                  <a:srgbClr val="E8692A"/>
                </a:solidFill>
                <a:latin typeface="Montserrat"/>
                <a:ea typeface="Montserrat"/>
                <a:cs typeface="Montserrat"/>
              </a:rPr>
              <a:t>GATE 1  Expand or reset the pilot?</a:t>
            </a:r>
          </a:p>
        </p:txBody>
      </p:sp>
      <p:sp>
        <p:nvSpPr>
          <p:cNvPr id="30" name="">
            <a:extLst>
              <a:ext uri="{FF2B5EF4-FFF2-40B4-BE49-F238E27FC236}">
                <ns2:creationId id="{CDF3EC69-B826-4E0F-BC3F-9A113CCACD8F}"/>
              </a:ext>
            </a:extLst>
          </p:cNvPr>
          <p:cNvSpPr>
            <a:spLocks noGrp="1"/>
          </p:cNvSpPr>
          <p:nvPr/>
        </p:nvSpPr>
        <p:spPr>
          <a:xfrm>
            <a:off x="714375" y="5381625"/>
            <a:ext cx="4953000" cy="238125"/>
          </a:xfrm>
          <a:prstGeom prst="rect">
            <a:avLst/>
          </a:prstGeom>
          <a:noFill/>
          <a:ln w="0">
            <a:noFill/>
          </a:ln>
        </p:spPr>
        <p:txBody>
          <a:bodyPr wrap="square" lIns="0" tIns="0" rIns="0" bIns="0" anchor="t">
            <a:noAutofit/>
          </a:bodyPr>
          <a:lstStyle>
            <a:defPPr>
              <a:defRPr sz="1200" b="0">
                <a:solidFill>
                  <a:srgbClr val="1F2937"/>
                </a:solidFill>
                <a:latin typeface="Lato"/>
                <a:ea typeface="Lato"/>
                <a:cs typeface="Lato"/>
              </a:defRPr>
            </a:defPPr>
          </a:lstStyle>
          <a:p>
            <a:pPr>
              <a:defRPr sz="1200" b="0">
                <a:solidFill>
                  <a:srgbClr val="1F2937"/>
                </a:solidFill>
                <a:latin typeface="Lato"/>
                <a:ea typeface="Lato"/>
                <a:cs typeface="Lato"/>
              </a:defRPr>
            </a:pPr>
            <a:r>
              <a:rPr sz="1200" b="0">
                <a:solidFill>
                  <a:srgbClr val="1F2937"/>
                </a:solidFill>
                <a:latin typeface="Lato"/>
                <a:ea typeface="Lato"/>
                <a:cs typeface="Lato"/>
              </a:rPr>
              <a:t>Proceed only when retention and verified savings support it.</a:t>
            </a:r>
          </a:p>
        </p:txBody>
      </p:sp>
      <p:sp>
        <p:nvSpPr>
          <p:cNvPr id="31" name="">
            <a:extLst>
              <a:ext uri="{FF2B5EF4-FFF2-40B4-BE49-F238E27FC236}">
                <ns2:creationId id="{EBA10586-147A-4AB8-A707-DD35CB45547B}"/>
              </a:ext>
            </a:extLst>
          </p:cNvPr>
          <p:cNvSpPr>
            <a:spLocks noGrp="1"/>
          </p:cNvSpPr>
          <p:nvPr/>
        </p:nvSpPr>
        <p:spPr>
          <a:xfrm>
            <a:off x="6286500" y="5038725"/>
            <a:ext cx="5334000" cy="609600"/>
          </a:xfrm>
          <a:prstGeom prst="rect">
            <a:avLst/>
          </a:prstGeom>
          <a:solidFill>
            <a:srgbClr val="F3F5F8"/>
          </a:solidFill>
          <a:ln w="0">
            <a:noFill/>
          </a:ln>
        </p:spPr>
      </p:sp>
      <p:sp>
        <p:nvSpPr>
          <p:cNvPr id="32" name="">
            <a:extLst>
              <a:ext uri="{FF2B5EF4-FFF2-40B4-BE49-F238E27FC236}">
                <ns2:creationId id="{0E5BB520-790F-41C6-BC57-EC49EE3357AD}"/>
              </a:ext>
            </a:extLst>
          </p:cNvPr>
          <p:cNvSpPr>
            <a:spLocks noGrp="1"/>
          </p:cNvSpPr>
          <p:nvPr/>
        </p:nvSpPr>
        <p:spPr>
          <a:xfrm>
            <a:off x="6448425" y="5133975"/>
            <a:ext cx="4953000" cy="219075"/>
          </a:xfrm>
          <a:prstGeom prst="rect">
            <a:avLst/>
          </a:prstGeom>
          <a:noFill/>
          <a:ln w="0">
            <a:noFill/>
          </a:ln>
        </p:spPr>
        <p:txBody>
          <a:bodyPr wrap="square" lIns="0" tIns="0" rIns="0" bIns="0" anchor="t">
            <a:noAutofit/>
          </a:bodyPr>
          <a:lstStyle>
            <a:defPPr>
              <a:defRPr sz="1275" b="1">
                <a:solidFill>
                  <a:srgbClr val="E8692A"/>
                </a:solidFill>
                <a:latin typeface="Montserrat"/>
                <a:ea typeface="Montserrat"/>
                <a:cs typeface="Montserrat"/>
              </a:defRPr>
            </a:defPPr>
          </a:lstStyle>
          <a:p>
            <a:pPr>
              <a:defRPr sz="1275" b="1">
                <a:solidFill>
                  <a:srgbClr val="E8692A"/>
                </a:solidFill>
                <a:latin typeface="Montserrat"/>
                <a:ea typeface="Montserrat"/>
                <a:cs typeface="Montserrat"/>
              </a:defRPr>
            </a:pPr>
            <a:r>
              <a:rPr sz="1275" b="1">
                <a:solidFill>
                  <a:srgbClr val="E8692A"/>
                </a:solidFill>
                <a:latin typeface="Montserrat"/>
                <a:ea typeface="Montserrat"/>
                <a:cs typeface="Montserrat"/>
              </a:rPr>
              <a:t>GATE 2  Continue or exit new-market trials?</a:t>
            </a:r>
          </a:p>
        </p:txBody>
      </p:sp>
      <p:sp>
        <p:nvSpPr>
          <p:cNvPr id="33" name="">
            <a:extLst>
              <a:ext uri="{FF2B5EF4-FFF2-40B4-BE49-F238E27FC236}">
                <ns2:creationId id="{B56B5078-098D-4022-8C81-AC1995A67FE0}"/>
              </a:ext>
            </a:extLst>
          </p:cNvPr>
          <p:cNvSpPr>
            <a:spLocks noGrp="1"/>
          </p:cNvSpPr>
          <p:nvPr/>
        </p:nvSpPr>
        <p:spPr>
          <a:xfrm>
            <a:off x="6448425" y="5381625"/>
            <a:ext cx="4953000" cy="238125"/>
          </a:xfrm>
          <a:prstGeom prst="rect">
            <a:avLst/>
          </a:prstGeom>
          <a:noFill/>
          <a:ln w="0">
            <a:noFill/>
          </a:ln>
        </p:spPr>
        <p:txBody>
          <a:bodyPr wrap="square" lIns="0" tIns="0" rIns="0" bIns="0" anchor="t">
            <a:noAutofit/>
          </a:bodyPr>
          <a:lstStyle>
            <a:defPPr>
              <a:defRPr sz="1200" b="0">
                <a:solidFill>
                  <a:srgbClr val="1F2937"/>
                </a:solidFill>
                <a:latin typeface="Lato"/>
                <a:ea typeface="Lato"/>
                <a:cs typeface="Lato"/>
              </a:defRPr>
            </a:defPPr>
          </a:lstStyle>
          <a:p>
            <a:pPr>
              <a:defRPr sz="1200" b="0">
                <a:solidFill>
                  <a:srgbClr val="1F2937"/>
                </a:solidFill>
                <a:latin typeface="Lato"/>
                <a:ea typeface="Lato"/>
                <a:cs typeface="Lato"/>
              </a:defRPr>
            </a:pPr>
            <a:r>
              <a:rPr sz="1200" b="0">
                <a:solidFill>
                  <a:srgbClr val="1F2937"/>
                </a:solidFill>
                <a:latin typeface="Lato"/>
                <a:ea typeface="Lato"/>
                <a:cs typeface="Lato"/>
              </a:rPr>
              <a:t>Six-month review against a capped loss budget and recovery plan.</a:t>
            </a:r>
          </a:p>
        </p:txBody>
      </p:sp>
      <p:sp>
        <p:nvSpPr>
          <p:cNvPr id="34" name="">
            <a:extLst>
              <a:ext uri="{FF2B5EF4-FFF2-40B4-BE49-F238E27FC236}">
                <ns2:creationId id="{E7FC4719-B48F-416E-A1C8-F323FDAF4301}"/>
              </a:ext>
            </a:extLst>
          </p:cNvPr>
          <p:cNvSpPr>
            <a:spLocks noGrp="1"/>
          </p:cNvSpPr>
          <p:nvPr/>
        </p:nvSpPr>
        <p:spPr>
          <a:xfrm>
            <a:off x="552450" y="5905500"/>
            <a:ext cx="11049000" cy="352425"/>
          </a:xfrm>
          <a:prstGeom prst="rect">
            <a:avLst/>
          </a:prstGeom>
          <a:noFill/>
          <a:ln w="0">
            <a:noFill/>
          </a:ln>
        </p:spPr>
        <p:txBody>
          <a:bodyPr wrap="square" lIns="0" tIns="0" rIns="0" bIns="0" anchor="t">
            <a:noAutofit/>
          </a:bodyPr>
          <a:lstStyle>
            <a:defPPr>
              <a:defRPr sz="1275" b="1">
                <a:solidFill>
                  <a:srgbClr val="0B1F3A"/>
                </a:solidFill>
                <a:latin typeface="Lato"/>
                <a:ea typeface="Lato"/>
                <a:cs typeface="Lato"/>
              </a:defRPr>
            </a:defPPr>
          </a:lstStyle>
          <a:p>
            <a:pPr>
              <a:defRPr sz="1275" b="1">
                <a:solidFill>
                  <a:srgbClr val="0B1F3A"/>
                </a:solidFill>
                <a:latin typeface="Lato"/>
                <a:ea typeface="Lato"/>
                <a:cs typeface="Lato"/>
              </a:defRPr>
            </a:pPr>
            <a:r>
              <a:rPr sz="1275" b="1">
                <a:solidFill>
                  <a:srgbClr val="0B1F3A"/>
                </a:solidFill>
                <a:latin typeface="Lato"/>
                <a:ea typeface="Lato"/>
                <a:cs typeface="Lato"/>
              </a:rPr>
              <a:t>MONTHLY CHECKS    ≥90% trunk recapture*     Realized savings     Route contribution     Essential connections</a:t>
            </a:r>
          </a:p>
        </p:txBody>
      </p:sp>
    </p:spTree>
  </p:cSld>
  <p:clrMapOvr>
    <a:masterClrMapping/>
  </p:clrMapOvr>
</p:sld>
</file>

<file path=ppt/slides/slide20.xml><?xml version="1.0" encoding="utf-8"?>
<p:sld xmlns:a="http://schemas.openxmlformats.org/drawingml/2006/main" xmlns:ns2="http://schemas.microsoft.com/office/drawing/2014/main" xmlns:p="http://schemas.openxmlformats.org/presentationml/2006/main">
  <p:cSld>
    <p:spTree>
      <p:nvGrpSpPr>
        <p:cNvPr id="1" name=""/>
        <p:cNvGrpSpPr/>
        <p:nvPr/>
      </p:nvGrpSpPr>
      <p:grpSpPr>
        <a:xfrm/>
      </p:grpSpPr>
      <p:sp>
        <p:nvSpPr>
          <p:cNvPr id="24" name="">
            <a:extLst>
              <a:ext uri="{FF2B5EF4-FFF2-40B4-BE49-F238E27FC236}">
                <ns2:creationId id="{43D7897B-BD59-4EC1-B9B6-1E8786609287}"/>
              </a:ext>
            </a:extLst>
          </p:cNvPr>
          <p:cNvSpPr>
            <a:spLocks noGrp="1"/>
          </p:cNvSpPr>
          <p:nvPr/>
        </p:nvSpPr>
        <p:spPr>
          <a:xfrm>
            <a:off x="0" y="0"/>
            <a:ext cx="12192000" cy="109728"/>
          </a:xfrm>
          <a:prstGeom prst="rect">
            <a:avLst/>
          </a:prstGeom>
          <a:solidFill>
            <a:srgbClr val="0B1F3A"/>
          </a:solidFill>
          <a:ln w="0">
            <a:noFill/>
          </a:ln>
        </p:spPr>
      </p:sp>
      <p:sp>
        <p:nvSpPr>
          <p:cNvPr id="2" name="">
            <a:extLst>
              <a:ext uri="{FF2B5EF4-FFF2-40B4-BE49-F238E27FC236}">
                <ns2:creationId id="{4B91516A-3368-45A9-B9F1-6BF764288E58}"/>
              </a:ext>
            </a:extLst>
          </p:cNvPr>
          <p:cNvSpPr>
            <a:spLocks noGrp="1"/>
          </p:cNvSpPr>
          <p:nvPr/>
        </p:nvSpPr>
        <p:spPr>
          <a:xfrm>
            <a:off x="548640" y="320040"/>
            <a:ext cx="10477500" cy="276225"/>
          </a:xfrm>
          <a:prstGeom prst="rect">
            <a:avLst/>
          </a:prstGeom>
          <a:noFill/>
          <a:ln w="0">
            <a:noFill/>
          </a:ln>
        </p:spPr>
        <p:txBody>
          <a:bodyPr wrap="square" lIns="0" tIns="0" rIns="0" bIns="0" anchor="t">
            <a:noAutofit/>
          </a:bodyPr>
          <a:lstStyle>
            <a:defPPr>
              <a:defRPr sz="1100" b="1">
                <a:solidFill>
                  <a:srgbClr val="E8692A"/>
                </a:solidFill>
                <a:latin typeface="Montserrat"/>
                <a:ea typeface="Montserrat"/>
                <a:cs typeface="Montserrat"/>
              </a:defRPr>
            </a:defPPr>
          </a:lstStyle>
          <a:p>
            <a:pPr>
              <a:defRPr sz="1100" b="1">
                <a:solidFill>
                  <a:srgbClr val="E8692A"/>
                </a:solidFill>
                <a:latin typeface="Montserrat"/>
                <a:ea typeface="Montserrat"/>
                <a:cs typeface="Montserrat"/>
              </a:defRPr>
            </a:pPr>
            <a:r>
              <a:rPr sz="1100" b="1">
                <a:solidFill>
                  <a:srgbClr val="E8692A"/>
                </a:solidFill>
                <a:latin typeface="Montserrat"/>
                <a:ea typeface="Montserrat"/>
                <a:cs typeface="Montserrat"/>
              </a:rPr>
              <a:t>RISKS</a:t>
            </a:r>
          </a:p>
        </p:txBody>
      </p:sp>
      <p:sp>
        <p:nvSpPr>
          <p:cNvPr id="3" name="">
            <a:extLst>
              <a:ext uri="{FF2B5EF4-FFF2-40B4-BE49-F238E27FC236}">
                <ns2:creationId id="{784CAB3B-3863-4092-8B68-BC64DE21FEFE}"/>
              </a:ext>
            </a:extLst>
          </p:cNvPr>
          <p:cNvSpPr>
            <a:spLocks noGrp="1"/>
          </p:cNvSpPr>
          <p:nvPr/>
        </p:nvSpPr>
        <p:spPr>
          <a:xfrm>
            <a:off x="548640" y="619125"/>
            <a:ext cx="11087100" cy="762000"/>
          </a:xfrm>
          <a:prstGeom prst="rect">
            <a:avLst/>
          </a:prstGeom>
          <a:noFill/>
          <a:ln w="0">
            <a:noFill/>
          </a:ln>
        </p:spPr>
        <p:txBody>
          <a:bodyPr wrap="square" lIns="0" tIns="0" rIns="0" bIns="0" anchor="t">
            <a:noAutofit/>
          </a:bodyPr>
          <a:lstStyle>
            <a:defPPr>
              <a:defRPr sz="2400" b="1">
                <a:solidFill>
                  <a:srgbClr val="0B1F3A"/>
                </a:solidFill>
                <a:latin typeface="Montserrat"/>
                <a:ea typeface="Montserrat"/>
                <a:cs typeface="Montserrat"/>
              </a:defRPr>
            </a:defPPr>
          </a:lstStyle>
          <a:p>
            <a:pPr>
              <a:defRPr sz="2400" b="1">
                <a:solidFill>
                  <a:srgbClr val="0B1F3A"/>
                </a:solidFill>
                <a:latin typeface="Montserrat"/>
                <a:ea typeface="Montserrat"/>
                <a:cs typeface="Montserrat"/>
              </a:defRPr>
            </a:pPr>
            <a:r>
              <a:rPr sz="2400" b="1">
                <a:solidFill>
                  <a:srgbClr val="0B1F3A"/>
                </a:solidFill>
                <a:latin typeface="Montserrat"/>
                <a:ea typeface="Montserrat"/>
                <a:cs typeface="Montserrat"/>
              </a:rPr>
              <a:t>Revenue retention and avoidable costs are the two critical tests</a:t>
            </a:r>
          </a:p>
        </p:txBody>
      </p:sp>
      <p:sp>
        <p:nvSpPr>
          <p:cNvPr id="4" name="">
            <a:extLst>
              <a:ext uri="{FF2B5EF4-FFF2-40B4-BE49-F238E27FC236}">
                <ns2:creationId id="{7B6D3F03-17F2-46FD-9044-B48F23F9643A}"/>
              </a:ext>
            </a:extLst>
          </p:cNvPr>
          <p:cNvSpPr>
            <a:spLocks noGrp="1"/>
          </p:cNvSpPr>
          <p:nvPr/>
        </p:nvSpPr>
        <p:spPr>
          <a:xfrm>
            <a:off x="548640" y="6400800"/>
            <a:ext cx="11087100" cy="9525"/>
          </a:xfrm>
          <a:prstGeom prst="rect">
            <a:avLst/>
          </a:prstGeom>
          <a:solidFill>
            <a:srgbClr val="D1D5DB"/>
          </a:solidFill>
          <a:ln w="0">
            <a:noFill/>
          </a:ln>
        </p:spPr>
      </p:sp>
      <p:sp>
        <p:nvSpPr>
          <p:cNvPr id="5" name="">
            <a:extLst>
              <a:ext uri="{FF2B5EF4-FFF2-40B4-BE49-F238E27FC236}">
                <ns2:creationId id="{1D7BB3E3-CD04-4B58-AC6A-0DE700628DB4}"/>
              </a:ext>
            </a:extLst>
          </p:cNvPr>
          <p:cNvSpPr>
            <a:spLocks noGrp="1"/>
          </p:cNvSpPr>
          <p:nvPr/>
        </p:nvSpPr>
        <p:spPr>
          <a:xfrm>
            <a:off x="548640" y="6467475"/>
            <a:ext cx="10477500" cy="285750"/>
          </a:xfrm>
          <a:prstGeom prst="rect">
            <a:avLst/>
          </a:prstGeom>
          <a:noFill/>
          <a:ln w="0">
            <a:noFill/>
          </a:ln>
        </p:spPr>
        <p:txBody>
          <a:bodyPr wrap="square" lIns="0" tIns="0" rIns="0" bIns="0" anchor="t">
            <a:noAutofit/>
          </a:bodyPr>
          <a:lstStyle>
            <a:defPPr>
              <a:defRPr sz="825" b="0">
                <a:solidFill>
                  <a:srgbClr val="6B7280"/>
                </a:solidFill>
                <a:latin typeface="Lato"/>
                <a:ea typeface="Lato"/>
                <a:cs typeface="Lato"/>
              </a:defRPr>
            </a:defPPr>
          </a:lstStyle>
          <a:p>
            <a:pPr>
              <a:defRPr sz="825" b="0">
                <a:solidFill>
                  <a:srgbClr val="6B7280"/>
                </a:solidFill>
                <a:latin typeface="Lato"/>
                <a:ea typeface="Lato"/>
                <a:cs typeface="Lato"/>
              </a:defRPr>
            </a:pPr>
            <a:r>
              <a:rPr sz="825" b="0">
                <a:solidFill>
                  <a:srgbClr val="6B7280"/>
                </a:solidFill>
                <a:latin typeface="Lato"/>
                <a:ea typeface="Lato"/>
                <a:cs typeface="Lato"/>
              </a:rPr>
              <a:t>Source: team alternatives model and sensitivity checks. Estimates are conditional, not guaranteed savings or net profit.</a:t>
            </a:r>
          </a:p>
        </p:txBody>
      </p:sp>
      <p:sp>
        <p:nvSpPr>
          <p:cNvPr id="6" name="">
            <a:extLst>
              <a:ext uri="{FF2B5EF4-FFF2-40B4-BE49-F238E27FC236}">
                <ns2:creationId id="{4AC77538-E6EB-45C5-B9D0-BEDAD4095E3E}"/>
              </a:ext>
            </a:extLst>
          </p:cNvPr>
          <p:cNvSpPr>
            <a:spLocks noGrp="1"/>
          </p:cNvSpPr>
          <p:nvPr/>
        </p:nvSpPr>
        <p:spPr>
          <a:xfrm>
            <a:off x="11191875" y="6467475"/>
            <a:ext cx="428625" cy="228600"/>
          </a:xfrm>
          <a:prstGeom prst="rect">
            <a:avLst/>
          </a:prstGeom>
          <a:noFill/>
          <a:ln w="0">
            <a:noFill/>
          </a:ln>
        </p:spPr>
        <p:txBody>
          <a:bodyPr wrap="square" lIns="0" tIns="0" rIns="0" bIns="0" anchor="t">
            <a:noAutofit/>
          </a:bodyPr>
          <a:lstStyle>
            <a:defPPr>
              <a:defRPr sz="900" b="0">
                <a:solidFill>
                  <a:srgbClr val="6B7280"/>
                </a:solidFill>
                <a:latin typeface="Lato"/>
                <a:ea typeface="Lato"/>
                <a:cs typeface="Lato"/>
              </a:defRPr>
            </a:defPPr>
          </a:lstStyle>
          <a:p>
            <a:pPr>
              <a:defRPr sz="900" b="0">
                <a:solidFill>
                  <a:srgbClr val="6B7280"/>
                </a:solidFill>
                <a:latin typeface="Lato"/>
                <a:ea typeface="Lato"/>
                <a:cs typeface="Lato"/>
              </a:defRPr>
            </a:pPr>
            <a:r>
              <a:rPr sz="900" b="0">
                <a:solidFill>
                  <a:srgbClr val="6B7280"/>
                </a:solidFill>
                <a:latin typeface="Lato"/>
                <a:ea typeface="Lato"/>
                <a:cs typeface="Lato"/>
              </a:rPr>
              <a:t>20</a:t>
            </a:r>
          </a:p>
        </p:txBody>
      </p:sp>
      <p:sp>
        <p:nvSpPr>
          <p:cNvPr id="7" name="">
            <a:extLst>
              <a:ext uri="{FF2B5EF4-FFF2-40B4-BE49-F238E27FC236}">
                <ns2:creationId id="{C3F76970-F841-4E7E-B774-05B3A91CD372}"/>
              </a:ext>
            </a:extLst>
          </p:cNvPr>
          <p:cNvSpPr>
            <a:spLocks noGrp="1"/>
          </p:cNvSpPr>
          <p:nvPr/>
        </p:nvSpPr>
        <p:spPr>
          <a:xfrm>
            <a:off x="552450" y="1543050"/>
            <a:ext cx="5191125" cy="333375"/>
          </a:xfrm>
          <a:prstGeom prst="rect">
            <a:avLst/>
          </a:prstGeom>
          <a:noFill/>
          <a:ln w="0">
            <a:noFill/>
          </a:ln>
        </p:spPr>
        <p:txBody>
          <a:bodyPr wrap="square" lIns="0" tIns="0" rIns="0" bIns="0" anchor="t">
            <a:noAutofit/>
          </a:bodyPr>
          <a:lstStyle>
            <a:defPPr>
              <a:defRPr sz="1200" b="1">
                <a:solidFill>
                  <a:srgbClr val="E8692A"/>
                </a:solidFill>
                <a:latin typeface="Montserrat"/>
                <a:ea typeface="Montserrat"/>
                <a:cs typeface="Montserrat"/>
              </a:defRPr>
            </a:defPPr>
          </a:lstStyle>
          <a:p>
            <a:pPr>
              <a:defRPr sz="1200" b="1">
                <a:solidFill>
                  <a:srgbClr val="E8692A"/>
                </a:solidFill>
                <a:latin typeface="Montserrat"/>
                <a:ea typeface="Montserrat"/>
                <a:cs typeface="Montserrat"/>
              </a:defRPr>
            </a:pPr>
            <a:r>
              <a:rPr sz="1200" b="1">
                <a:solidFill>
                  <a:srgbClr val="E8692A"/>
                </a:solidFill>
                <a:latin typeface="Montserrat"/>
                <a:ea typeface="Montserrat"/>
                <a:cs typeface="Montserrat"/>
              </a:rPr>
              <a:t>REVENUE RETENTION</a:t>
            </a:r>
          </a:p>
        </p:txBody>
      </p:sp>
      <p:sp>
        <p:nvSpPr>
          <p:cNvPr id="8" name="">
            <a:extLst>
              <a:ext uri="{FF2B5EF4-FFF2-40B4-BE49-F238E27FC236}">
                <ns2:creationId id="{6BE8A96C-1B7F-462B-A771-BEA196A3E3FF}"/>
              </a:ext>
            </a:extLst>
          </p:cNvPr>
          <p:cNvSpPr>
            <a:spLocks noGrp="1"/>
          </p:cNvSpPr>
          <p:nvPr/>
        </p:nvSpPr>
        <p:spPr>
          <a:xfrm>
            <a:off x="6286500" y="1543050"/>
            <a:ext cx="5286375" cy="333375"/>
          </a:xfrm>
          <a:prstGeom prst="rect">
            <a:avLst/>
          </a:prstGeom>
          <a:noFill/>
          <a:ln w="0">
            <a:noFill/>
          </a:ln>
        </p:spPr>
        <p:txBody>
          <a:bodyPr wrap="square" lIns="0" tIns="0" rIns="0" bIns="0" anchor="t">
            <a:noAutofit/>
          </a:bodyPr>
          <a:lstStyle>
            <a:defPPr>
              <a:defRPr sz="1200" b="1">
                <a:solidFill>
                  <a:srgbClr val="E8692A"/>
                </a:solidFill>
                <a:latin typeface="Montserrat"/>
                <a:ea typeface="Montserrat"/>
                <a:cs typeface="Montserrat"/>
              </a:defRPr>
            </a:defPPr>
          </a:lstStyle>
          <a:p>
            <a:pPr>
              <a:defRPr sz="1200" b="1">
                <a:solidFill>
                  <a:srgbClr val="E8692A"/>
                </a:solidFill>
                <a:latin typeface="Montserrat"/>
                <a:ea typeface="Montserrat"/>
                <a:cs typeface="Montserrat"/>
              </a:defRPr>
            </a:pPr>
            <a:r>
              <a:rPr sz="1200" b="1">
                <a:solidFill>
                  <a:srgbClr val="E8692A"/>
                </a:solidFill>
                <a:latin typeface="Montserrat"/>
                <a:ea typeface="Montserrat"/>
                <a:cs typeface="Montserrat"/>
              </a:rPr>
              <a:t>COST AVOIDABILITY</a:t>
            </a:r>
          </a:p>
        </p:txBody>
      </p:sp>
      <p:sp>
        <p:nvSpPr>
          <p:cNvPr id="9" name="">
            <a:extLst>
              <a:ext uri="{FF2B5EF4-FFF2-40B4-BE49-F238E27FC236}">
                <ns2:creationId id="{5F8FF1B0-A2BE-4172-B03C-9D405BC95CD3}"/>
              </a:ext>
            </a:extLst>
          </p:cNvPr>
          <p:cNvSpPr>
            <a:spLocks noGrp="1"/>
          </p:cNvSpPr>
          <p:nvPr/>
        </p:nvSpPr>
        <p:spPr>
          <a:xfrm>
            <a:off x="552450" y="1933575"/>
            <a:ext cx="4953000" cy="790575"/>
          </a:xfrm>
          <a:prstGeom prst="rect">
            <a:avLst/>
          </a:prstGeom>
          <a:noFill/>
          <a:ln w="0">
            <a:noFill/>
          </a:ln>
        </p:spPr>
        <p:txBody>
          <a:bodyPr wrap="square" lIns="0" tIns="0" rIns="0" bIns="0" anchor="t">
            <a:noAutofit/>
          </a:bodyPr>
          <a:lstStyle>
            <a:defPPr>
              <a:defRPr sz="4800" b="1">
                <a:solidFill>
                  <a:srgbClr val="0B1F3A"/>
                </a:solidFill>
                <a:latin typeface="Montserrat"/>
                <a:ea typeface="Montserrat"/>
                <a:cs typeface="Montserrat"/>
              </a:defRPr>
            </a:defPPr>
          </a:lstStyle>
          <a:p>
            <a:pPr>
              <a:defRPr sz="4800" b="1">
                <a:solidFill>
                  <a:srgbClr val="0B1F3A"/>
                </a:solidFill>
                <a:latin typeface="Montserrat"/>
                <a:ea typeface="Montserrat"/>
                <a:cs typeface="Montserrat"/>
              </a:defRPr>
            </a:pPr>
            <a:r>
              <a:rPr sz="4800" b="1">
                <a:solidFill>
                  <a:srgbClr val="0B1F3A"/>
                </a:solidFill>
                <a:latin typeface="Montserrat"/>
                <a:ea typeface="Montserrat"/>
                <a:cs typeface="Montserrat"/>
              </a:rPr>
              <a:t>≈90%</a:t>
            </a:r>
          </a:p>
        </p:txBody>
      </p:sp>
      <p:sp>
        <p:nvSpPr>
          <p:cNvPr id="10" name="">
            <a:extLst>
              <a:ext uri="{FF2B5EF4-FFF2-40B4-BE49-F238E27FC236}">
                <ns2:creationId id="{5ADD77BF-1D5A-4176-9FFE-DCF5E5F2B95F}"/>
              </a:ext>
            </a:extLst>
          </p:cNvPr>
          <p:cNvSpPr>
            <a:spLocks noGrp="1"/>
          </p:cNvSpPr>
          <p:nvPr/>
        </p:nvSpPr>
        <p:spPr>
          <a:xfrm>
            <a:off x="6286500" y="1933575"/>
            <a:ext cx="5286375" cy="790575"/>
          </a:xfrm>
          <a:prstGeom prst="rect">
            <a:avLst/>
          </a:prstGeom>
          <a:noFill/>
          <a:ln w="0">
            <a:noFill/>
          </a:ln>
        </p:spPr>
        <p:txBody>
          <a:bodyPr wrap="square" lIns="0" tIns="0" rIns="0" bIns="0" anchor="t">
            <a:noAutofit/>
          </a:bodyPr>
          <a:lstStyle>
            <a:defPPr>
              <a:defRPr sz="4800" b="1">
                <a:solidFill>
                  <a:srgbClr val="0B1F3A"/>
                </a:solidFill>
                <a:latin typeface="Montserrat"/>
                <a:ea typeface="Montserrat"/>
                <a:cs typeface="Montserrat"/>
              </a:defRPr>
            </a:defPPr>
          </a:lstStyle>
          <a:p>
            <a:pPr>
              <a:defRPr sz="4800" b="1">
                <a:solidFill>
                  <a:srgbClr val="0B1F3A"/>
                </a:solidFill>
                <a:latin typeface="Montserrat"/>
                <a:ea typeface="Montserrat"/>
                <a:cs typeface="Montserrat"/>
              </a:defRPr>
            </a:pPr>
            <a:r>
              <a:rPr sz="4800" b="1">
                <a:solidFill>
                  <a:srgbClr val="0B1F3A"/>
                </a:solidFill>
                <a:latin typeface="Montserrat"/>
                <a:ea typeface="Montserrat"/>
                <a:cs typeface="Montserrat"/>
              </a:rPr>
              <a:t>−$7.4M</a:t>
            </a:r>
          </a:p>
        </p:txBody>
      </p:sp>
      <p:sp>
        <p:nvSpPr>
          <p:cNvPr id="11" name="">
            <a:extLst>
              <a:ext uri="{FF2B5EF4-FFF2-40B4-BE49-F238E27FC236}">
                <ns2:creationId id="{16784EEF-0E5F-4263-ABC5-F4D427C90AB4}"/>
              </a:ext>
            </a:extLst>
          </p:cNvPr>
          <p:cNvSpPr>
            <a:spLocks noGrp="1"/>
          </p:cNvSpPr>
          <p:nvPr/>
        </p:nvSpPr>
        <p:spPr>
          <a:xfrm>
            <a:off x="552450" y="2847975"/>
            <a:ext cx="5048250" cy="581025"/>
          </a:xfrm>
          <a:prstGeom prst="rect">
            <a:avLst/>
          </a:prstGeom>
          <a:noFill/>
          <a:ln w="0">
            <a:noFill/>
          </a:ln>
        </p:spPr>
        <p:txBody>
          <a:bodyPr wrap="square" lIns="0" tIns="0" rIns="0" bIns="0" anchor="t">
            <a:noAutofit/>
          </a:bodyPr>
          <a:lstStyle>
            <a:defPPr>
              <a:defRPr sz="1575" b="1">
                <a:solidFill>
                  <a:srgbClr val="0B1F3A"/>
                </a:solidFill>
                <a:latin typeface="Lato"/>
                <a:ea typeface="Lato"/>
                <a:cs typeface="Lato"/>
              </a:defRPr>
            </a:defPPr>
          </a:lstStyle>
          <a:p>
            <a:pPr>
              <a:defRPr sz="1575" b="1">
                <a:solidFill>
                  <a:srgbClr val="0B1F3A"/>
                </a:solidFill>
                <a:latin typeface="Lato"/>
                <a:ea typeface="Lato"/>
                <a:cs typeface="Lato"/>
              </a:defRPr>
            </a:pPr>
            <a:r>
              <a:rPr sz="1575" b="1">
                <a:solidFill>
                  <a:srgbClr val="0B1F3A"/>
                </a:solidFill>
                <a:latin typeface="Lato"/>
                <a:ea typeface="Lato"/>
                <a:cs typeface="Lato"/>
              </a:rPr>
              <a:t>Trunk recapture needed for break-even, with other central assumptions fixed.</a:t>
            </a:r>
          </a:p>
        </p:txBody>
      </p:sp>
      <p:sp>
        <p:nvSpPr>
          <p:cNvPr id="12" name="">
            <a:extLst>
              <a:ext uri="{FF2B5EF4-FFF2-40B4-BE49-F238E27FC236}">
                <ns2:creationId id="{97796C2F-7A8F-41CC-B392-DA4872550EBB}"/>
              </a:ext>
            </a:extLst>
          </p:cNvPr>
          <p:cNvSpPr>
            <a:spLocks noGrp="1"/>
          </p:cNvSpPr>
          <p:nvPr/>
        </p:nvSpPr>
        <p:spPr>
          <a:xfrm>
            <a:off x="6286500" y="2847975"/>
            <a:ext cx="5191125" cy="581025"/>
          </a:xfrm>
          <a:prstGeom prst="rect">
            <a:avLst/>
          </a:prstGeom>
          <a:noFill/>
          <a:ln w="0">
            <a:noFill/>
          </a:ln>
        </p:spPr>
        <p:txBody>
          <a:bodyPr wrap="square" lIns="0" tIns="0" rIns="0" bIns="0" anchor="t">
            <a:noAutofit/>
          </a:bodyPr>
          <a:lstStyle>
            <a:defPPr>
              <a:defRPr sz="1575" b="1">
                <a:solidFill>
                  <a:srgbClr val="0B1F3A"/>
                </a:solidFill>
                <a:latin typeface="Lato"/>
                <a:ea typeface="Lato"/>
                <a:cs typeface="Lato"/>
              </a:defRPr>
            </a:defPPr>
          </a:lstStyle>
          <a:p>
            <a:pPr>
              <a:defRPr sz="1575" b="1">
                <a:solidFill>
                  <a:srgbClr val="0B1F3A"/>
                </a:solidFill>
                <a:latin typeface="Lato"/>
                <a:ea typeface="Lato"/>
                <a:cs typeface="Lato"/>
              </a:defRPr>
            </a:pPr>
            <a:r>
              <a:rPr sz="1575" b="1">
                <a:solidFill>
                  <a:srgbClr val="0B1F3A"/>
                </a:solidFill>
                <a:latin typeface="Lato"/>
                <a:ea typeface="Lato"/>
                <a:cs typeface="Lato"/>
              </a:rPr>
              <a:t>Less improvement if 10% of the costs assumed removable remain fixed.</a:t>
            </a:r>
          </a:p>
        </p:txBody>
      </p:sp>
      <p:sp>
        <p:nvSpPr>
          <p:cNvPr id="13" name="">
            <a:extLst>
              <a:ext uri="{FF2B5EF4-FFF2-40B4-BE49-F238E27FC236}">
                <ns2:creationId id="{50E346E2-6986-4313-80D2-5B3C4BE659E5}"/>
              </a:ext>
            </a:extLst>
          </p:cNvPr>
          <p:cNvSpPr>
            <a:spLocks noGrp="1"/>
          </p:cNvSpPr>
          <p:nvPr/>
        </p:nvSpPr>
        <p:spPr>
          <a:xfrm>
            <a:off x="552450" y="3629025"/>
            <a:ext cx="5191125" cy="9525"/>
          </a:xfrm>
          <a:prstGeom prst="rect">
            <a:avLst/>
          </a:prstGeom>
          <a:solidFill>
            <a:srgbClr val="D1D5DB"/>
          </a:solidFill>
          <a:ln w="0">
            <a:noFill/>
          </a:ln>
        </p:spPr>
      </p:sp>
      <p:sp>
        <p:nvSpPr>
          <p:cNvPr id="14" name="">
            <a:extLst>
              <a:ext uri="{FF2B5EF4-FFF2-40B4-BE49-F238E27FC236}">
                <ns2:creationId id="{2D999621-BECC-4385-A5D9-616E8A9304B3}"/>
              </a:ext>
            </a:extLst>
          </p:cNvPr>
          <p:cNvSpPr>
            <a:spLocks noGrp="1"/>
          </p:cNvSpPr>
          <p:nvPr/>
        </p:nvSpPr>
        <p:spPr>
          <a:xfrm>
            <a:off x="6286500" y="3629025"/>
            <a:ext cx="5334000" cy="9525"/>
          </a:xfrm>
          <a:prstGeom prst="rect">
            <a:avLst/>
          </a:prstGeom>
          <a:solidFill>
            <a:srgbClr val="D1D5DB"/>
          </a:solidFill>
          <a:ln w="0">
            <a:noFill/>
          </a:ln>
        </p:spPr>
      </p:sp>
      <p:sp>
        <p:nvSpPr>
          <p:cNvPr id="15" name="">
            <a:extLst>
              <a:ext uri="{FF2B5EF4-FFF2-40B4-BE49-F238E27FC236}">
                <ns2:creationId id="{278683E0-EF15-47DA-9657-6C57D02F0ED4}"/>
              </a:ext>
            </a:extLst>
          </p:cNvPr>
          <p:cNvSpPr>
            <a:spLocks noGrp="1"/>
          </p:cNvSpPr>
          <p:nvPr/>
        </p:nvSpPr>
        <p:spPr>
          <a:xfrm>
            <a:off x="552450" y="3829050"/>
            <a:ext cx="4953000" cy="266700"/>
          </a:xfrm>
          <a:prstGeom prst="rect">
            <a:avLst/>
          </a:prstGeom>
          <a:noFill/>
          <a:ln w="0">
            <a:noFill/>
          </a:ln>
        </p:spPr>
        <p:txBody>
          <a:bodyPr wrap="square" lIns="0" tIns="0" rIns="0" bIns="0" anchor="t">
            <a:noAutofit/>
          </a:bodyPr>
          <a:lstStyle>
            <a:defPPr>
              <a:defRPr sz="1100" b="1">
                <a:solidFill>
                  <a:srgbClr val="2E7D5B"/>
                </a:solidFill>
                <a:latin typeface="Montserrat"/>
                <a:ea typeface="Montserrat"/>
                <a:cs typeface="Montserrat"/>
              </a:defRPr>
            </a:defPPr>
          </a:lstStyle>
          <a:p>
            <a:pPr>
              <a:defRPr sz="1100" b="1">
                <a:solidFill>
                  <a:srgbClr val="2E7D5B"/>
                </a:solidFill>
                <a:latin typeface="Montserrat"/>
                <a:ea typeface="Montserrat"/>
                <a:cs typeface="Montserrat"/>
              </a:defRPr>
            </a:pPr>
            <a:r>
              <a:rPr sz="1100" b="1">
                <a:solidFill>
                  <a:srgbClr val="2E7D5B"/>
                </a:solidFill>
                <a:latin typeface="Montserrat"/>
                <a:ea typeface="Montserrat"/>
                <a:cs typeface="Montserrat"/>
              </a:rPr>
              <a:t>RESPONSE</a:t>
            </a:r>
          </a:p>
        </p:txBody>
      </p:sp>
      <p:sp>
        <p:nvSpPr>
          <p:cNvPr id="16" name="">
            <a:extLst>
              <a:ext uri="{FF2B5EF4-FFF2-40B4-BE49-F238E27FC236}">
                <ns2:creationId id="{7C8F8EB2-3108-44E5-A276-8E435D15CFEE}"/>
              </a:ext>
            </a:extLst>
          </p:cNvPr>
          <p:cNvSpPr>
            <a:spLocks noGrp="1"/>
          </p:cNvSpPr>
          <p:nvPr/>
        </p:nvSpPr>
        <p:spPr>
          <a:xfrm>
            <a:off x="6286500" y="3829050"/>
            <a:ext cx="4953000" cy="266700"/>
          </a:xfrm>
          <a:prstGeom prst="rect">
            <a:avLst/>
          </a:prstGeom>
          <a:noFill/>
          <a:ln w="0">
            <a:noFill/>
          </a:ln>
        </p:spPr>
        <p:txBody>
          <a:bodyPr wrap="square" lIns="0" tIns="0" rIns="0" bIns="0" anchor="t">
            <a:noAutofit/>
          </a:bodyPr>
          <a:lstStyle>
            <a:defPPr>
              <a:defRPr sz="1100" b="1">
                <a:solidFill>
                  <a:srgbClr val="2E7D5B"/>
                </a:solidFill>
                <a:latin typeface="Montserrat"/>
                <a:ea typeface="Montserrat"/>
                <a:cs typeface="Montserrat"/>
              </a:defRPr>
            </a:defPPr>
          </a:lstStyle>
          <a:p>
            <a:pPr>
              <a:defRPr sz="1100" b="1">
                <a:solidFill>
                  <a:srgbClr val="2E7D5B"/>
                </a:solidFill>
                <a:latin typeface="Montserrat"/>
                <a:ea typeface="Montserrat"/>
                <a:cs typeface="Montserrat"/>
              </a:defRPr>
            </a:pPr>
            <a:r>
              <a:rPr sz="1100" b="1">
                <a:solidFill>
                  <a:srgbClr val="2E7D5B"/>
                </a:solidFill>
                <a:latin typeface="Montserrat"/>
                <a:ea typeface="Montserrat"/>
                <a:cs typeface="Montserrat"/>
              </a:rPr>
              <a:t>RESPONSE</a:t>
            </a:r>
          </a:p>
        </p:txBody>
      </p:sp>
      <p:sp>
        <p:nvSpPr>
          <p:cNvPr id="17" name="">
            <a:extLst>
              <a:ext uri="{FF2B5EF4-FFF2-40B4-BE49-F238E27FC236}">
                <ns2:creationId id="{091DEF20-BD27-450F-99B0-CD8B75D96E9C}"/>
              </a:ext>
            </a:extLst>
          </p:cNvPr>
          <p:cNvSpPr>
            <a:spLocks noGrp="1"/>
          </p:cNvSpPr>
          <p:nvPr/>
        </p:nvSpPr>
        <p:spPr>
          <a:xfrm>
            <a:off x="552450" y="4191000"/>
            <a:ext cx="5143500" cy="742950"/>
          </a:xfrm>
          <a:prstGeom prst="rect">
            <a:avLst/>
          </a:prstGeom>
          <a:noFill/>
          <a:ln w="0">
            <a:noFill/>
          </a:ln>
        </p:spPr>
        <p:txBody>
          <a:bodyPr wrap="square" lIns="0" tIns="0" rIns="0" bIns="0" anchor="t">
            <a:noAutofit/>
          </a:bodyPr>
          <a:lstStyle>
            <a:defPPr>
              <a:defRPr sz="1500" b="0">
                <a:solidFill>
                  <a:srgbClr val="1F2937"/>
                </a:solidFill>
                <a:latin typeface="Lato"/>
                <a:ea typeface="Lato"/>
                <a:cs typeface="Lato"/>
              </a:defRPr>
            </a:defPPr>
          </a:lstStyle>
          <a:p>
            <a:pPr>
              <a:defRPr sz="1500" b="0">
                <a:solidFill>
                  <a:srgbClr val="1F2937"/>
                </a:solidFill>
                <a:latin typeface="Lato"/>
                <a:ea typeface="Lato"/>
                <a:cs typeface="Lato"/>
              </a:defRPr>
            </a:pPr>
            <a:r>
              <a:rPr sz="1500" b="0">
                <a:solidFill>
                  <a:srgbClr val="1F2937"/>
                </a:solidFill>
                <a:latin typeface="Lato"/>
                <a:ea typeface="Lato"/>
                <a:cs typeface="Lato"/>
              </a:rPr>
              <a:t>Pilot one market. Track retained booking revenue, fares and connections. Pause wider cuts if results miss the plan.</a:t>
            </a:r>
          </a:p>
        </p:txBody>
      </p:sp>
      <p:sp>
        <p:nvSpPr>
          <p:cNvPr id="18" name="">
            <a:extLst>
              <a:ext uri="{FF2B5EF4-FFF2-40B4-BE49-F238E27FC236}">
                <ns2:creationId id="{6F5D0A19-A7D6-4F7C-A83D-4C2100B25F98}"/>
              </a:ext>
            </a:extLst>
          </p:cNvPr>
          <p:cNvSpPr>
            <a:spLocks noGrp="1"/>
          </p:cNvSpPr>
          <p:nvPr/>
        </p:nvSpPr>
        <p:spPr>
          <a:xfrm>
            <a:off x="6286500" y="4191000"/>
            <a:ext cx="5143500" cy="742950"/>
          </a:xfrm>
          <a:prstGeom prst="rect">
            <a:avLst/>
          </a:prstGeom>
          <a:noFill/>
          <a:ln w="0">
            <a:noFill/>
          </a:ln>
        </p:spPr>
        <p:txBody>
          <a:bodyPr wrap="square" lIns="0" tIns="0" rIns="0" bIns="0" anchor="t">
            <a:noAutofit/>
          </a:bodyPr>
          <a:lstStyle>
            <a:defPPr>
              <a:defRPr sz="1500" b="0">
                <a:solidFill>
                  <a:srgbClr val="1F2937"/>
                </a:solidFill>
                <a:latin typeface="Lato"/>
                <a:ea typeface="Lato"/>
                <a:cs typeface="Lato"/>
              </a:defRPr>
            </a:defPPr>
          </a:lstStyle>
          <a:p>
            <a:pPr>
              <a:defRPr sz="1500" b="0">
                <a:solidFill>
                  <a:srgbClr val="1F2937"/>
                </a:solidFill>
                <a:latin typeface="Lato"/>
                <a:ea typeface="Lato"/>
                <a:cs typeface="Lato"/>
              </a:defRPr>
            </a:pPr>
            <a:r>
              <a:rPr sz="1500" b="0">
                <a:solidFill>
                  <a:srgbClr val="1F2937"/>
                </a:solidFill>
                <a:latin typeface="Lato"/>
                <a:ea typeface="Lato"/>
                <a:cs typeface="Lato"/>
              </a:rPr>
              <a:t>Validate contracts and staffing before cutting flights. Reforecast savings monthly for fuel, crew and transition costs.</a:t>
            </a:r>
          </a:p>
        </p:txBody>
      </p:sp>
      <p:sp>
        <p:nvSpPr>
          <p:cNvPr id="19" name="">
            <a:extLst>
              <a:ext uri="{FF2B5EF4-FFF2-40B4-BE49-F238E27FC236}">
                <ns2:creationId id="{95B1F617-EF4F-4A33-9673-4B81876AF1A9}"/>
              </a:ext>
            </a:extLst>
          </p:cNvPr>
          <p:cNvSpPr>
            <a:spLocks noGrp="1"/>
          </p:cNvSpPr>
          <p:nvPr/>
        </p:nvSpPr>
        <p:spPr>
          <a:xfrm>
            <a:off x="552450" y="5172075"/>
            <a:ext cx="11087100" cy="9525"/>
          </a:xfrm>
          <a:prstGeom prst="rect">
            <a:avLst/>
          </a:prstGeom>
          <a:solidFill>
            <a:srgbClr val="D1D5DB"/>
          </a:solidFill>
          <a:ln w="0">
            <a:noFill/>
          </a:ln>
        </p:spPr>
      </p:sp>
      <p:sp>
        <p:nvSpPr>
          <p:cNvPr id="20" name="">
            <a:extLst>
              <a:ext uri="{FF2B5EF4-FFF2-40B4-BE49-F238E27FC236}">
                <ns2:creationId id="{47D919AD-F672-47B2-9EA6-5679A279B5EC}"/>
              </a:ext>
            </a:extLst>
          </p:cNvPr>
          <p:cNvSpPr>
            <a:spLocks noGrp="1"/>
          </p:cNvSpPr>
          <p:nvPr/>
        </p:nvSpPr>
        <p:spPr>
          <a:xfrm>
            <a:off x="552450" y="5381625"/>
            <a:ext cx="2571750" cy="247650"/>
          </a:xfrm>
          <a:prstGeom prst="rect">
            <a:avLst/>
          </a:prstGeom>
          <a:noFill/>
          <a:ln w="0">
            <a:noFill/>
          </a:ln>
        </p:spPr>
        <p:txBody>
          <a:bodyPr wrap="square" lIns="0" tIns="0" rIns="0" bIns="0" anchor="t">
            <a:noAutofit/>
          </a:bodyPr>
          <a:lstStyle>
            <a:defPPr>
              <a:defRPr sz="1125" b="1">
                <a:solidFill>
                  <a:srgbClr val="E8692A"/>
                </a:solidFill>
                <a:latin typeface="Montserrat"/>
                <a:ea typeface="Montserrat"/>
                <a:cs typeface="Montserrat"/>
              </a:defRPr>
            </a:defPPr>
          </a:lstStyle>
          <a:p>
            <a:pPr>
              <a:defRPr sz="1125" b="1">
                <a:solidFill>
                  <a:srgbClr val="E8692A"/>
                </a:solidFill>
                <a:latin typeface="Montserrat"/>
                <a:ea typeface="Montserrat"/>
                <a:cs typeface="Montserrat"/>
              </a:defRPr>
            </a:pPr>
            <a:r>
              <a:rPr sz="1125" b="1">
                <a:solidFill>
                  <a:srgbClr val="E8692A"/>
                </a:solidFill>
                <a:latin typeface="Montserrat"/>
                <a:ea typeface="Montserrat"/>
                <a:cs typeface="Montserrat"/>
              </a:rPr>
              <a:t>NEW-MARKET VIABILITY</a:t>
            </a:r>
          </a:p>
        </p:txBody>
      </p:sp>
      <p:sp>
        <p:nvSpPr>
          <p:cNvPr id="21" name="">
            <a:extLst>
              <a:ext uri="{FF2B5EF4-FFF2-40B4-BE49-F238E27FC236}">
                <ns2:creationId id="{7983321B-738F-452C-8366-EF643722DEDA}"/>
              </a:ext>
            </a:extLst>
          </p:cNvPr>
          <p:cNvSpPr>
            <a:spLocks noGrp="1"/>
          </p:cNvSpPr>
          <p:nvPr/>
        </p:nvSpPr>
        <p:spPr>
          <a:xfrm>
            <a:off x="3333750" y="5381625"/>
            <a:ext cx="8191500" cy="400050"/>
          </a:xfrm>
          <a:prstGeom prst="rect">
            <a:avLst/>
          </a:prstGeom>
          <a:noFill/>
          <a:ln w="0">
            <a:noFill/>
          </a:ln>
        </p:spPr>
        <p:txBody>
          <a:bodyPr wrap="square" lIns="0" tIns="0" rIns="0" bIns="0" anchor="t">
            <a:noAutofit/>
          </a:bodyPr>
          <a:lstStyle>
            <a:defPPr>
              <a:defRPr sz="1350" b="0">
                <a:solidFill>
                  <a:srgbClr val="1F2937"/>
                </a:solidFill>
                <a:latin typeface="Lato"/>
                <a:ea typeface="Lato"/>
                <a:cs typeface="Lato"/>
              </a:defRPr>
            </a:defPPr>
          </a:lstStyle>
          <a:p>
            <a:pPr>
              <a:defRPr sz="1350" b="0">
                <a:solidFill>
                  <a:srgbClr val="1F2937"/>
                </a:solidFill>
                <a:latin typeface="Lato"/>
                <a:ea typeface="Lato"/>
                <a:cs typeface="Lato"/>
              </a:defRPr>
            </a:pPr>
            <a:r>
              <a:rPr sz="1350" b="0">
                <a:solidFill>
                  <a:srgbClr val="1F2937"/>
                </a:solidFill>
                <a:latin typeface="Lato"/>
                <a:ea typeface="Lato"/>
                <a:cs typeface="Lato"/>
              </a:rPr>
              <a:t>Six-month trial and capped losses. Continue only with a recovery plan or explicit service funding.</a:t>
            </a:r>
          </a:p>
        </p:txBody>
      </p:sp>
      <p:sp>
        <p:nvSpPr>
          <p:cNvPr id="22" name="">
            <a:extLst>
              <a:ext uri="{FF2B5EF4-FFF2-40B4-BE49-F238E27FC236}">
                <ns2:creationId id="{162ADF97-2D7F-4671-A2EA-406DFCE5F271}"/>
              </a:ext>
            </a:extLst>
          </p:cNvPr>
          <p:cNvSpPr>
            <a:spLocks noGrp="1"/>
          </p:cNvSpPr>
          <p:nvPr/>
        </p:nvSpPr>
        <p:spPr>
          <a:xfrm>
            <a:off x="552450" y="5886450"/>
            <a:ext cx="2571750" cy="266700"/>
          </a:xfrm>
          <a:prstGeom prst="rect">
            <a:avLst/>
          </a:prstGeom>
          <a:noFill/>
          <a:ln w="0">
            <a:noFill/>
          </a:ln>
        </p:spPr>
        <p:txBody>
          <a:bodyPr wrap="square" lIns="0" tIns="0" rIns="0" bIns="0" anchor="t">
            <a:noAutofit/>
          </a:bodyPr>
          <a:lstStyle>
            <a:defPPr>
              <a:defRPr sz="1125" b="1">
                <a:solidFill>
                  <a:srgbClr val="E8692A"/>
                </a:solidFill>
                <a:latin typeface="Montserrat"/>
                <a:ea typeface="Montserrat"/>
                <a:cs typeface="Montserrat"/>
              </a:defRPr>
            </a:defPPr>
          </a:lstStyle>
          <a:p>
            <a:pPr>
              <a:defRPr sz="1125" b="1">
                <a:solidFill>
                  <a:srgbClr val="E8692A"/>
                </a:solidFill>
                <a:latin typeface="Montserrat"/>
                <a:ea typeface="Montserrat"/>
                <a:cs typeface="Montserrat"/>
              </a:defRPr>
            </a:pPr>
            <a:r>
              <a:rPr sz="1125" b="1">
                <a:solidFill>
                  <a:srgbClr val="E8692A"/>
                </a:solidFill>
                <a:latin typeface="Montserrat"/>
                <a:ea typeface="Montserrat"/>
                <a:cs typeface="Montserrat"/>
              </a:rPr>
              <a:t>SERVICE AND STAFFING</a:t>
            </a:r>
          </a:p>
        </p:txBody>
      </p:sp>
      <p:sp>
        <p:nvSpPr>
          <p:cNvPr id="23" name="">
            <a:extLst>
              <a:ext uri="{FF2B5EF4-FFF2-40B4-BE49-F238E27FC236}">
                <ns2:creationId id="{761AB4D7-752C-4B46-AEEE-F4BD6AF9524C}"/>
              </a:ext>
            </a:extLst>
          </p:cNvPr>
          <p:cNvSpPr>
            <a:spLocks noGrp="1"/>
          </p:cNvSpPr>
          <p:nvPr/>
        </p:nvSpPr>
        <p:spPr>
          <a:xfrm>
            <a:off x="3333750" y="5886450"/>
            <a:ext cx="8191500" cy="400050"/>
          </a:xfrm>
          <a:prstGeom prst="rect">
            <a:avLst/>
          </a:prstGeom>
          <a:noFill/>
          <a:ln w="0">
            <a:noFill/>
          </a:ln>
        </p:spPr>
        <p:txBody>
          <a:bodyPr wrap="square" lIns="0" tIns="0" rIns="0" bIns="0" anchor="t">
            <a:noAutofit/>
          </a:bodyPr>
          <a:lstStyle>
            <a:defPPr>
              <a:defRPr sz="1350" b="0">
                <a:solidFill>
                  <a:srgbClr val="1F2937"/>
                </a:solidFill>
                <a:latin typeface="Lato"/>
                <a:ea typeface="Lato"/>
                <a:cs typeface="Lato"/>
              </a:defRPr>
            </a:defPPr>
          </a:lstStyle>
          <a:p>
            <a:pPr>
              <a:defRPr sz="1350" b="0">
                <a:solidFill>
                  <a:srgbClr val="1F2937"/>
                </a:solidFill>
                <a:latin typeface="Lato"/>
                <a:ea typeface="Lato"/>
                <a:cs typeface="Lato"/>
              </a:defRPr>
            </a:pPr>
            <a:r>
              <a:rPr sz="1350" b="0">
                <a:solidFill>
                  <a:srgbClr val="1F2937"/>
                </a:solidFill>
                <a:latin typeface="Lato"/>
                <a:ea typeface="Lato"/>
                <a:cs typeface="Lato"/>
              </a:rPr>
              <a:t>Protect key connections. Consult crews, prioritize redeployment and offer rebooking or refunds.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60320"/>
            <a:ext cx="10515600" cy="914400"/>
          </a:xfrm>
          <a:prstGeom prst="rect">
            <a:avLst/>
          </a:prstGeom>
          <a:noFill/>
        </p:spPr>
        <p:txBody>
          <a:bodyPr wrap="square" anchor="t">
            <a:spAutoFit/>
          </a:bodyPr>
          <a:lstStyle/>
          <a:p>
            <a:pPr algn="l">
              <a:spcAft>
                <a:spcPts val="600"/>
              </a:spcAft>
            </a:pPr>
            <a:r>
              <a:rPr sz="4400" b="1">
                <a:solidFill>
                  <a:srgbClr val="FFFFFF"/>
                </a:solidFill>
                <a:latin typeface="Montserrat"/>
              </a:rPr>
              <a:t>Thank you</a:t>
            </a:r>
          </a:p>
        </p:txBody>
      </p:sp>
      <p:sp>
        <p:nvSpPr>
          <p:cNvPr id="4" name="TextBox 3"/>
          <p:cNvSpPr txBox="1"/>
          <p:nvPr/>
        </p:nvSpPr>
        <p:spPr>
          <a:xfrm>
            <a:off x="822960" y="3474720"/>
            <a:ext cx="10515600" cy="731520"/>
          </a:xfrm>
          <a:prstGeom prst="rect">
            <a:avLst/>
          </a:prstGeom>
          <a:noFill/>
        </p:spPr>
        <p:txBody>
          <a:bodyPr wrap="square" anchor="t">
            <a:spAutoFit/>
          </a:bodyPr>
          <a:lstStyle/>
          <a:p>
            <a:pPr algn="l">
              <a:spcAft>
                <a:spcPts val="600"/>
              </a:spcAft>
            </a:pPr>
            <a:r>
              <a:rPr sz="2000" b="0" i="0">
                <a:solidFill>
                  <a:srgbClr val="9CA3AF"/>
                </a:solidFill>
                <a:latin typeface="Lato"/>
              </a:rPr>
              <a:t>Right-Size &amp; Recover: −$58.4M to break-even, all 20 airports kept  ·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A</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Appendix</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Backup for Q&amp;A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A1 · DATA CLEANING &amp; ASSUMPTIONS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How we cleaned and joined the data</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costs &amp; gates (Sep 2024–Aug 2026); team data preparation audit and assumptions log</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23</a:t>
            </a:r>
          </a:p>
        </p:txBody>
      </p:sp>
      <p:sp>
        <p:nvSpPr>
          <p:cNvPr id="8" name="TextBox 7"/>
          <p:cNvSpPr txBox="1"/>
          <p:nvPr/>
        </p:nvSpPr>
        <p:spPr>
          <a:xfrm>
            <a:off x="548640" y="1600200"/>
            <a:ext cx="11064240" cy="4572000"/>
          </a:xfrm>
          <a:prstGeom prst="rect">
            <a:avLst/>
          </a:prstGeom>
          <a:noFill/>
        </p:spPr>
        <p:txBody>
          <a:bodyPr wrap="square" anchor="t">
            <a:spAutoFit/>
          </a:bodyPr>
          <a:lstStyle/>
          <a:p>
            <a:pPr algn="l">
              <a:spcAft>
                <a:spcPts val="600"/>
              </a:spcAft>
            </a:pPr>
            <a:r>
              <a:rPr sz="1200" b="1" i="0">
                <a:solidFill>
                  <a:srgbClr val="0B1F3A"/>
                </a:solidFill>
                <a:latin typeface="Lato"/>
              </a:rPr>
              <a:t>Route codes: </a:t>
            </a:r>
            <a:r>
              <a:rPr sz="1200" b="0" i="0">
                <a:solidFill>
                  <a:srgbClr val="1F2937"/>
                </a:solidFill>
                <a:latin typeface="Lato"/>
              </a:rPr>
              <a:t>'YYZYHZ', 'yvr-yeg' etc. normalized to XXX-XXX in all three files. Each direction is its own route: 54 directions, 27 markets, 20 airports</a:t>
            </a:r>
          </a:p>
          <a:p>
            <a:pPr algn="l">
              <a:spcAft>
                <a:spcPts val="600"/>
              </a:spcAft>
            </a:pPr>
            <a:r>
              <a:rPr sz="1200" b="1" i="0">
                <a:solidFill>
                  <a:srgbClr val="0B1F3A"/>
                </a:solidFill>
                <a:latin typeface="Lato"/>
              </a:rPr>
              <a:t>Duplicates: </a:t>
            </a:r>
            <a:r>
              <a:rPr sz="1200" b="0" i="0">
                <a:solidFill>
                  <a:srgbClr val="1F2937"/>
                </a:solidFill>
                <a:latin typeface="Lato"/>
              </a:rPr>
              <a:t>1,856 repeated transaction IDs removed (all fields identical), −$1.23M; 558,129 transactions remain</a:t>
            </a:r>
          </a:p>
          <a:p>
            <a:pPr algn="l">
              <a:spcAft>
                <a:spcPts val="600"/>
              </a:spcAft>
            </a:pPr>
            <a:r>
              <a:rPr sz="1200" b="1" i="0">
                <a:solidFill>
                  <a:srgbClr val="0B1F3A"/>
                </a:solidFill>
                <a:latin typeface="Lato"/>
              </a:rPr>
              <a:t>Dates: </a:t>
            </a:r>
            <a:r>
              <a:rPr sz="1200" b="0" i="0">
                <a:solidFill>
                  <a:srgbClr val="1F2937"/>
                </a:solidFill>
                <a:latin typeface="Lato"/>
              </a:rPr>
              <a:t>ISO, YYYY/MM/DD and DD/MM vs MM/DD formats; ambiguous ones resolved from transaction-ID order; 11 unresolved ($7.2k, immaterial)</a:t>
            </a:r>
          </a:p>
          <a:p>
            <a:pPr algn="l">
              <a:spcAft>
                <a:spcPts val="600"/>
              </a:spcAft>
            </a:pPr>
            <a:r>
              <a:rPr sz="1200" b="1" i="0">
                <a:solidFill>
                  <a:srgbClr val="0B1F3A"/>
                </a:solidFill>
                <a:latin typeface="Lato"/>
              </a:rPr>
              <a:t>Categories &amp; tiers: </a:t>
            </a:r>
            <a:r>
              <a:rPr sz="1200" b="0" i="0">
                <a:solidFill>
                  <a:srgbClr val="1F2937"/>
                </a:solidFill>
                <a:latin typeface="Lato"/>
              </a:rPr>
              <a:t>aliases and capitalization standardized (e.g. Website → Direct Web); blanks kept as 'Unknown', not assumed to be Non-Member</a:t>
            </a:r>
          </a:p>
          <a:p>
            <a:pPr algn="l">
              <a:spcAft>
                <a:spcPts val="600"/>
              </a:spcAft>
            </a:pPr>
            <a:r>
              <a:rPr sz="1200" b="1" i="0">
                <a:solidFill>
                  <a:srgbClr val="0B1F3A"/>
                </a:solidFill>
                <a:latin typeface="Lato"/>
              </a:rPr>
              <a:t>Flights: </a:t>
            </a:r>
            <a:r>
              <a:rPr sz="1200" b="0" i="0">
                <a:solidFill>
                  <a:srgbClr val="1F2937"/>
                </a:solidFill>
                <a:latin typeface="Lato"/>
              </a:rPr>
              <a:t>one flight = route + timestamp with exactly one Crew, Food, Fuel and Maintenance row (115,204 rows = 28,801 flights). The Cost_Date time is read as the departure time: slots cluster at 06:30–08:00 and 12:00–18:10, so 12:00 or later = afternoon flight</a:t>
            </a:r>
          </a:p>
          <a:p>
            <a:pPr algn="l">
              <a:spcAft>
                <a:spcPts val="600"/>
              </a:spcAft>
            </a:pPr>
            <a:r>
              <a:rPr sz="1200" b="1" i="0">
                <a:solidFill>
                  <a:srgbClr val="0B1F3A"/>
                </a:solidFill>
                <a:latin typeface="Lato"/>
              </a:rPr>
              <a:t>Revenue timing: </a:t>
            </a:r>
            <a:r>
              <a:rPr sz="1200" b="0" i="0">
                <a:solidFill>
                  <a:srgbClr val="1F2937"/>
                </a:solidFill>
                <a:latin typeface="Lato"/>
              </a:rPr>
              <a:t>Transaction_Date is the purchase date and Cost_Date the flight date, so revenue is compared by period and season, not matched to flights. One ticket transaction = one passenger on one flight (a load proxy; there are no seat counts)</a:t>
            </a:r>
          </a:p>
          <a:p>
            <a:pPr algn="l">
              <a:spcAft>
                <a:spcPts val="600"/>
              </a:spcAft>
            </a:pPr>
            <a:r>
              <a:rPr sz="1200" b="1" i="0">
                <a:solidFill>
                  <a:srgbClr val="0B1F3A"/>
                </a:solidFill>
                <a:latin typeface="Lato"/>
              </a:rPr>
              <a:t>Contribution: </a:t>
            </a:r>
            <a:r>
              <a:rPr sz="1200" b="0" i="0">
                <a:solidFill>
                  <a:srgbClr val="1F2937"/>
                </a:solidFill>
                <a:latin typeface="Lato"/>
              </a:rPr>
              <a:t>revenue (tickets, extras and change fees, less refunds) minus fuel, crew, maintenance and food. Aircraft ownership, overhead and taxes are not in the data, so it is not net income</a:t>
            </a:r>
          </a:p>
          <a:p>
            <a:pPr algn="l">
              <a:spcAft>
                <a:spcPts val="600"/>
              </a:spcAft>
            </a:pPr>
            <a:r>
              <a:rPr sz="1200" b="1" i="0">
                <a:solidFill>
                  <a:srgbClr val="0B1F3A"/>
                </a:solidFill>
                <a:latin typeface="Lato"/>
              </a:rPr>
              <a:t>Gates: </a:t>
            </a:r>
            <a:r>
              <a:rPr sz="1200" b="0" i="0">
                <a:solidFill>
                  <a:srgbClr val="1F2937"/>
                </a:solidFill>
                <a:latin typeface="Lato"/>
              </a:rPr>
              <a:t>each physical gate counted once (34 gates: $9.66M → $9.88M, +2.2%; the raw rows sum to $17.8M). After-gates results charge the 2025-26 leases to FY25-26 and split each airport's total across all its departing flights (case rule). 2026-27 leases are missing: estimated at $10.10M by repeating each gate's own increase</a:t>
            </a:r>
          </a:p>
          <a:p>
            <a:pPr algn="l">
              <a:spcAft>
                <a:spcPts val="600"/>
              </a:spcAft>
            </a:pPr>
            <a:r>
              <a:rPr sz="1200" b="1" i="0">
                <a:solidFill>
                  <a:srgbClr val="0B1F3A"/>
                </a:solidFill>
                <a:latin typeface="Lato"/>
              </a:rPr>
              <a:t>Periods &amp; connections: </a:t>
            </a:r>
            <a:r>
              <a:rPr sz="1200" b="0" i="0">
                <a:solidFill>
                  <a:srgbClr val="1F2937"/>
                </a:solidFill>
                <a:latin typeface="Lato"/>
              </a:rPr>
              <a:t>FY24-25 = Sep 2024–Aug 2025, FY25-26 = Sep 2025–Aug 2026; two years cannot prove recurring seasonality. 12,644 bookings connect through a hub; 268 more are return trips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A2 · ROUTE × MONTH HEATMAP</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Losses are persistent across months, not a single bad season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24</a:t>
            </a:r>
          </a:p>
        </p:txBody>
      </p:sp>
      <p:pic>
        <p:nvPicPr>
          <p:cNvPr id="8" name="Picture 7" descr="06_route_month_heatmap.png"/>
          <p:cNvPicPr>
            <a:picLocks noChangeAspect="1"/>
          </p:cNvPicPr>
          <p:nvPr/>
        </p:nvPicPr>
        <p:blipFill>
          <a:blip r:embed="rId3"/>
          <a:stretch>
            <a:fillRect/>
          </a:stretch>
        </p:blipFill>
        <p:spPr>
          <a:xfrm>
            <a:off x="3844398" y="1463040"/>
            <a:ext cx="4500154" cy="484631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A3 · SENSITIVITY</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Small ancillary or refund fixes can't close the gap alone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25</a:t>
            </a:r>
          </a:p>
        </p:txBody>
      </p:sp>
      <p:pic>
        <p:nvPicPr>
          <p:cNvPr id="8" name="Picture 7" descr="10_sensitivity.png"/>
          <p:cNvPicPr>
            <a:picLocks noChangeAspect="1"/>
          </p:cNvPicPr>
          <p:nvPr/>
        </p:nvPicPr>
        <p:blipFill>
          <a:blip r:embed="rId3"/>
          <a:stretch>
            <a:fillRect/>
          </a:stretch>
        </p:blipFill>
        <p:spPr>
          <a:xfrm>
            <a:off x="1849047" y="1600200"/>
            <a:ext cx="8490857" cy="4572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A4 · CHANNELS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Channel mix is stable; OTA has the highest refund burden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26</a:t>
            </a:r>
          </a:p>
        </p:txBody>
      </p:sp>
      <p:pic>
        <p:nvPicPr>
          <p:cNvPr id="8" name="Picture 7" descr="09_channels.png"/>
          <p:cNvPicPr>
            <a:picLocks noChangeAspect="1"/>
          </p:cNvPicPr>
          <p:nvPr/>
        </p:nvPicPr>
        <p:blipFill>
          <a:blip r:embed="rId3"/>
          <a:stretch>
            <a:fillRect/>
          </a:stretch>
        </p:blipFill>
        <p:spPr>
          <a:xfrm>
            <a:off x="1141476" y="1600200"/>
            <a:ext cx="9905999" cy="4572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 STRATEGIC LENS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Five Forces explains why extra frequency failed; SWOT shows what any fix must protect</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Case package p.6–10 (market context) and team analysis of FY25-26 data. * = inference, not stated in the case.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27</a:t>
            </a:r>
          </a:p>
        </p:txBody>
      </p:sp>
      <p:sp>
        <p:nvSpPr>
          <p:cNvPr id="8" name="TextBox 7"/>
          <p:cNvSpPr txBox="1"/>
          <p:nvPr/>
        </p:nvSpPr>
        <p:spPr>
          <a:xfrm>
            <a:off x="548640" y="1481328"/>
            <a:ext cx="5486400" cy="274320"/>
          </a:xfrm>
          <a:prstGeom prst="rect">
            <a:avLst/>
          </a:prstGeom>
          <a:noFill/>
        </p:spPr>
        <p:txBody>
          <a:bodyPr wrap="square" anchor="t" lIns="0" rIns="0" tIns="0" bIns="0">
            <a:spAutoFit/>
          </a:bodyPr>
          <a:lstStyle/>
          <a:p>
            <a:pPr algn="l"/>
            <a:r>
              <a:rPr sz="1300" b="1" i="0">
                <a:solidFill>
                  <a:srgbClr val="0B1F3A"/>
                </a:solidFill>
                <a:latin typeface="Montserrat"/>
              </a:rPr>
              <a:t>Porter's Five Forces: Canadian domestic air</a:t>
            </a:r>
          </a:p>
        </p:txBody>
      </p:sp>
      <p:sp>
        <p:nvSpPr>
          <p:cNvPr id="9" name="Rectangle 8"/>
          <p:cNvSpPr/>
          <p:nvPr/>
        </p:nvSpPr>
        <p:spPr>
          <a:xfrm>
            <a:off x="548640" y="1828800"/>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1463040" cy="274320"/>
          </a:xfrm>
          <a:prstGeom prst="rect">
            <a:avLst/>
          </a:prstGeom>
          <a:noFill/>
        </p:spPr>
        <p:txBody>
          <a:bodyPr wrap="square" anchor="t" lIns="0" rIns="0" tIns="0" bIns="0">
            <a:spAutoFit/>
          </a:bodyPr>
          <a:lstStyle/>
          <a:p>
            <a:pPr algn="l"/>
            <a:r>
              <a:rPr sz="1200" b="1" i="0">
                <a:solidFill>
                  <a:srgbClr val="0B1F3A"/>
                </a:solidFill>
                <a:latin typeface="Montserrat"/>
              </a:rPr>
              <a:t>Rivalry</a:t>
            </a:r>
          </a:p>
        </p:txBody>
      </p:sp>
      <p:sp>
        <p:nvSpPr>
          <p:cNvPr id="11" name="Rounded Rectangle 10"/>
          <p:cNvSpPr/>
          <p:nvPr/>
        </p:nvSpPr>
        <p:spPr>
          <a:xfrm>
            <a:off x="685800" y="2240280"/>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12" name="TextBox 11"/>
          <p:cNvSpPr txBox="1"/>
          <p:nvPr/>
        </p:nvSpPr>
        <p:spPr>
          <a:xfrm>
            <a:off x="2240280" y="1901952"/>
            <a:ext cx="3703320" cy="658368"/>
          </a:xfrm>
          <a:prstGeom prst="rect">
            <a:avLst/>
          </a:prstGeom>
          <a:noFill/>
        </p:spPr>
        <p:txBody>
          <a:bodyPr wrap="square" anchor="ctr" lIns="0" rIns="0" tIns="0" bIns="0">
            <a:spAutoFit/>
          </a:bodyPr>
          <a:lstStyle/>
          <a:p>
            <a:pPr algn="l"/>
            <a:r>
              <a:rPr sz="1050" b="0" i="0">
                <a:solidFill>
                  <a:srgbClr val="1F2937"/>
                </a:solidFill>
                <a:latin typeface="Lato"/>
              </a:rPr>
              <a:t>Two national carriers plus low-cost airlines (case). Trunk fares fell ~8% when frequency doubled.</a:t>
            </a:r>
          </a:p>
        </p:txBody>
      </p:sp>
      <p:sp>
        <p:nvSpPr>
          <p:cNvPr id="13" name="Rectangle 12"/>
          <p:cNvSpPr/>
          <p:nvPr/>
        </p:nvSpPr>
        <p:spPr>
          <a:xfrm>
            <a:off x="548640" y="2706624"/>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98064"/>
            <a:ext cx="1463040" cy="274320"/>
          </a:xfrm>
          <a:prstGeom prst="rect">
            <a:avLst/>
          </a:prstGeom>
          <a:noFill/>
        </p:spPr>
        <p:txBody>
          <a:bodyPr wrap="square" anchor="t" lIns="0" rIns="0" tIns="0" bIns="0">
            <a:spAutoFit/>
          </a:bodyPr>
          <a:lstStyle/>
          <a:p>
            <a:pPr algn="l"/>
            <a:r>
              <a:rPr sz="1200" b="1" i="0">
                <a:solidFill>
                  <a:srgbClr val="0B1F3A"/>
                </a:solidFill>
                <a:latin typeface="Montserrat"/>
              </a:rPr>
              <a:t>Buyer power</a:t>
            </a:r>
          </a:p>
        </p:txBody>
      </p:sp>
      <p:sp>
        <p:nvSpPr>
          <p:cNvPr id="15" name="Rounded Rectangle 14"/>
          <p:cNvSpPr/>
          <p:nvPr/>
        </p:nvSpPr>
        <p:spPr>
          <a:xfrm>
            <a:off x="685800" y="3118104"/>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16" name="TextBox 15"/>
          <p:cNvSpPr txBox="1"/>
          <p:nvPr/>
        </p:nvSpPr>
        <p:spPr>
          <a:xfrm>
            <a:off x="2240280" y="2779776"/>
            <a:ext cx="3703320" cy="658368"/>
          </a:xfrm>
          <a:prstGeom prst="rect">
            <a:avLst/>
          </a:prstGeom>
          <a:noFill/>
        </p:spPr>
        <p:txBody>
          <a:bodyPr wrap="square" anchor="ctr" lIns="0" rIns="0" tIns="0" bIns="0">
            <a:spAutoFit/>
          </a:bodyPr>
          <a:lstStyle/>
          <a:p>
            <a:pPr algn="l"/>
            <a:r>
              <a:rPr sz="1050" b="0" i="0">
                <a:solidFill>
                  <a:srgbClr val="1F2937"/>
                </a:solidFill>
                <a:latin typeface="Lato"/>
              </a:rPr>
              <a:t>Price-sensitive travellers (case); OTAs sell 20% of ticket revenue. Extra seats sold only at lower fares.</a:t>
            </a:r>
          </a:p>
        </p:txBody>
      </p:sp>
      <p:sp>
        <p:nvSpPr>
          <p:cNvPr id="17" name="Rectangle 16"/>
          <p:cNvSpPr/>
          <p:nvPr/>
        </p:nvSpPr>
        <p:spPr>
          <a:xfrm>
            <a:off x="548640" y="3584448"/>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675887"/>
            <a:ext cx="1463040" cy="274320"/>
          </a:xfrm>
          <a:prstGeom prst="rect">
            <a:avLst/>
          </a:prstGeom>
          <a:noFill/>
        </p:spPr>
        <p:txBody>
          <a:bodyPr wrap="square" anchor="t" lIns="0" rIns="0" tIns="0" bIns="0">
            <a:spAutoFit/>
          </a:bodyPr>
          <a:lstStyle/>
          <a:p>
            <a:pPr algn="l"/>
            <a:r>
              <a:rPr sz="1200" b="1" i="0">
                <a:solidFill>
                  <a:srgbClr val="0B1F3A"/>
                </a:solidFill>
                <a:latin typeface="Montserrat"/>
              </a:rPr>
              <a:t>Supplier power</a:t>
            </a:r>
          </a:p>
        </p:txBody>
      </p:sp>
      <p:sp>
        <p:nvSpPr>
          <p:cNvPr id="19" name="Rounded Rectangle 18"/>
          <p:cNvSpPr/>
          <p:nvPr/>
        </p:nvSpPr>
        <p:spPr>
          <a:xfrm>
            <a:off x="685800" y="3995928"/>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20" name="TextBox 19"/>
          <p:cNvSpPr txBox="1"/>
          <p:nvPr/>
        </p:nvSpPr>
        <p:spPr>
          <a:xfrm>
            <a:off x="2240280" y="3657600"/>
            <a:ext cx="3703320" cy="658368"/>
          </a:xfrm>
          <a:prstGeom prst="rect">
            <a:avLst/>
          </a:prstGeom>
          <a:noFill/>
        </p:spPr>
        <p:txBody>
          <a:bodyPr wrap="square" anchor="ctr" lIns="0" rIns="0" tIns="0" bIns="0">
            <a:spAutoFit/>
          </a:bodyPr>
          <a:lstStyle/>
          <a:p>
            <a:pPr algn="l"/>
            <a:r>
              <a:rPr sz="1050" b="0" i="0">
                <a:solidFill>
                  <a:srgbClr val="1F2937"/>
                </a:solidFill>
                <a:latin typeface="Lato"/>
              </a:rPr>
              <a:t>Volatile fuel, pilot shortage, high airport fees (case). Same route &amp; month: fuel +8.7%, crew +8.5%.</a:t>
            </a:r>
          </a:p>
        </p:txBody>
      </p:sp>
      <p:sp>
        <p:nvSpPr>
          <p:cNvPr id="21" name="Rectangle 20"/>
          <p:cNvSpPr/>
          <p:nvPr/>
        </p:nvSpPr>
        <p:spPr>
          <a:xfrm>
            <a:off x="548640" y="4462272"/>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553712"/>
            <a:ext cx="1463040" cy="274320"/>
          </a:xfrm>
          <a:prstGeom prst="rect">
            <a:avLst/>
          </a:prstGeom>
          <a:noFill/>
        </p:spPr>
        <p:txBody>
          <a:bodyPr wrap="square" anchor="t" lIns="0" rIns="0" tIns="0" bIns="0">
            <a:spAutoFit/>
          </a:bodyPr>
          <a:lstStyle/>
          <a:p>
            <a:pPr algn="l"/>
            <a:r>
              <a:rPr sz="1200" b="1" i="0">
                <a:solidFill>
                  <a:srgbClr val="0B1F3A"/>
                </a:solidFill>
                <a:latin typeface="Montserrat"/>
              </a:rPr>
              <a:t>New entrants</a:t>
            </a:r>
          </a:p>
        </p:txBody>
      </p:sp>
      <p:sp>
        <p:nvSpPr>
          <p:cNvPr id="23" name="Rounded Rectangle 22"/>
          <p:cNvSpPr/>
          <p:nvPr/>
        </p:nvSpPr>
        <p:spPr>
          <a:xfrm>
            <a:off x="685800" y="4873752"/>
            <a:ext cx="777240" cy="237744"/>
          </a:xfrm>
          <a:prstGeom prst="roundRect">
            <a:avLst/>
          </a:prstGeom>
          <a:solidFill>
            <a:srgbClr val="F4A97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Medium</a:t>
            </a:r>
          </a:p>
        </p:txBody>
      </p:sp>
      <p:sp>
        <p:nvSpPr>
          <p:cNvPr id="24" name="TextBox 23"/>
          <p:cNvSpPr txBox="1"/>
          <p:nvPr/>
        </p:nvSpPr>
        <p:spPr>
          <a:xfrm>
            <a:off x="2240280" y="4535424"/>
            <a:ext cx="3703320" cy="658368"/>
          </a:xfrm>
          <a:prstGeom prst="rect">
            <a:avLst/>
          </a:prstGeom>
          <a:noFill/>
        </p:spPr>
        <p:txBody>
          <a:bodyPr wrap="square" anchor="ctr" lIns="0" rIns="0" tIns="0" bIns="0">
            <a:spAutoFit/>
          </a:bodyPr>
          <a:lstStyle/>
          <a:p>
            <a:pPr algn="l"/>
            <a:r>
              <a:rPr sz="1050" b="0" i="0">
                <a:solidFill>
                  <a:srgbClr val="1F2937"/>
                </a:solidFill>
                <a:latin typeface="Lato"/>
              </a:rPr>
              <a:t>Newer carriers expanded, then scaled back or shut down (case): the path NorthByte took in 2025.*</a:t>
            </a:r>
          </a:p>
        </p:txBody>
      </p:sp>
      <p:sp>
        <p:nvSpPr>
          <p:cNvPr id="25" name="Rectangle 24"/>
          <p:cNvSpPr/>
          <p:nvPr/>
        </p:nvSpPr>
        <p:spPr>
          <a:xfrm>
            <a:off x="548640" y="5340096"/>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431536"/>
            <a:ext cx="1463040" cy="274320"/>
          </a:xfrm>
          <a:prstGeom prst="rect">
            <a:avLst/>
          </a:prstGeom>
          <a:noFill/>
        </p:spPr>
        <p:txBody>
          <a:bodyPr wrap="square" anchor="t" lIns="0" rIns="0" tIns="0" bIns="0">
            <a:spAutoFit/>
          </a:bodyPr>
          <a:lstStyle/>
          <a:p>
            <a:pPr algn="l"/>
            <a:r>
              <a:rPr sz="1200" b="1" i="0">
                <a:solidFill>
                  <a:srgbClr val="0B1F3A"/>
                </a:solidFill>
                <a:latin typeface="Montserrat"/>
              </a:rPr>
              <a:t>Substitutes</a:t>
            </a:r>
          </a:p>
        </p:txBody>
      </p:sp>
      <p:sp>
        <p:nvSpPr>
          <p:cNvPr id="27" name="Rounded Rectangle 26"/>
          <p:cNvSpPr/>
          <p:nvPr/>
        </p:nvSpPr>
        <p:spPr>
          <a:xfrm>
            <a:off x="685800" y="5751576"/>
            <a:ext cx="777240" cy="237744"/>
          </a:xfrm>
          <a:prstGeom prst="round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1F2937"/>
                </a:solidFill>
                <a:latin typeface="Lato"/>
              </a:rPr>
              <a:t>Low</a:t>
            </a:r>
          </a:p>
        </p:txBody>
      </p:sp>
      <p:sp>
        <p:nvSpPr>
          <p:cNvPr id="28" name="TextBox 27"/>
          <p:cNvSpPr txBox="1"/>
          <p:nvPr/>
        </p:nvSpPr>
        <p:spPr>
          <a:xfrm>
            <a:off x="2240280" y="5413248"/>
            <a:ext cx="3703320" cy="658368"/>
          </a:xfrm>
          <a:prstGeom prst="rect">
            <a:avLst/>
          </a:prstGeom>
          <a:noFill/>
        </p:spPr>
        <p:txBody>
          <a:bodyPr wrap="square" anchor="ctr" lIns="0" rIns="0" tIns="0" bIns="0">
            <a:spAutoFit/>
          </a:bodyPr>
          <a:lstStyle/>
          <a:p>
            <a:pPr algn="l"/>
            <a:r>
              <a:rPr sz="1050" b="0" i="0">
                <a:solidFill>
                  <a:srgbClr val="1F2937"/>
                </a:solidFill>
                <a:latin typeface="Lato"/>
              </a:rPr>
              <a:t>Long distances and small communities: demand on community routes is captive.*</a:t>
            </a:r>
          </a:p>
        </p:txBody>
      </p:sp>
      <p:sp>
        <p:nvSpPr>
          <p:cNvPr id="29" name="TextBox 28"/>
          <p:cNvSpPr txBox="1"/>
          <p:nvPr/>
        </p:nvSpPr>
        <p:spPr>
          <a:xfrm>
            <a:off x="6355080" y="1481328"/>
            <a:ext cx="5303520" cy="274320"/>
          </a:xfrm>
          <a:prstGeom prst="rect">
            <a:avLst/>
          </a:prstGeom>
          <a:noFill/>
        </p:spPr>
        <p:txBody>
          <a:bodyPr wrap="square" anchor="t" lIns="0" rIns="0" tIns="0" bIns="0">
            <a:spAutoFit/>
          </a:bodyPr>
          <a:lstStyle/>
          <a:p>
            <a:pPr algn="l"/>
            <a:r>
              <a:rPr sz="1300" b="1" i="0">
                <a:solidFill>
                  <a:srgbClr val="0B1F3A"/>
                </a:solidFill>
                <a:latin typeface="Montserrat"/>
              </a:rPr>
              <a:t>SWOT: NorthByte</a:t>
            </a:r>
          </a:p>
        </p:txBody>
      </p:sp>
      <p:sp>
        <p:nvSpPr>
          <p:cNvPr id="30" name="Rectangle 29"/>
          <p:cNvSpPr/>
          <p:nvPr/>
        </p:nvSpPr>
        <p:spPr>
          <a:xfrm>
            <a:off x="6355080" y="1828800"/>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3096" y="1938528"/>
            <a:ext cx="2340863" cy="1938527"/>
          </a:xfrm>
          <a:prstGeom prst="rect">
            <a:avLst/>
          </a:prstGeom>
          <a:noFill/>
        </p:spPr>
        <p:txBody>
          <a:bodyPr wrap="square" anchor="t" lIns="0" rIns="0" tIns="0" bIns="0">
            <a:spAutoFit/>
          </a:bodyPr>
          <a:lstStyle/>
          <a:p>
            <a:pPr algn="l">
              <a:spcAft>
                <a:spcPts val="400"/>
              </a:spcAft>
            </a:pPr>
            <a:r>
              <a:rPr sz="1200" b="1" i="0">
                <a:solidFill>
                  <a:srgbClr val="2E7D5B"/>
                </a:solidFill>
                <a:latin typeface="Montserrat"/>
              </a:rPr>
              <a:t>Strengths</a:t>
            </a:r>
          </a:p>
          <a:p>
            <a:pPr algn="l">
              <a:spcAft>
                <a:spcPts val="400"/>
              </a:spcAft>
            </a:pPr>
            <a:r>
              <a:rPr sz="1050" b="0" i="0">
                <a:solidFill>
                  <a:srgbClr val="1F2937"/>
                </a:solidFill>
                <a:latin typeface="Lato"/>
              </a:rPr>
              <a:t>•  Rest of network earns +$10.6M before gates</a:t>
            </a:r>
          </a:p>
          <a:p>
            <a:pPr algn="l">
              <a:spcAft>
                <a:spcPts val="400"/>
              </a:spcAft>
            </a:pPr>
            <a:r>
              <a:rPr sz="1050" b="0" i="0">
                <a:solidFill>
                  <a:srgbClr val="1F2937"/>
                </a:solidFill>
                <a:latin typeface="Lato"/>
              </a:rPr>
              <a:t>•  12,644 connection-compatible bookings</a:t>
            </a:r>
          </a:p>
          <a:p>
            <a:pPr algn="l">
              <a:spcAft>
                <a:spcPts val="400"/>
              </a:spcAft>
            </a:pPr>
            <a:r>
              <a:rPr sz="1050" b="0" i="0">
                <a:solidFill>
                  <a:srgbClr val="1F2937"/>
                </a:solidFill>
                <a:latin typeface="Lato"/>
              </a:rPr>
              <a:t>•  Community routes the mission is built on (case)</a:t>
            </a:r>
          </a:p>
        </p:txBody>
      </p:sp>
      <p:sp>
        <p:nvSpPr>
          <p:cNvPr id="32" name="Rectangle 31"/>
          <p:cNvSpPr/>
          <p:nvPr/>
        </p:nvSpPr>
        <p:spPr>
          <a:xfrm>
            <a:off x="9061704" y="1828800"/>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720" y="1938528"/>
            <a:ext cx="2340863" cy="1938527"/>
          </a:xfrm>
          <a:prstGeom prst="rect">
            <a:avLst/>
          </a:prstGeom>
          <a:noFill/>
        </p:spPr>
        <p:txBody>
          <a:bodyPr wrap="square" anchor="t" lIns="0" rIns="0" tIns="0" bIns="0">
            <a:spAutoFit/>
          </a:bodyPr>
          <a:lstStyle/>
          <a:p>
            <a:pPr algn="l">
              <a:spcAft>
                <a:spcPts val="400"/>
              </a:spcAft>
            </a:pPr>
            <a:r>
              <a:rPr sz="1200" b="1" i="0">
                <a:solidFill>
                  <a:srgbClr val="E8692A"/>
                </a:solidFill>
                <a:latin typeface="Montserrat"/>
              </a:rPr>
              <a:t>Weaknesses → issues</a:t>
            </a:r>
          </a:p>
          <a:p>
            <a:pPr algn="l">
              <a:spcAft>
                <a:spcPts val="400"/>
              </a:spcAft>
            </a:pPr>
            <a:r>
              <a:rPr sz="1050" b="0" i="0">
                <a:solidFill>
                  <a:srgbClr val="1F2937"/>
                </a:solidFill>
                <a:latin typeface="Lato"/>
              </a:rPr>
              <a:t>•  No route-level P&amp;L (case p.10)</a:t>
            </a:r>
          </a:p>
          <a:p>
            <a:pPr algn="l">
              <a:spcAft>
                <a:spcPts val="400"/>
              </a:spcAft>
            </a:pPr>
            <a:r>
              <a:rPr sz="1050" b="0" i="0">
                <a:solidFill>
                  <a:srgbClr val="1F2937"/>
                </a:solidFill>
                <a:latin typeface="Lato"/>
              </a:rPr>
              <a:t>•  Frequency added faster than demand: trunk tickets/flight −44% (Sep–Feb)</a:t>
            </a:r>
          </a:p>
          <a:p>
            <a:pPr algn="l">
              <a:spcAft>
                <a:spcPts val="400"/>
              </a:spcAft>
            </a:pPr>
            <a:r>
              <a:rPr sz="1050" b="0" i="0">
                <a:solidFill>
                  <a:srgbClr val="1F2937"/>
                </a:solidFill>
                <a:latin typeface="Lato"/>
              </a:rPr>
              <a:t>•  New markets cover only a third of their cost</a:t>
            </a:r>
          </a:p>
        </p:txBody>
      </p:sp>
      <p:sp>
        <p:nvSpPr>
          <p:cNvPr id="34" name="Rectangle 33"/>
          <p:cNvSpPr/>
          <p:nvPr/>
        </p:nvSpPr>
        <p:spPr>
          <a:xfrm>
            <a:off x="6355080" y="4059935"/>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169663"/>
            <a:ext cx="2340863" cy="1938527"/>
          </a:xfrm>
          <a:prstGeom prst="rect">
            <a:avLst/>
          </a:prstGeom>
          <a:noFill/>
        </p:spPr>
        <p:txBody>
          <a:bodyPr wrap="square" anchor="t" lIns="0" rIns="0" tIns="0" bIns="0">
            <a:spAutoFit/>
          </a:bodyPr>
          <a:lstStyle/>
          <a:p>
            <a:pPr algn="l">
              <a:spcAft>
                <a:spcPts val="400"/>
              </a:spcAft>
            </a:pPr>
            <a:r>
              <a:rPr sz="1200" b="1" i="0">
                <a:solidFill>
                  <a:srgbClr val="0B1F3A"/>
                </a:solidFill>
                <a:latin typeface="Montserrat"/>
              </a:rPr>
              <a:t>Opportunities</a:t>
            </a:r>
          </a:p>
          <a:p>
            <a:pPr algn="l">
              <a:spcAft>
                <a:spcPts val="400"/>
              </a:spcAft>
            </a:pPr>
            <a:r>
              <a:rPr sz="1050" b="0" i="0">
                <a:solidFill>
                  <a:srgbClr val="1F2937"/>
                </a:solidFill>
                <a:latin typeface="Lato"/>
              </a:rPr>
              <a:t>•  Record passenger demand (case p.7)</a:t>
            </a:r>
          </a:p>
          <a:p>
            <a:pPr algn="l">
              <a:spcAft>
                <a:spcPts val="400"/>
              </a:spcAft>
            </a:pPr>
            <a:r>
              <a:rPr sz="1050" b="0" i="0">
                <a:solidFill>
                  <a:srgbClr val="1F2937"/>
                </a:solidFill>
                <a:latin typeface="Lato"/>
              </a:rPr>
              <a:t>•  Seasonal flex flying (summer, December); OTA → direct</a:t>
            </a:r>
          </a:p>
          <a:p>
            <a:pPr algn="l">
              <a:spcAft>
                <a:spcPts val="400"/>
              </a:spcAft>
            </a:pPr>
            <a:r>
              <a:rPr sz="1050" b="0" i="0">
                <a:solidFill>
                  <a:srgbClr val="1F2937"/>
                </a:solidFill>
                <a:latin typeface="Lato"/>
              </a:rPr>
              <a:t>•  Release 2 unassigned gates at the Jan 2027 renewal (≥$0.43M/yr)</a:t>
            </a:r>
          </a:p>
        </p:txBody>
      </p:sp>
      <p:sp>
        <p:nvSpPr>
          <p:cNvPr id="36" name="Rectangle 35"/>
          <p:cNvSpPr/>
          <p:nvPr/>
        </p:nvSpPr>
        <p:spPr>
          <a:xfrm>
            <a:off x="9061704" y="4059935"/>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89720" y="4169663"/>
            <a:ext cx="2340863" cy="1938527"/>
          </a:xfrm>
          <a:prstGeom prst="rect">
            <a:avLst/>
          </a:prstGeom>
          <a:noFill/>
        </p:spPr>
        <p:txBody>
          <a:bodyPr wrap="square" anchor="t" lIns="0" rIns="0" tIns="0" bIns="0">
            <a:spAutoFit/>
          </a:bodyPr>
          <a:lstStyle/>
          <a:p>
            <a:pPr algn="l">
              <a:spcAft>
                <a:spcPts val="400"/>
              </a:spcAft>
            </a:pPr>
            <a:r>
              <a:rPr sz="1200" b="1" i="0">
                <a:solidFill>
                  <a:srgbClr val="6B7280"/>
                </a:solidFill>
                <a:latin typeface="Montserrat"/>
              </a:rPr>
              <a:t>Threats</a:t>
            </a:r>
          </a:p>
          <a:p>
            <a:pPr algn="l">
              <a:spcAft>
                <a:spcPts val="400"/>
              </a:spcAft>
            </a:pPr>
            <a:r>
              <a:rPr sz="1050" b="0" i="0">
                <a:solidFill>
                  <a:srgbClr val="1F2937"/>
                </a:solidFill>
                <a:latin typeface="Lato"/>
              </a:rPr>
              <a:t>•  Two dominant rivals plus low-cost carriers</a:t>
            </a:r>
          </a:p>
          <a:p>
            <a:pPr algn="l">
              <a:spcAft>
                <a:spcPts val="400"/>
              </a:spcAft>
            </a:pPr>
            <a:r>
              <a:rPr sz="1050" b="0" i="0">
                <a:solidFill>
                  <a:srgbClr val="1F2937"/>
                </a:solidFill>
                <a:latin typeface="Lato"/>
              </a:rPr>
              <a:t>•  Fuel, pilot wages, airport fees</a:t>
            </a:r>
          </a:p>
          <a:p>
            <a:pPr algn="l">
              <a:spcAft>
                <a:spcPts val="400"/>
              </a:spcAft>
            </a:pPr>
            <a:r>
              <a:rPr sz="1050" b="0" i="0">
                <a:solidFill>
                  <a:srgbClr val="1F2937"/>
                </a:solidFill>
                <a:latin typeface="Lato"/>
              </a:rPr>
              <a:t>•  Winter disruption + refund rules (St. John's)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