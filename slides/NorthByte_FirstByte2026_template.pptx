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Contribution</c:v>
                </c:pt>
              </c:strCache>
            </c:strRef>
          </c:tx>
          <c:invertIfNegative val="0"/>
          <c:dPt>
            <c:idx val="0"/>
            <c:spPr>
              <a:solidFill>
                <a:srgbClr val="2E7D5B"/>
              </a:solidFill>
            </c:spPr>
          </c:dPt>
          <c:dPt>
            <c:idx val="1"/>
            <c:spPr>
              <a:solidFill>
                <a:srgbClr val="E8692A"/>
              </a:solidFill>
            </c:spPr>
          </c:dPt>
          <c:dPt>
            <c:idx val="2"/>
            <c:spPr>
              <a:solidFill>
                <a:srgbClr val="E8692A"/>
              </a:solidFill>
            </c:spPr>
          </c:dPt>
          <c:dPt>
            <c:idx val="3"/>
            <c:spPr>
              <a:solidFill>
                <a:srgbClr val="E8692A"/>
              </a:solidFill>
            </c:spPr>
          </c:dPt>
          <c:dPt>
            <c:idx val="4"/>
            <c:spPr>
              <a:solidFill>
                <a:srgbClr val="0B1F3A"/>
              </a:solidFill>
            </c:spPr>
          </c:dPt>
          <c:cat>
            <c:strRef>
              <c:f>Sheet1!$A$2:$A$6</c:f>
              <c:strCache>
                <c:ptCount val="5"/>
                <c:pt idx="0">
                  <c:v>Rest of network (38 directions)</c:v>
                </c:pt>
                <c:pt idx="1">
                  <c:v>Added trunk flights (8 directions)</c:v>
                </c:pt>
                <c:pt idx="2">
                  <c:v>Montréal–Vancouver (2)</c:v>
                </c:pt>
                <c:pt idx="3">
                  <c:v>3 new markets (6)</c:v>
                </c:pt>
                <c:pt idx="4">
                  <c:v>Network total</c:v>
                </c:pt>
              </c:strCache>
            </c:strRef>
          </c:cat>
          <c:val>
            <c:numRef>
              <c:f>Sheet1!$B$2:$B$6</c:f>
              <c:numCache>
                <c:formatCode>General</c:formatCode>
                <c:ptCount val="5"/>
                <c:pt idx="0">
                  <c:v>10.6</c:v>
                </c:pt>
                <c:pt idx="1">
                  <c:v>-29.0</c:v>
                </c:pt>
                <c:pt idx="2">
                  <c:v>-19.7</c:v>
                </c:pt>
                <c:pt idx="3">
                  <c:v>-10.3</c:v>
                </c:pt>
                <c:pt idx="4">
                  <c:v>-48.4</c:v>
                </c:pt>
              </c:numCache>
            </c:numRef>
          </c:val>
        </c:ser>
        <c:dLbls>
          <c:numFmt formatCode="&quot;+&quot;0.0;&quot;−&quot;0.0" sourceLinked="0"/>
          <c:txPr>
            <a:bodyPr/>
            <a:lstStyle/>
            <a:p>
              <a:pPr>
                <a:defRPr sz="11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18.0"/>
          <c:min val="-62.0"/>
        </c:scaling>
        <c:delete/>
        <c:axPos val="b"/>
        <c:majorTickMark val="out"/>
        <c:minorTickMark val="none"/>
        <c:tickLblPos val="nextTo"/>
        <c:crossAx val="-2068027336"/>
        <c:crosses val="autoZero"/>
      </c:valAx>
    </c:plotArea>
    <c:dispBlanksAs val="gap"/>
  </c:chart>
  <c:txPr>
    <a:bodyPr/>
    <a:lstStyle/>
    <a:p>
      <a:pPr>
        <a:defRPr sz="1000">
          <a:solidFill>
            <a:srgbClr val="1F2937"/>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Contribution</c:v>
                </c:pt>
              </c:strCache>
            </c:strRef>
          </c:tx>
          <c:invertIfNegative val="0"/>
          <c:dPt>
            <c:idx val="0"/>
            <c:spPr>
              <a:solidFill>
                <a:srgbClr val="2E7D5B"/>
              </a:solidFill>
            </c:spPr>
          </c:dPt>
          <c:dPt>
            <c:idx val="1"/>
            <c:spPr>
              <a:solidFill>
                <a:srgbClr val="E8692A"/>
              </a:solidFill>
            </c:spPr>
          </c:dPt>
          <c:dPt>
            <c:idx val="2"/>
            <c:spPr>
              <a:solidFill>
                <a:srgbClr val="E8692A"/>
              </a:solidFill>
            </c:spPr>
          </c:dPt>
          <c:dPt>
            <c:idx val="3"/>
            <c:spPr>
              <a:solidFill>
                <a:srgbClr val="E8692A"/>
              </a:solidFill>
            </c:spPr>
          </c:dPt>
          <c:dPt>
            <c:idx val="4"/>
            <c:spPr>
              <a:solidFill>
                <a:srgbClr val="0B1F3A"/>
              </a:solidFill>
            </c:spPr>
          </c:dPt>
          <c:cat>
            <c:strRef>
              <c:f>Sheet1!$A$2:$A$6</c:f>
              <c:strCache>
                <c:ptCount val="5"/>
                <c:pt idx="0">
                  <c:v>Rest of network (38 directions)</c:v>
                </c:pt>
                <c:pt idx="1">
                  <c:v>4 doubled trunk markets (8 directions)</c:v>
                </c:pt>
                <c:pt idx="2">
                  <c:v>Montréal–Vancouver (2)</c:v>
                </c:pt>
                <c:pt idx="3">
                  <c:v>3 new markets (6)</c:v>
                </c:pt>
                <c:pt idx="4">
                  <c:v>Network total</c:v>
                </c:pt>
              </c:strCache>
            </c:strRef>
          </c:cat>
          <c:val>
            <c:numRef>
              <c:f>Sheet1!$B$2:$B$6</c:f>
              <c:numCache>
                <c:formatCode>General</c:formatCode>
                <c:ptCount val="5"/>
                <c:pt idx="0">
                  <c:v>10.6</c:v>
                </c:pt>
                <c:pt idx="1">
                  <c:v>-29.0</c:v>
                </c:pt>
                <c:pt idx="2">
                  <c:v>-19.7</c:v>
                </c:pt>
                <c:pt idx="3">
                  <c:v>-10.3</c:v>
                </c:pt>
                <c:pt idx="4">
                  <c:v>-48.4</c:v>
                </c:pt>
              </c:numCache>
            </c:numRef>
          </c:val>
        </c:ser>
        <c:dLbls>
          <c:numFmt formatCode="&quot;+&quot;0.0;&quot;−&quot;0.0" sourceLinked="0"/>
          <c:txPr>
            <a:bodyPr/>
            <a:lstStyle/>
            <a:p>
              <a:pPr>
                <a:defRPr sz="11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18.0"/>
          <c:min val="-62.0"/>
        </c:scaling>
        <c:delete/>
        <c:axPos val="b"/>
        <c:majorTickMark val="out"/>
        <c:minorTickMark val="none"/>
        <c:tickLblPos val="nextTo"/>
        <c:crossAx val="-2068027336"/>
        <c:crosses val="autoZero"/>
      </c:valAx>
    </c:plotArea>
    <c:dispBlanksAs val="gap"/>
  </c:chart>
  <c:txPr>
    <a:bodyPr/>
    <a:lstStyle/>
    <a:p>
      <a:pPr>
        <a:defRPr sz="1000">
          <a:solidFill>
            <a:srgbClr val="1F2937"/>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Contribution</c:v>
                </c:pt>
              </c:strCache>
            </c:strRef>
          </c:tx>
          <c:invertIfNegative val="0"/>
          <c:dPt>
            <c:idx val="0"/>
            <c:spPr>
              <a:solidFill>
                <a:srgbClr val="2E7D5B"/>
              </a:solidFill>
            </c:spPr>
          </c:dPt>
          <c:dPt>
            <c:idx val="1"/>
            <c:spPr>
              <a:solidFill>
                <a:srgbClr val="E8692A"/>
              </a:solidFill>
            </c:spPr>
          </c:dPt>
          <c:dPt>
            <c:idx val="2"/>
            <c:spPr>
              <a:solidFill>
                <a:srgbClr val="E8692A"/>
              </a:solidFill>
            </c:spPr>
          </c:dPt>
          <c:dPt>
            <c:idx val="3"/>
            <c:spPr>
              <a:solidFill>
                <a:srgbClr val="E8692A"/>
              </a:solidFill>
            </c:spPr>
          </c:dPt>
          <c:dPt>
            <c:idx val="4"/>
            <c:spPr>
              <a:solidFill>
                <a:srgbClr val="0B1F3A"/>
              </a:solidFill>
            </c:spPr>
          </c:dPt>
          <c:cat>
            <c:strRef>
              <c:f>Sheet1!$A$2:$A$6</c:f>
              <c:strCache>
                <c:ptCount val="5"/>
                <c:pt idx="0">
                  <c:v>Rest of network (38 directions)</c:v>
                </c:pt>
                <c:pt idx="1">
                  <c:v>4 doubled trunk markets (8 directions)</c:v>
                </c:pt>
                <c:pt idx="2">
                  <c:v>Montréal–Vancouver (2)</c:v>
                </c:pt>
                <c:pt idx="3">
                  <c:v>3 new markets (6)</c:v>
                </c:pt>
                <c:pt idx="4">
                  <c:v>Network total</c:v>
                </c:pt>
              </c:strCache>
            </c:strRef>
          </c:cat>
          <c:val>
            <c:numRef>
              <c:f>Sheet1!$B$2:$B$6</c:f>
              <c:numCache>
                <c:formatCode>General</c:formatCode>
                <c:ptCount val="5"/>
                <c:pt idx="0">
                  <c:v>10.6</c:v>
                </c:pt>
                <c:pt idx="1">
                  <c:v>-29.0</c:v>
                </c:pt>
                <c:pt idx="2">
                  <c:v>-19.7</c:v>
                </c:pt>
                <c:pt idx="3">
                  <c:v>-10.3</c:v>
                </c:pt>
                <c:pt idx="4">
                  <c:v>-48.4</c:v>
                </c:pt>
              </c:numCache>
            </c:numRef>
          </c:val>
        </c:ser>
        <c:dLbls>
          <c:numFmt formatCode="&quot;+&quot;0.0;&quot;−&quot;0.0" sourceLinked="0"/>
          <c:txPr>
            <a:bodyPr/>
            <a:lstStyle/>
            <a:p>
              <a:pPr>
                <a:defRPr sz="11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18.0"/>
          <c:min val="-62.0"/>
        </c:scaling>
        <c:delete/>
        <c:axPos val="b"/>
        <c:majorTickMark val="out"/>
        <c:minorTickMark val="none"/>
        <c:tickLblPos val="nextTo"/>
        <c:crossAx val="-2068027336"/>
        <c:crosses val="autoZero"/>
      </c:valAx>
    </c:plotArea>
    <c:dispBlanksAs val="gap"/>
  </c:chart>
  <c:txPr>
    <a:bodyPr/>
    <a:lstStyle/>
    <a:p>
      <a:pPr>
        <a:defRPr sz="1000">
          <a:solidFill>
            <a:srgbClr val="1F2937"/>
          </a:solidFill>
          <a:latin typeface="La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Contribution</c:v>
                </c:pt>
              </c:strCache>
            </c:strRef>
          </c:tx>
          <c:invertIfNegative val="0"/>
          <c:dPt>
            <c:idx val="0"/>
            <c:spPr>
              <a:solidFill>
                <a:srgbClr val="2E7D5B"/>
              </a:solidFill>
            </c:spPr>
          </c:dPt>
          <c:dPt>
            <c:idx val="1"/>
            <c:spPr>
              <a:solidFill>
                <a:srgbClr val="E8692A"/>
              </a:solidFill>
            </c:spPr>
          </c:dPt>
          <c:dPt>
            <c:idx val="2"/>
            <c:spPr>
              <a:solidFill>
                <a:srgbClr val="E8692A"/>
              </a:solidFill>
            </c:spPr>
          </c:dPt>
          <c:dPt>
            <c:idx val="3"/>
            <c:spPr>
              <a:solidFill>
                <a:srgbClr val="E8692A"/>
              </a:solidFill>
            </c:spPr>
          </c:dPt>
          <c:dPt>
            <c:idx val="4"/>
            <c:spPr>
              <a:solidFill>
                <a:srgbClr val="0B1F3A"/>
              </a:solidFill>
            </c:spPr>
          </c:dPt>
          <c:cat>
            <c:strRef>
              <c:f>Sheet1!$A$2:$A$6</c:f>
              <c:strCache>
                <c:ptCount val="5"/>
                <c:pt idx="0">
                  <c:v>Rest of network (38 directions)</c:v>
                </c:pt>
                <c:pt idx="1">
                  <c:v>4 doubled trunk markets (8 directions)</c:v>
                </c:pt>
                <c:pt idx="2">
                  <c:v>Montréal–Vancouver (2)</c:v>
                </c:pt>
                <c:pt idx="3">
                  <c:v>3 new markets (6)</c:v>
                </c:pt>
                <c:pt idx="4">
                  <c:v>Network total</c:v>
                </c:pt>
              </c:strCache>
            </c:strRef>
          </c:cat>
          <c:val>
            <c:numRef>
              <c:f>Sheet1!$B$2:$B$6</c:f>
              <c:numCache>
                <c:formatCode>General</c:formatCode>
                <c:ptCount val="5"/>
                <c:pt idx="0">
                  <c:v>10.6</c:v>
                </c:pt>
                <c:pt idx="1">
                  <c:v>-29.0</c:v>
                </c:pt>
                <c:pt idx="2">
                  <c:v>-19.7</c:v>
                </c:pt>
                <c:pt idx="3">
                  <c:v>-10.3</c:v>
                </c:pt>
                <c:pt idx="4">
                  <c:v>-48.4</c:v>
                </c:pt>
              </c:numCache>
            </c:numRef>
          </c:val>
        </c:ser>
        <c:dLbls>
          <c:numFmt formatCode="&quot;+&quot;0.0;&quot;−&quot;0.0" sourceLinked="0"/>
          <c:txPr>
            <a:bodyPr/>
            <a:lstStyle/>
            <a:p>
              <a:pPr>
                <a:defRPr sz="11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18.0"/>
          <c:min val="-62.0"/>
        </c:scaling>
        <c:delete/>
        <c:axPos val="b"/>
        <c:majorTickMark val="out"/>
        <c:minorTickMark val="none"/>
        <c:tickLblPos val="nextTo"/>
        <c:crossAx val="-2068027336"/>
        <c:crosses val="autoZero"/>
      </c:valAx>
    </c:plotArea>
    <c:dispBlanksAs val="gap"/>
  </c:chart>
  <c:txPr>
    <a:bodyPr/>
    <a:lstStyle/>
    <a:p>
      <a:pPr>
        <a:defRPr sz="1000">
          <a:solidFill>
            <a:srgbClr val="1F2937"/>
          </a:solidFill>
          <a:latin typeface="La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Contribution</c:v>
                </c:pt>
              </c:strCache>
            </c:strRef>
          </c:tx>
          <c:invertIfNegative val="0"/>
          <c:dPt>
            <c:idx val="0"/>
            <c:spPr>
              <a:solidFill>
                <a:srgbClr val="2E7D5B"/>
              </a:solidFill>
            </c:spPr>
          </c:dPt>
          <c:dPt>
            <c:idx val="1"/>
            <c:spPr>
              <a:solidFill>
                <a:srgbClr val="E8692A"/>
              </a:solidFill>
            </c:spPr>
          </c:dPt>
          <c:dPt>
            <c:idx val="2"/>
            <c:spPr>
              <a:solidFill>
                <a:srgbClr val="E8692A"/>
              </a:solidFill>
            </c:spPr>
          </c:dPt>
          <c:dPt>
            <c:idx val="3"/>
            <c:spPr>
              <a:solidFill>
                <a:srgbClr val="E8692A"/>
              </a:solidFill>
            </c:spPr>
          </c:dPt>
          <c:dPt>
            <c:idx val="4"/>
            <c:spPr>
              <a:solidFill>
                <a:srgbClr val="0B1F3A"/>
              </a:solidFill>
            </c:spPr>
          </c:dPt>
          <c:cat>
            <c:strRef>
              <c:f>Sheet1!$A$2:$A$6</c:f>
              <c:strCache>
                <c:ptCount val="5"/>
                <c:pt idx="0">
                  <c:v>Rest of network (38 directions)</c:v>
                </c:pt>
                <c:pt idx="1">
                  <c:v>4 doubled trunk markets (8 directions)</c:v>
                </c:pt>
                <c:pt idx="2">
                  <c:v>Montréal–Vancouver (2)</c:v>
                </c:pt>
                <c:pt idx="3">
                  <c:v>3 new markets (6)</c:v>
                </c:pt>
                <c:pt idx="4">
                  <c:v>Network total</c:v>
                </c:pt>
              </c:strCache>
            </c:strRef>
          </c:cat>
          <c:val>
            <c:numRef>
              <c:f>Sheet1!$B$2:$B$6</c:f>
              <c:numCache>
                <c:formatCode>General</c:formatCode>
                <c:ptCount val="5"/>
                <c:pt idx="0">
                  <c:v>10.6</c:v>
                </c:pt>
                <c:pt idx="1">
                  <c:v>-29.0</c:v>
                </c:pt>
                <c:pt idx="2">
                  <c:v>-19.7</c:v>
                </c:pt>
                <c:pt idx="3">
                  <c:v>-10.3</c:v>
                </c:pt>
                <c:pt idx="4">
                  <c:v>-48.4</c:v>
                </c:pt>
              </c:numCache>
            </c:numRef>
          </c:val>
        </c:ser>
        <c:dLbls>
          <c:numFmt formatCode="&quot;+&quot;0.0;&quot;−&quot;0.0" sourceLinked="0"/>
          <c:txPr>
            <a:bodyPr/>
            <a:lstStyle/>
            <a:p>
              <a:pPr>
                <a:defRPr sz="11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18.0"/>
          <c:min val="-62.0"/>
        </c:scaling>
        <c:delete/>
        <c:axPos val="b"/>
        <c:majorTickMark val="out"/>
        <c:minorTickMark val="none"/>
        <c:tickLblPos val="nextTo"/>
        <c:crossAx val="-2068027336"/>
        <c:crosses val="autoZero"/>
      </c:valAx>
    </c:plotArea>
    <c:dispBlanksAs val="gap"/>
  </c:chart>
  <c:txPr>
    <a:bodyPr/>
    <a:lstStyle/>
    <a:p>
      <a:pPr>
        <a:defRPr sz="1000">
          <a:solidFill>
            <a:srgbClr val="1F2937"/>
          </a:solidFill>
          <a:latin typeface="La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Contribution</c:v>
                </c:pt>
              </c:strCache>
            </c:strRef>
          </c:tx>
          <c:invertIfNegative val="0"/>
          <c:dPt>
            <c:idx val="0"/>
            <c:spPr>
              <a:solidFill>
                <a:srgbClr val="2E7D5B"/>
              </a:solidFill>
            </c:spPr>
          </c:dPt>
          <c:dPt>
            <c:idx val="1"/>
            <c:spPr>
              <a:solidFill>
                <a:srgbClr val="E8692A"/>
              </a:solidFill>
            </c:spPr>
          </c:dPt>
          <c:dPt>
            <c:idx val="2"/>
            <c:spPr>
              <a:solidFill>
                <a:srgbClr val="E8692A"/>
              </a:solidFill>
            </c:spPr>
          </c:dPt>
          <c:dPt>
            <c:idx val="3"/>
            <c:spPr>
              <a:solidFill>
                <a:srgbClr val="E8692A"/>
              </a:solidFill>
            </c:spPr>
          </c:dPt>
          <c:dPt>
            <c:idx val="4"/>
            <c:spPr>
              <a:solidFill>
                <a:srgbClr val="0B1F3A"/>
              </a:solidFill>
            </c:spPr>
          </c:dPt>
          <c:cat>
            <c:strRef>
              <c:f>Sheet1!$A$2:$A$6</c:f>
              <c:strCache>
                <c:ptCount val="5"/>
                <c:pt idx="0">
                  <c:v>Rest of network (38 directions)</c:v>
                </c:pt>
                <c:pt idx="1">
                  <c:v>4 doubled trunk markets (8 directions)</c:v>
                </c:pt>
                <c:pt idx="2">
                  <c:v>Montréal–Vancouver (2)</c:v>
                </c:pt>
                <c:pt idx="3">
                  <c:v>3 new markets (6)</c:v>
                </c:pt>
                <c:pt idx="4">
                  <c:v>Network total</c:v>
                </c:pt>
              </c:strCache>
            </c:strRef>
          </c:cat>
          <c:val>
            <c:numRef>
              <c:f>Sheet1!$B$2:$B$6</c:f>
              <c:numCache>
                <c:formatCode>General</c:formatCode>
                <c:ptCount val="5"/>
                <c:pt idx="0">
                  <c:v>10.6</c:v>
                </c:pt>
                <c:pt idx="1">
                  <c:v>-29.0</c:v>
                </c:pt>
                <c:pt idx="2">
                  <c:v>-19.7</c:v>
                </c:pt>
                <c:pt idx="3">
                  <c:v>-10.3</c:v>
                </c:pt>
                <c:pt idx="4">
                  <c:v>-48.4</c:v>
                </c:pt>
              </c:numCache>
            </c:numRef>
          </c:val>
        </c:ser>
        <c:dLbls>
          <c:numFmt formatCode="&quot;+&quot;0.0;&quot;−&quot;0.0" sourceLinked="0"/>
          <c:txPr>
            <a:bodyPr/>
            <a:lstStyle/>
            <a:p>
              <a:pPr>
                <a:defRPr sz="11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18.0"/>
          <c:min val="-62.0"/>
        </c:scaling>
        <c:delete/>
        <c:axPos val="b"/>
        <c:majorTickMark val="out"/>
        <c:minorTickMark val="none"/>
        <c:tickLblPos val="nextTo"/>
        <c:crossAx val="-2068027336"/>
        <c:crosses val="autoZero"/>
      </c:valAx>
    </c:plotArea>
    <c:dispBlanksAs val="gap"/>
  </c:chart>
  <c:txPr>
    <a:bodyPr/>
    <a:lstStyle/>
    <a:p>
      <a:pPr>
        <a:defRPr sz="1000">
          <a:solidFill>
            <a:srgbClr val="1F2937"/>
          </a:solidFill>
          <a:latin typeface="La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Contribution</c:v>
                </c:pt>
              </c:strCache>
            </c:strRef>
          </c:tx>
          <c:invertIfNegative val="0"/>
          <c:dPt>
            <c:idx val="0"/>
            <c:spPr>
              <a:solidFill>
                <a:srgbClr val="2E7D5B"/>
              </a:solidFill>
            </c:spPr>
          </c:dPt>
          <c:dPt>
            <c:idx val="1"/>
            <c:spPr>
              <a:solidFill>
                <a:srgbClr val="E8692A"/>
              </a:solidFill>
            </c:spPr>
          </c:dPt>
          <c:dPt>
            <c:idx val="2"/>
            <c:spPr>
              <a:solidFill>
                <a:srgbClr val="E8692A"/>
              </a:solidFill>
            </c:spPr>
          </c:dPt>
          <c:dPt>
            <c:idx val="3"/>
            <c:spPr>
              <a:solidFill>
                <a:srgbClr val="E8692A"/>
              </a:solidFill>
            </c:spPr>
          </c:dPt>
          <c:dPt>
            <c:idx val="4"/>
            <c:spPr>
              <a:solidFill>
                <a:srgbClr val="0B1F3A"/>
              </a:solidFill>
            </c:spPr>
          </c:dPt>
          <c:cat>
            <c:strRef>
              <c:f>Sheet1!$A$2:$A$6</c:f>
              <c:strCache>
                <c:ptCount val="5"/>
                <c:pt idx="0">
                  <c:v>Rest of network (38 directions)</c:v>
                </c:pt>
                <c:pt idx="1">
                  <c:v>4 doubled trunk markets (8 directions)</c:v>
                </c:pt>
                <c:pt idx="2">
                  <c:v>Montréal–Vancouver (2)</c:v>
                </c:pt>
                <c:pt idx="3">
                  <c:v>3 new markets (6)</c:v>
                </c:pt>
                <c:pt idx="4">
                  <c:v>Network total</c:v>
                </c:pt>
              </c:strCache>
            </c:strRef>
          </c:cat>
          <c:val>
            <c:numRef>
              <c:f>Sheet1!$B$2:$B$6</c:f>
              <c:numCache>
                <c:formatCode>General</c:formatCode>
                <c:ptCount val="5"/>
                <c:pt idx="0">
                  <c:v>10.6</c:v>
                </c:pt>
                <c:pt idx="1">
                  <c:v>-29.0</c:v>
                </c:pt>
                <c:pt idx="2">
                  <c:v>-19.7</c:v>
                </c:pt>
                <c:pt idx="3">
                  <c:v>-10.3</c:v>
                </c:pt>
                <c:pt idx="4">
                  <c:v>-48.4</c:v>
                </c:pt>
              </c:numCache>
            </c:numRef>
          </c:val>
        </c:ser>
        <c:dLbls>
          <c:numFmt formatCode="&quot;+&quot;0.0;&quot;−&quot;0.0" sourceLinked="0"/>
          <c:txPr>
            <a:bodyPr/>
            <a:lstStyle/>
            <a:p>
              <a:pPr>
                <a:defRPr sz="11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18.0"/>
          <c:min val="-62.0"/>
        </c:scaling>
        <c:delete/>
        <c:axPos val="b"/>
        <c:majorTickMark val="out"/>
        <c:minorTickMark val="none"/>
        <c:tickLblPos val="nextTo"/>
        <c:crossAx val="-2068027336"/>
        <c:crosses val="autoZero"/>
      </c:valAx>
    </c:plotArea>
    <c:dispBlanksAs val="gap"/>
  </c:chart>
  <c:txPr>
    <a:bodyPr/>
    <a:lstStyle/>
    <a:p>
      <a:pPr>
        <a:defRPr sz="1000">
          <a:solidFill>
            <a:srgbClr val="1F2937"/>
          </a:solidFill>
          <a:latin typeface="La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Contribution</c:v>
                </c:pt>
              </c:strCache>
            </c:strRef>
          </c:tx>
          <c:invertIfNegative val="0"/>
          <c:dPt>
            <c:idx val="0"/>
            <c:spPr>
              <a:solidFill>
                <a:srgbClr val="2E7D5B"/>
              </a:solidFill>
            </c:spPr>
          </c:dPt>
          <c:dPt>
            <c:idx val="1"/>
            <c:spPr>
              <a:solidFill>
                <a:srgbClr val="E8692A"/>
              </a:solidFill>
            </c:spPr>
          </c:dPt>
          <c:dPt>
            <c:idx val="2"/>
            <c:spPr>
              <a:solidFill>
                <a:srgbClr val="E8692A"/>
              </a:solidFill>
            </c:spPr>
          </c:dPt>
          <c:dPt>
            <c:idx val="3"/>
            <c:spPr>
              <a:solidFill>
                <a:srgbClr val="E8692A"/>
              </a:solidFill>
            </c:spPr>
          </c:dPt>
          <c:dPt>
            <c:idx val="4"/>
            <c:spPr>
              <a:solidFill>
                <a:srgbClr val="0B1F3A"/>
              </a:solidFill>
            </c:spPr>
          </c:dPt>
          <c:cat>
            <c:strRef>
              <c:f>Sheet1!$A$2:$A$6</c:f>
              <c:strCache>
                <c:ptCount val="5"/>
                <c:pt idx="0">
                  <c:v>Rest of network (38 directions)</c:v>
                </c:pt>
                <c:pt idx="1">
                  <c:v>4 doubled trunk markets (8 directions)</c:v>
                </c:pt>
                <c:pt idx="2">
                  <c:v>Montréal–Vancouver (2)</c:v>
                </c:pt>
                <c:pt idx="3">
                  <c:v>3 new markets (6)</c:v>
                </c:pt>
                <c:pt idx="4">
                  <c:v>Network total</c:v>
                </c:pt>
              </c:strCache>
            </c:strRef>
          </c:cat>
          <c:val>
            <c:numRef>
              <c:f>Sheet1!$B$2:$B$6</c:f>
              <c:numCache>
                <c:formatCode>General</c:formatCode>
                <c:ptCount val="5"/>
                <c:pt idx="0">
                  <c:v>10.6</c:v>
                </c:pt>
                <c:pt idx="1">
                  <c:v>-29.0</c:v>
                </c:pt>
                <c:pt idx="2">
                  <c:v>-19.7</c:v>
                </c:pt>
                <c:pt idx="3">
                  <c:v>-10.3</c:v>
                </c:pt>
                <c:pt idx="4">
                  <c:v>-48.4</c:v>
                </c:pt>
              </c:numCache>
            </c:numRef>
          </c:val>
        </c:ser>
        <c:dLbls>
          <c:numFmt formatCode="&quot;+&quot;0.0;&quot;−&quot;0.0" sourceLinked="0"/>
          <c:txPr>
            <a:bodyPr/>
            <a:lstStyle/>
            <a:p>
              <a:pPr>
                <a:defRPr sz="11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18.0"/>
          <c:min val="-62.0"/>
        </c:scaling>
        <c:delete/>
        <c:axPos val="b"/>
        <c:majorTickMark val="out"/>
        <c:minorTickMark val="none"/>
        <c:tickLblPos val="nextTo"/>
        <c:crossAx val="-2068027336"/>
        <c:crosses val="autoZero"/>
      </c:valAx>
    </c:plotArea>
    <c:dispBlanksAs val="gap"/>
  </c:chart>
  <c:txPr>
    <a:bodyPr/>
    <a:lstStyle/>
    <a:p>
      <a:pPr>
        <a:defRPr sz="1000">
          <a:solidFill>
            <a:srgbClr val="1F2937"/>
          </a:solidFill>
          <a:latin typeface="La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Contribution</c:v>
                </c:pt>
              </c:strCache>
            </c:strRef>
          </c:tx>
          <c:invertIfNegative val="0"/>
          <c:dPt>
            <c:idx val="0"/>
            <c:spPr>
              <a:solidFill>
                <a:srgbClr val="2E7D5B"/>
              </a:solidFill>
            </c:spPr>
          </c:dPt>
          <c:dPt>
            <c:idx val="1"/>
            <c:spPr>
              <a:solidFill>
                <a:srgbClr val="E8692A"/>
              </a:solidFill>
            </c:spPr>
          </c:dPt>
          <c:dPt>
            <c:idx val="2"/>
            <c:spPr>
              <a:solidFill>
                <a:srgbClr val="E8692A"/>
              </a:solidFill>
            </c:spPr>
          </c:dPt>
          <c:dPt>
            <c:idx val="3"/>
            <c:spPr>
              <a:solidFill>
                <a:srgbClr val="E8692A"/>
              </a:solidFill>
            </c:spPr>
          </c:dPt>
          <c:dPt>
            <c:idx val="4"/>
            <c:spPr>
              <a:solidFill>
                <a:srgbClr val="0B1F3A"/>
              </a:solidFill>
            </c:spPr>
          </c:dPt>
          <c:cat>
            <c:strRef>
              <c:f>Sheet1!$A$2:$A$6</c:f>
              <c:strCache>
                <c:ptCount val="5"/>
                <c:pt idx="0">
                  <c:v>Rest of network (38 directions)</c:v>
                </c:pt>
                <c:pt idx="1">
                  <c:v>4 doubled trunk markets (8 directions)</c:v>
                </c:pt>
                <c:pt idx="2">
                  <c:v>Montréal–Vancouver (2)</c:v>
                </c:pt>
                <c:pt idx="3">
                  <c:v>3 new markets (6)</c:v>
                </c:pt>
                <c:pt idx="4">
                  <c:v>Network total</c:v>
                </c:pt>
              </c:strCache>
            </c:strRef>
          </c:cat>
          <c:val>
            <c:numRef>
              <c:f>Sheet1!$B$2:$B$6</c:f>
              <c:numCache>
                <c:formatCode>General</c:formatCode>
                <c:ptCount val="5"/>
                <c:pt idx="0">
                  <c:v>10.6</c:v>
                </c:pt>
                <c:pt idx="1">
                  <c:v>-29.0</c:v>
                </c:pt>
                <c:pt idx="2">
                  <c:v>-19.7</c:v>
                </c:pt>
                <c:pt idx="3">
                  <c:v>-10.3</c:v>
                </c:pt>
                <c:pt idx="4">
                  <c:v>-48.4</c:v>
                </c:pt>
              </c:numCache>
            </c:numRef>
          </c:val>
        </c:ser>
        <c:dLbls>
          <c:numFmt formatCode="&quot;+&quot;0.0;&quot;−&quot;0.0" sourceLinked="0"/>
          <c:txPr>
            <a:bodyPr/>
            <a:lstStyle/>
            <a:p>
              <a:pPr>
                <a:defRPr sz="11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18.0"/>
          <c:min val="-62.0"/>
        </c:scaling>
        <c:delete/>
        <c:axPos val="b"/>
        <c:majorTickMark val="out"/>
        <c:minorTickMark val="none"/>
        <c:tickLblPos val="nextTo"/>
        <c:crossAx val="-2068027336"/>
        <c:crosses val="autoZero"/>
      </c:valAx>
    </c:plotArea>
    <c:dispBlanksAs val="gap"/>
  </c:chart>
  <c:txPr>
    <a:bodyPr/>
    <a:lstStyle/>
    <a:p>
      <a:pPr>
        <a:defRPr sz="1000">
          <a:solidFill>
            <a:srgbClr val="1F2937"/>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~15 sec. Title is a working draft. Swap in team name; file must be named [TeamName]_FirstByte2026.pdf. Deadline: Thu Oct 15, 11:59 PM, PDF only, one upload.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 SUMMARY. ~45 sec. Answer first: problem, root cause, recommendation, impact. Left column = analysis (drafted). Right column = recommendations (to be filled once recs are decided). Keep every number here identical to the analysis slides.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SITUATION / KEY QUESTION. ~40 sec. Set up the case from the brief: domestic carrier, 20 airports, 4 hubs (YVR, YYC, YYZ, YUL), FY = Sep–Aug. Spring 2025: 3 new connections (London, Moncton, Montréal–Ottawa). Finance only reviewed costs at company level, by category, never route by route; that gap is our angle. End on the key question. Values constraint (safety, fair to customers, connect communities) frames recs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&amp; APPROACH. ~40 sec. Data Analysis = 35% of score; show rigor quickly, push detail to appendix. Key points: route codes normalized (e.g. 'yvryeg' → YVR-YEG), 1,856 duplicate transactions removed ($1.23M), mixed date formats resolved, gate costs de-duplicated (source repeats each gate per route) and pro-rated from calendar lease years onto the Sep–Aug fiscal year. TODO: gate allocation must follow the case rule: airport total ÷ ALL flights departing that airport. Current analysis/ code splits equally across listed routes; redo before finalizing.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Optional: delete if time is tight (10 min talk).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GUIDING Q1 (what changed). ~50 sec. Chart: period comparison or contribution bridge. Bridge story: +$9.4M revenue vs +$45.4M cost; fuel +$16.1M, crew +$15.1M, maint +$13.0M, food +$1.2M. TODO: reconcile our −$48.4M with the case's 'about $40M' (check whether difference = duplicates, refunds, or the case using a different cost basis). Swap in final chart.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GUIDING Q1 (when). ~50 sec. Monthly flights jumped from ~790 (Feb 2025) to 1,157 (Mar) and ~1,250-1,480 after. Margin went from +4.5% (Feb) to −7% (Mar) to −24% (Apr) and never recovered. Case says losses since Feb 2025; our data shows Feb still +4.5%. Decide how to phrase; don't contradict the client without explaining. Annotate the chart with the expansion date.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GUIDING Q1 + Q3 (fuel &amp; crew). ~60 sec. KEY INSIGHT SLIDE. Volume/price decomposition: holding FY24-25 cost per flight fixed, extra flights explain $39.2M of $45.4M (86%); per-flight cost &amp; mix explain $6.2M. Case states fuel/flight +3%, crew/flight +4%; verify against our cost-per-flight by category. Food cost/flight actually fell ($598 → $575). Suggested visual: stacked bar 'volume vs. price' by category.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Optional: delete if time is tight (10 min talk).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GUIDING Q2. ~60 sec. Montréal–Vancouver (both directions) −$19.7M in FY25-26 = 32% of route losses; revenue +$0.4M vs cost +$12.0M. 8 worst routes = 71% of the decline. 26 profitable routes earn +$12.6M (Toronto–Calgary, Calgary–Vancouver lead). Both directions share the same sign in all 27 markets → talk in markets. TODO: re-run after gate allocation per case rule; show 'after gates' version.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GUIDING Q1/Q2. ~45 sec. TODO ANALYSIS. Two parts of the expansion: (a) the 3 new connections (London–Toronto from Feb 2025, Montréal–Ottawa from Mar, Moncton–Halifax from Apr: 6 directions) and (b) added frequencies on existing routes (most of the +~450 flights/month). Show contribution, revenue per flight and flights added for each group. Existing: like-for-like 612 route-months contribution still fell $31.1M, new route-months −$4.9M → most damage is added frequency on EXISTING routes.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Optional: delete if time is tight (10 min talk).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GUIDING Q3 + Q4. ~60 sec. Refunds $6.7M → $7.8M (+17% vs +5.6% sales); OTA refund burden 5.8% vs 3.7% direct. Ancillaries ~1.8% of revenue ($3.4M paid extras + $0.6M change fees). TODO: (1) refunds by region × winter months (case hints Atlantic/North weather exposure); (2) Rewards cost: Points + Cash = 10.6% of revenue, tier mix; size the decline it explains; (3) connecting passengers: 12,912 bookings span multiple routes; revenue share &amp; which hubs. Close with a 'factor ranking' bar: $ impact of each factor vs. the $36M decline.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GUIDING Q5. ~45 sec. Raw rows double-count shared gates ($17.4M row sum vs $9.66M actual for 2024-25; $9.88M for 2025-26, +2.2%). TODO: (1) forecast 2026-27 by airport (state the method, e.g. apply per-airport growth rate); (2) pro-rate calendar leases onto fiscal years (FY = 4 mo of lease Y + 8 mo of lease Y+1); (3) allocate each airport's total evenly across ALL departing flights (case rule); (4) flag airports with idle gates (low departures per gate). Halifax A3 and Ottawa A2 have no routes assigned.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SYNTHESIS. ~30 sec. Bridge from analysis to issues. One visual that ranks drivers by $ impact. This is where 'not every factor matters equally' (case) gets answered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Optional: delete if time is tight (10 min talk).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ISSUES. ~40 sec.</a:t>
            </a:r>
          </a:p>
          <a:p>
            <a:r>
              <a:t>Say: "Record revenue, but a loss nearly four times last year's. Three issues explain it, and they are not the ones leadership suspected."</a:t>
            </a:r>
          </a:p>
          <a:p>
            <a:r>
              <a:t>1. Capacity outran demand. The chart is the whole story: the 16 directions NorthByte added or doubled in 2025 lose about $59M; the other 38 still make +$10.6M (about +$5M after gates) and were profitable in all 24 months. That answers Q2: the rest of the network still earns, but covers only about a fifth of the expansion's −$59M.</a:t>
            </a:r>
          </a:p>
          <a:p>
            <a:r>
              <a:t>   The 4 doubled trunk markets are Montréal–Toronto, Halifax–Toronto, Halifax–Montréal and Ottawa–Toronto. Name them; do not say "8 directions" without naming them (afternoon_findings uses a different 8).</a:t>
            </a:r>
          </a:p>
          <a:p>
            <a:r>
              <a:t>   The staggered rollout is strongly consistent with cause and effect: each group's fare fell ~10% against control routes in the exact month its flights doubled (purchase-month revenue, so say "consistent with", not "proves").</a:t>
            </a:r>
          </a:p>
          <a:p>
            <a:r>
              <a:t>2. Each flight earns less and costs more. Per flight on the same route and month, fuel +8.7% and crew +8.5% ($12.2M together); with maintenance (+4.7%, $3.1M) all cost lines rose $15.2M on that basis ($12.3M on identical flights), rising Jan–Jul 2025 on every route, then flat. If asked "what about maintenance +$13.0M?": mostly volume; only $3.1M is per-flight, and it falls with the flights Right-Size removes. By cost line fuel+crew are $31.2M of the decline; by cause, $19.0M of that is flying more and $12.2M is higher cost per flight. Trunk fares fell ~8% Sep–Feb. Do NOT add issue 2 to issue 1: about $6.5M of the cost rise is already inside issue 1's route losses.</a:t>
            </a:r>
          </a:p>
          <a:p>
            <a:r>
              <a:t>3. Root cause: costs were reviewed company-wide, by category (case p.10). The routes later doubled already had a 5.4% margin vs 12.3% elsewhere, and 8,051 of 8,183 Mar–Aug 2026 flights repeat 2025 exactly. "Nobody reviewed it" is our inference from that; say so if asked.</a:t>
            </a:r>
          </a:p>
          <a:p>
            <a:r>
              <a:t>Close with the strip: Five Forces explains why frequency was the wrong bet (competitor response is our inference; the data only shows NorthByte's own fares). Ancillaries, gates and seasonality are each an order of magnitude smaller; Rewards' cost isn't in the data, so we don't size it.</a:t>
            </a:r>
          </a:p>
          <a:p>
            <a:r>
              <a:t>If asked "is it ALL the expansion?": no. The 16 added directions explain ~90% of the decline (the 10 doubled trunk directions alone 78%); the other 38 directions also slipped $3.4M (+$14.0M → +$10.6M) on the per-flight cost step, and 12 of them lose money individually.</a:t>
            </a:r>
          </a:p>
          <a:p>
            <a:r>
              <a:t>The case's "~$40M" is our −$48.4M with refunds excluded (−$40.5M). Refunds $6.7M → $7.8M is about +9% like-for-like (Sep 2024 is a low data month).</a:t>
            </a:r>
          </a:p>
          <a:p>
            <a:r>
              <a:t>Sources: analysis/airline_analysis.sqlite; slides/OUTLINE.md "Verification notes"; cross-checked against the teammate repo (differences are only date parsing, ≤ $0.3M).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ALTERNATIVES. ~45 sec.</a:t>
            </a:r>
          </a:p>
          <a:p>
            <a:r>
              <a:t>Say: "We tested four ways out, on one consistent FY25-26 basis, against NorthByte's own values."</a:t>
            </a:r>
          </a:p>
          <a:p>
            <a:r>
              <a:t>- Stay the Course: the baseline, about −$58M after gates.</a:t>
            </a:r>
          </a:p>
          <a:p>
            <a:r>
              <a:t>- Fill the Planes: keep every flight and sell more. It needs +25.5% revenue just to break even before gates (+30.7% after), roughly 5 years of record growth with ~$130M more losses on the way, and every lever we sized adds only ~$5M. The trunk already ran this experiment.</a:t>
            </a:r>
          </a:p>
          <a:p>
            <a:r>
              <a:t>- Right-Size &amp; Recover: remove the 2025 trunk add-ons, exit Montréal–Vancouver, halve the 3 new markets, then use the revenue levers. Central case about +$1.4M after gates with all 20 airports kept; range about −$17M to +$6M (0–100% recapture plus lever low–high). Be upfront that the central case is thin: it breaks even only if ~90% of the trunk's cut-flight revenue moves to the kept flights (it beats Shrink above ~⅔), and ~1% more cost per flight or ~1% less retained revenue would erase it. Why we still expect high recapture: the added flights brought in almost no extra revenue (+3.7% vs +3.3–4.0% on unchanged routes), and 10 of 10 doubled directions cut fares while 0 of 38 unchanged directions did. Each added trunk flight brought ~1.9 extra tickets against ~19 needed to break even, so most of it should.</a:t>
            </a:r>
          </a:p>
          <a:p>
            <a:r>
              <a:t>- Shrink to Core: exit the 22 directions that lost money in every FY25-26 season. Similar money, more certain, but 6 airports, $8M of connecting revenue and 56% of flights gone. It only wins if money is weighted 70%+ AND Right-Size recaptures nothing.</a:t>
            </a:r>
          </a:p>
          <a:p>
            <a:r>
              <a:t>If asked "is +$1.4M a profit?": it is contribution after gates, i.e. break-even on the costs the data shows (fuel, crew, maintenance, food, gates). It excludes aircraft ownership and overhead, which the case does not give. The schedule changes alone get to about −$3.8M; the revenue levers (~$5.2M central) close the gap.</a:t>
            </a:r>
          </a:p>
          <a:p>
            <a:r>
              <a:t>Assumption to disclose: fuel, crew, maintenance and food on removed flights are avoidable (case p.10: these costs "depend on the number of flights"). About $73.6M of flight cost is removed; each 10% that proves fixed costs ~$7.4M.</a:t>
            </a:r>
          </a:p>
          <a:p>
            <a:r>
              <a:t>Gates: after-gates figures accrue leases by fiscal year: Sep–Dec 2025 at 2025 rates + Jan–Aug 2026 with each gate repeating its 2024→25 increase = $10.02M (teammate's gate analysis agrees to the cent).</a:t>
            </a:r>
          </a:p>
          <a:p>
            <a:r>
              <a:t>If asked "why exit Montréal–Vancouver rather than go back to one flight?": the difference is only ~$0.9M ($19.7M vs $18.8M); even the one-rotation base schedule still loses ~$0.9M after the cost step, it has 0 connecting passengers, and the exit saving doesn't depend on recapture. Fallback: revert to one rotation and exit if it stays negative for two quarters.</a:t>
            </a:r>
          </a:p>
          <a:p>
            <a:r>
              <a:t>Fill the Planes' −$28M ceiling assumes a −1.5 fare elasticity that our trunk evidence contradicts (fares −11%, tickets +11% vs control, revenue flat), so it is generous.</a:t>
            </a:r>
          </a:p>
          <a:p>
            <a:r>
              <a:t>Safety is a pass/fail screen, not a score. Weights: financial 30%; communities, customers, employees 15% each.</a:t>
            </a:r>
          </a:p>
          <a:p>
            <a:r>
              <a:t>OPEN TEAM DECISION: halved, the new markets still lose about −$3.9M at central recapture (revenue covers 49% of cost; −$2.6M and 65% even at full recapture), and reaching the 0.8 trigger needs ~63% more revenue. None of the 12,644 connection-compatible bookings uses them. A full exit adds ~+$3.9M more and frees $0.69M of gates (a real buffer for the thin central case), but London and Moncton lose service (20 → 18 airports) and the headline changes.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~75 sec. Business Recommendation = 35% of score. To be written. Guiding Q6 asks for short- AND long-term actions and their effect on customers, employees and communities; the bottom strip covers that.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IMPLEMENTATION. ~45 sec. To be written. Align phases to the budget cycle; add KPIs to track (e.g. contribution per flight, revenue per flight, refund rate, gate cost per departure).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&amp; MITIGATION. ~30 sec. To be written. Include data-limitation risk (no seats/load factor) and stakeholder risks (community service, crew, competitors).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5 min Q&amp;A follows; appendix slides are for answering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Optional: delete if time is tight (10 min talk).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'how did you handle X?' questions. Pull from analysis/ASSUMPTIONS.md and preparation_audit.json.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route/seasonality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break-even needs ~25% more revenue or ~20% less cost with the other side fixed. Illustrative, not a forecast.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booking-channel questions. Direct Web 40%, App 22%, OTA 20%, Corporate 18% of FY25-26 revenue.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STRATEGIC LENS. Q&amp;A only.</a:t>
            </a:r>
          </a:p>
          <a:p>
            <a:r>
              <a:t>Use if a judge asks "what about competitors / the market?"</a:t>
            </a:r>
          </a:p>
          <a:p>
            <a:r>
              <a:t>Five Forces: every force cites the case text or our data. Rivalry and buyer power explain why doubling the trunk cut fares: the extra passengers came only at lower fares, so revenue grew no faster than on unchanged routes. Supplier power explains why the largest cost lever NorthByte controls is how many flights it flies (fuel efficiency and maintenance purchasing are smaller, secondary levers). The case's own story of newer carriers that expanded and then shrank is the warning.</a:t>
            </a:r>
          </a:p>
          <a:p>
            <a:r>
              <a:t>SWOT: weaknesses are the three issues; strengths are what Right-Size keeps (hubs, connections, communities) and Shrink gives up; opportunities are the recovery levers; threats feed the risk slide.</a:t>
            </a:r>
          </a:p>
          <a:p>
            <a:r>
              <a:t>Do not claim outside market facts: assumption 11 (analysis/ASSUMPTIONS.md).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 Id="rId6" Type="http://schemas.openxmlformats.org/officeDocument/2006/relationships/chart" Target="../charts/chart4.xml"/><Relationship Id="rId7" Type="http://schemas.openxmlformats.org/officeDocument/2006/relationships/chart" Target="../charts/chart5.xml"/><Relationship Id="rId8" Type="http://schemas.openxmlformats.org/officeDocument/2006/relationships/chart" Target="../charts/chart6.xml"/><Relationship Id="rId9" Type="http://schemas.openxmlformats.org/officeDocument/2006/relationships/chart" Target="../charts/chart7.xml"/><Relationship Id="rId10" Type="http://schemas.openxmlformats.org/officeDocument/2006/relationships/chart" Target="../charts/chart8.xml"/><Relationship Id="rId11" Type="http://schemas.openxmlformats.org/officeDocument/2006/relationships/chart" Target="../charts/chart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48840"/>
            <a:ext cx="1097280" cy="73152"/>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10515600" cy="1463040"/>
          </a:xfrm>
          <a:prstGeom prst="rect">
            <a:avLst/>
          </a:prstGeom>
          <a:noFill/>
        </p:spPr>
        <p:txBody>
          <a:bodyPr wrap="square" anchor="t">
            <a:spAutoFit/>
          </a:bodyPr>
          <a:lstStyle/>
          <a:p>
            <a:pPr algn="l">
              <a:spcAft>
                <a:spcPts val="600"/>
              </a:spcAft>
            </a:pPr>
            <a:r>
              <a:rPr sz="4800" b="1">
                <a:solidFill>
                  <a:srgbClr val="FFFFFF"/>
                </a:solidFill>
                <a:latin typeface="Montserrat"/>
              </a:rPr>
              <a:t>Growing Into the Red</a:t>
            </a:r>
          </a:p>
        </p:txBody>
      </p:sp>
      <p:sp>
        <p:nvSpPr>
          <p:cNvPr id="5" name="TextBox 4"/>
          <p:cNvSpPr txBox="1"/>
          <p:nvPr/>
        </p:nvSpPr>
        <p:spPr>
          <a:xfrm>
            <a:off x="822960" y="3429000"/>
            <a:ext cx="10515600" cy="731520"/>
          </a:xfrm>
          <a:prstGeom prst="rect">
            <a:avLst/>
          </a:prstGeom>
          <a:noFill/>
        </p:spPr>
        <p:txBody>
          <a:bodyPr wrap="square" anchor="t">
            <a:spAutoFit/>
          </a:bodyPr>
          <a:lstStyle/>
          <a:p>
            <a:pPr algn="l">
              <a:spcAft>
                <a:spcPts val="600"/>
              </a:spcAft>
            </a:pPr>
            <a:r>
              <a:rPr sz="2000" b="0">
                <a:solidFill>
                  <a:srgbClr val="9CA3AF"/>
                </a:solidFill>
                <a:latin typeface="Lato"/>
              </a:rPr>
              <a:t>Where NorthByte Airlines makes and loses money, and how to restore profitability</a:t>
            </a:r>
          </a:p>
        </p:txBody>
      </p:sp>
      <p:sp>
        <p:nvSpPr>
          <p:cNvPr id="6" name="TextBox 5"/>
          <p:cNvSpPr txBox="1"/>
          <p:nvPr/>
        </p:nvSpPr>
        <p:spPr>
          <a:xfrm>
            <a:off x="822960" y="5120640"/>
            <a:ext cx="7315200" cy="365760"/>
          </a:xfrm>
          <a:prstGeom prst="rect">
            <a:avLst/>
          </a:prstGeom>
          <a:noFill/>
        </p:spPr>
        <p:txBody>
          <a:bodyPr wrap="square" anchor="t">
            <a:spAutoFit/>
          </a:bodyPr>
          <a:lstStyle/>
          <a:p>
            <a:pPr algn="l">
              <a:spcAft>
                <a:spcPts val="600"/>
              </a:spcAft>
            </a:pPr>
            <a:r>
              <a:rPr sz="1400" b="0">
                <a:solidFill>
                  <a:srgbClr val="FFFFFF"/>
                </a:solidFill>
                <a:latin typeface="Lato"/>
              </a:rPr>
              <a:t>[Team name]  ·  BOLT UBC FirstByte 2026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EXECUTIVE SUMMARY</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NorthByte's spring 2025 expansion added ~45% more flights, but revenue grew only 5%</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a:t>
            </a:r>
          </a:p>
        </p:txBody>
      </p:sp>
      <p:sp>
        <p:nvSpPr>
          <p:cNvPr id="8" name="TextBox 7"/>
          <p:cNvSpPr txBox="1"/>
          <p:nvPr/>
        </p:nvSpPr>
        <p:spPr>
          <a:xfrm>
            <a:off x="548640" y="1600200"/>
            <a:ext cx="5486400" cy="274320"/>
          </a:xfrm>
          <a:prstGeom prst="rect">
            <a:avLst/>
          </a:prstGeom>
          <a:noFill/>
        </p:spPr>
        <p:txBody>
          <a:bodyPr wrap="square" anchor="t">
            <a:spAutoFit/>
          </a:bodyPr>
          <a:lstStyle/>
          <a:p>
            <a:pPr algn="l">
              <a:spcAft>
                <a:spcPts val="600"/>
              </a:spcAft>
            </a:pPr>
            <a:r>
              <a:rPr sz="1100" b="1">
                <a:solidFill>
                  <a:srgbClr val="E8692A"/>
                </a:solidFill>
                <a:latin typeface="Montserrat"/>
              </a:rPr>
              <a:t>WHAT WE FOUND</a:t>
            </a:r>
          </a:p>
        </p:txBody>
      </p:sp>
      <p:sp>
        <p:nvSpPr>
          <p:cNvPr id="9" name="TextBox 8"/>
          <p:cNvSpPr txBox="1"/>
          <p:nvPr/>
        </p:nvSpPr>
        <p:spPr>
          <a:xfrm>
            <a:off x="548640" y="1965960"/>
            <a:ext cx="5394960" cy="4206240"/>
          </a:xfrm>
          <a:prstGeom prst="rect">
            <a:avLst/>
          </a:prstGeom>
          <a:noFill/>
        </p:spPr>
        <p:txBody>
          <a:bodyPr wrap="square" anchor="t">
            <a:spAutoFit/>
          </a:bodyPr>
          <a:lstStyle/>
          <a:p>
            <a:pPr algn="l">
              <a:spcAft>
                <a:spcPts val="600"/>
              </a:spcAft>
            </a:pPr>
            <a:r>
              <a:rPr sz="1400" b="0">
                <a:solidFill>
                  <a:srgbClr val="1F2937"/>
                </a:solidFill>
                <a:latin typeface="Lato"/>
              </a:rPr>
              <a:t>• FY25-26 revenue +5.2% to $190.0M; flight operating cost +23.5% to $238.4M</a:t>
            </a:r>
          </a:p>
          <a:p>
            <a:pPr algn="l">
              <a:spcAft>
                <a:spcPts val="600"/>
              </a:spcAft>
            </a:pPr>
            <a:r>
              <a:rPr sz="1400" b="0">
                <a:solidFill>
                  <a:srgbClr val="1F2937"/>
                </a:solidFill>
                <a:latin typeface="Lato"/>
              </a:rPr>
              <a:t>• Flight contribution fell from −$12.4M to −$48.4M before gate leases [reconcile vs. case's ~$40M]</a:t>
            </a:r>
          </a:p>
          <a:p>
            <a:pPr algn="l">
              <a:spcAft>
                <a:spcPts val="600"/>
              </a:spcAft>
            </a:pPr>
            <a:r>
              <a:rPr sz="1400" b="0">
                <a:solidFill>
                  <a:srgbClr val="1F2937"/>
                </a:solidFill>
                <a:latin typeface="Lato"/>
              </a:rPr>
              <a:t>• Losses began in Mar 2025, when monthly flights jumped ~46% with the expansion</a:t>
            </a:r>
          </a:p>
          <a:p>
            <a:pPr algn="l">
              <a:spcAft>
                <a:spcPts val="600"/>
              </a:spcAft>
            </a:pPr>
            <a:r>
              <a:rPr sz="1400" b="0">
                <a:solidFill>
                  <a:srgbClr val="1F2937"/>
                </a:solidFill>
                <a:latin typeface="Lato"/>
              </a:rPr>
              <a:t>• ~86% of cost growth is more flights, not higher fuel/crew prices</a:t>
            </a:r>
          </a:p>
          <a:p>
            <a:pPr algn="l">
              <a:spcAft>
                <a:spcPts val="600"/>
              </a:spcAft>
            </a:pPr>
            <a:r>
              <a:rPr sz="1400" b="0">
                <a:solidFill>
                  <a:srgbClr val="1F2937"/>
                </a:solidFill>
                <a:latin typeface="Lato"/>
              </a:rPr>
              <a:t>• A handful of hub-to-hub markets (led by Montréal–Vancouver) drive most of the decline</a:t>
            </a:r>
          </a:p>
          <a:p>
            <a:pPr algn="l">
              <a:spcAft>
                <a:spcPts val="600"/>
              </a:spcAft>
            </a:pPr>
            <a:r>
              <a:rPr sz="1400" b="0">
                <a:solidFill>
                  <a:srgbClr val="1F2937"/>
                </a:solidFill>
                <a:latin typeface="Lato"/>
              </a:rPr>
              <a:t>• Refunds, Rewards and ancillaries matter, but are an order of magnitude smaller</a:t>
            </a:r>
          </a:p>
        </p:txBody>
      </p:sp>
      <p:sp>
        <p:nvSpPr>
          <p:cNvPr id="10" name="Rectangle 9"/>
          <p:cNvSpPr/>
          <p:nvPr/>
        </p:nvSpPr>
        <p:spPr>
          <a:xfrm>
            <a:off x="6263640" y="1600200"/>
            <a:ext cx="5376672" cy="457200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91640"/>
            <a:ext cx="5102352" cy="4389120"/>
          </a:xfrm>
          <a:prstGeom prst="rect">
            <a:avLst/>
          </a:prstGeom>
          <a:noFill/>
        </p:spPr>
        <p:txBody>
          <a:bodyPr wrap="square" anchor="ctr">
            <a:spAutoFit/>
          </a:bodyPr>
          <a:lstStyle/>
          <a:p>
            <a:pPr algn="ctr">
              <a:spcAft>
                <a:spcPts val="600"/>
              </a:spcAft>
            </a:pPr>
            <a:r>
              <a:rPr sz="1200" b="0">
                <a:solidFill>
                  <a:srgbClr val="9CA3AF"/>
                </a:solidFill>
                <a:latin typeface="Lato"/>
              </a:rPr>
              <a:t>WHAT WE RECOMMEND
[Recommendation 1]
[Recommendation 2]
[Recommendation 3]
[Expected impact: $X M contribution by FY27-28]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SITUATION</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Record revenue, record losses: leadership needs to know where the money goes before the budget cycle</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FirstByte 2026 case package</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3</a:t>
            </a:r>
          </a:p>
        </p:txBody>
      </p:sp>
      <p:sp>
        <p:nvSpPr>
          <p:cNvPr id="8" name="Rectangle 7"/>
          <p:cNvSpPr/>
          <p:nvPr/>
        </p:nvSpPr>
        <p:spPr>
          <a:xfrm>
            <a:off x="548640" y="1691640"/>
            <a:ext cx="2606040" cy="1737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28800"/>
            <a:ext cx="2194560" cy="731520"/>
          </a:xfrm>
          <a:prstGeom prst="rect">
            <a:avLst/>
          </a:prstGeom>
          <a:noFill/>
        </p:spPr>
        <p:txBody>
          <a:bodyPr wrap="square" anchor="t">
            <a:spAutoFit/>
          </a:bodyPr>
          <a:lstStyle/>
          <a:p>
            <a:pPr algn="l">
              <a:spcAft>
                <a:spcPts val="600"/>
              </a:spcAft>
            </a:pPr>
            <a:r>
              <a:rPr sz="3400" b="1">
                <a:solidFill>
                  <a:srgbClr val="0B1F3A"/>
                </a:solidFill>
                <a:latin typeface="Montserrat"/>
              </a:rPr>
              <a:t>$190M</a:t>
            </a:r>
          </a:p>
        </p:txBody>
      </p:sp>
      <p:sp>
        <p:nvSpPr>
          <p:cNvPr id="10" name="TextBox 9"/>
          <p:cNvSpPr txBox="1"/>
          <p:nvPr/>
        </p:nvSpPr>
        <p:spPr>
          <a:xfrm>
            <a:off x="777240" y="2606040"/>
            <a:ext cx="2194560" cy="731520"/>
          </a:xfrm>
          <a:prstGeom prst="rect">
            <a:avLst/>
          </a:prstGeom>
          <a:noFill/>
        </p:spPr>
        <p:txBody>
          <a:bodyPr wrap="square" anchor="t">
            <a:spAutoFit/>
          </a:bodyPr>
          <a:lstStyle/>
          <a:p>
            <a:pPr algn="l">
              <a:spcAft>
                <a:spcPts val="600"/>
              </a:spcAft>
            </a:pPr>
            <a:r>
              <a:rPr sz="1200" b="0">
                <a:solidFill>
                  <a:srgbClr val="6B7280"/>
                </a:solidFill>
                <a:latin typeface="Lato"/>
              </a:rPr>
              <a:t>FY25-26 revenue, a record (+5%)</a:t>
            </a:r>
          </a:p>
        </p:txBody>
      </p:sp>
      <p:sp>
        <p:nvSpPr>
          <p:cNvPr id="11" name="Rectangle 10"/>
          <p:cNvSpPr/>
          <p:nvPr/>
        </p:nvSpPr>
        <p:spPr>
          <a:xfrm>
            <a:off x="3364992" y="1691640"/>
            <a:ext cx="2606040" cy="1737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1828800"/>
            <a:ext cx="2194560" cy="731520"/>
          </a:xfrm>
          <a:prstGeom prst="rect">
            <a:avLst/>
          </a:prstGeom>
          <a:noFill/>
        </p:spPr>
        <p:txBody>
          <a:bodyPr wrap="square" anchor="t">
            <a:spAutoFit/>
          </a:bodyPr>
          <a:lstStyle/>
          <a:p>
            <a:pPr algn="l">
              <a:spcAft>
                <a:spcPts val="600"/>
              </a:spcAft>
            </a:pPr>
            <a:r>
              <a:rPr sz="3400" b="1">
                <a:solidFill>
                  <a:srgbClr val="0B1F3A"/>
                </a:solidFill>
                <a:latin typeface="Montserrat"/>
              </a:rPr>
              <a:t>−$48M</a:t>
            </a:r>
          </a:p>
        </p:txBody>
      </p:sp>
      <p:sp>
        <p:nvSpPr>
          <p:cNvPr id="13" name="TextBox 12"/>
          <p:cNvSpPr txBox="1"/>
          <p:nvPr/>
        </p:nvSpPr>
        <p:spPr>
          <a:xfrm>
            <a:off x="3593592" y="2606040"/>
            <a:ext cx="2194560" cy="731520"/>
          </a:xfrm>
          <a:prstGeom prst="rect">
            <a:avLst/>
          </a:prstGeom>
          <a:noFill/>
        </p:spPr>
        <p:txBody>
          <a:bodyPr wrap="square" anchor="t">
            <a:spAutoFit/>
          </a:bodyPr>
          <a:lstStyle/>
          <a:p>
            <a:pPr algn="l">
              <a:spcAft>
                <a:spcPts val="600"/>
              </a:spcAft>
            </a:pPr>
            <a:r>
              <a:rPr sz="1200" b="0">
                <a:solidFill>
                  <a:srgbClr val="6B7280"/>
                </a:solidFill>
                <a:latin typeface="Lato"/>
              </a:rPr>
              <a:t>Flight contribution before gates [verify]</a:t>
            </a:r>
          </a:p>
        </p:txBody>
      </p:sp>
      <p:sp>
        <p:nvSpPr>
          <p:cNvPr id="14" name="Rectangle 13"/>
          <p:cNvSpPr/>
          <p:nvPr/>
        </p:nvSpPr>
        <p:spPr>
          <a:xfrm>
            <a:off x="6181344" y="1691640"/>
            <a:ext cx="2606040" cy="1737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28800"/>
            <a:ext cx="2194560" cy="731520"/>
          </a:xfrm>
          <a:prstGeom prst="rect">
            <a:avLst/>
          </a:prstGeom>
          <a:noFill/>
        </p:spPr>
        <p:txBody>
          <a:bodyPr wrap="square" anchor="t">
            <a:spAutoFit/>
          </a:bodyPr>
          <a:lstStyle/>
          <a:p>
            <a:pPr algn="l">
              <a:spcAft>
                <a:spcPts val="600"/>
              </a:spcAft>
            </a:pPr>
            <a:r>
              <a:rPr sz="3400" b="1">
                <a:solidFill>
                  <a:srgbClr val="0B1F3A"/>
                </a:solidFill>
                <a:latin typeface="Montserrat"/>
              </a:rPr>
              <a:t>20</a:t>
            </a:r>
          </a:p>
        </p:txBody>
      </p:sp>
      <p:sp>
        <p:nvSpPr>
          <p:cNvPr id="16" name="TextBox 15"/>
          <p:cNvSpPr txBox="1"/>
          <p:nvPr/>
        </p:nvSpPr>
        <p:spPr>
          <a:xfrm>
            <a:off x="6409944" y="2606040"/>
            <a:ext cx="2194560" cy="731520"/>
          </a:xfrm>
          <a:prstGeom prst="rect">
            <a:avLst/>
          </a:prstGeom>
          <a:noFill/>
        </p:spPr>
        <p:txBody>
          <a:bodyPr wrap="square" anchor="t">
            <a:spAutoFit/>
          </a:bodyPr>
          <a:lstStyle/>
          <a:p>
            <a:pPr algn="l">
              <a:spcAft>
                <a:spcPts val="600"/>
              </a:spcAft>
            </a:pPr>
            <a:r>
              <a:rPr sz="1200" b="0">
                <a:solidFill>
                  <a:srgbClr val="6B7280"/>
                </a:solidFill>
                <a:latin typeface="Lato"/>
              </a:rPr>
              <a:t>Airports, 4 hubs, 54 directional routes</a:t>
            </a:r>
          </a:p>
        </p:txBody>
      </p:sp>
      <p:sp>
        <p:nvSpPr>
          <p:cNvPr id="17" name="Rectangle 16"/>
          <p:cNvSpPr/>
          <p:nvPr/>
        </p:nvSpPr>
        <p:spPr>
          <a:xfrm>
            <a:off x="8997696" y="1691640"/>
            <a:ext cx="2606040" cy="1737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26296" y="1828800"/>
            <a:ext cx="2194560" cy="731520"/>
          </a:xfrm>
          <a:prstGeom prst="rect">
            <a:avLst/>
          </a:prstGeom>
          <a:noFill/>
        </p:spPr>
        <p:txBody>
          <a:bodyPr wrap="square" anchor="t">
            <a:spAutoFit/>
          </a:bodyPr>
          <a:lstStyle/>
          <a:p>
            <a:pPr algn="l">
              <a:spcAft>
                <a:spcPts val="600"/>
              </a:spcAft>
            </a:pPr>
            <a:r>
              <a:rPr sz="3400" b="1">
                <a:solidFill>
                  <a:srgbClr val="0B1F3A"/>
                </a:solidFill>
                <a:latin typeface="Montserrat"/>
              </a:rPr>
              <a:t>3</a:t>
            </a:r>
          </a:p>
        </p:txBody>
      </p:sp>
      <p:sp>
        <p:nvSpPr>
          <p:cNvPr id="19" name="TextBox 18"/>
          <p:cNvSpPr txBox="1"/>
          <p:nvPr/>
        </p:nvSpPr>
        <p:spPr>
          <a:xfrm>
            <a:off x="9226296" y="2606040"/>
            <a:ext cx="2194560" cy="731520"/>
          </a:xfrm>
          <a:prstGeom prst="rect">
            <a:avLst/>
          </a:prstGeom>
          <a:noFill/>
        </p:spPr>
        <p:txBody>
          <a:bodyPr wrap="square" anchor="t">
            <a:spAutoFit/>
          </a:bodyPr>
          <a:lstStyle/>
          <a:p>
            <a:pPr algn="l">
              <a:spcAft>
                <a:spcPts val="600"/>
              </a:spcAft>
            </a:pPr>
            <a:r>
              <a:rPr sz="1200" b="0">
                <a:solidFill>
                  <a:srgbClr val="6B7280"/>
                </a:solidFill>
                <a:latin typeface="Lato"/>
              </a:rPr>
              <a:t>New connections launched spring 2025</a:t>
            </a:r>
          </a:p>
        </p:txBody>
      </p:sp>
      <p:sp>
        <p:nvSpPr>
          <p:cNvPr id="20" name="Rectangle 19"/>
          <p:cNvSpPr/>
          <p:nvPr/>
        </p:nvSpPr>
        <p:spPr>
          <a:xfrm>
            <a:off x="548640" y="3840480"/>
            <a:ext cx="11091672" cy="2286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069080"/>
            <a:ext cx="10332720" cy="274320"/>
          </a:xfrm>
          <a:prstGeom prst="rect">
            <a:avLst/>
          </a:prstGeom>
          <a:noFill/>
        </p:spPr>
        <p:txBody>
          <a:bodyPr wrap="square" anchor="t">
            <a:spAutoFit/>
          </a:bodyPr>
          <a:lstStyle/>
          <a:p>
            <a:pPr algn="l">
              <a:spcAft>
                <a:spcPts val="600"/>
              </a:spcAft>
            </a:pPr>
            <a:r>
              <a:rPr sz="1100" b="1">
                <a:solidFill>
                  <a:srgbClr val="E8692A"/>
                </a:solidFill>
                <a:latin typeface="Montserrat"/>
              </a:rPr>
              <a:t>KEY QUESTION</a:t>
            </a:r>
          </a:p>
        </p:txBody>
      </p:sp>
      <p:sp>
        <p:nvSpPr>
          <p:cNvPr id="22" name="TextBox 21"/>
          <p:cNvSpPr txBox="1"/>
          <p:nvPr/>
        </p:nvSpPr>
        <p:spPr>
          <a:xfrm>
            <a:off x="914400" y="4434840"/>
            <a:ext cx="10332720" cy="914400"/>
          </a:xfrm>
          <a:prstGeom prst="rect">
            <a:avLst/>
          </a:prstGeom>
          <a:noFill/>
        </p:spPr>
        <p:txBody>
          <a:bodyPr wrap="square" anchor="t">
            <a:spAutoFit/>
          </a:bodyPr>
          <a:lstStyle/>
          <a:p>
            <a:pPr algn="l">
              <a:spcAft>
                <a:spcPts val="600"/>
              </a:spcAft>
            </a:pPr>
            <a:r>
              <a:rPr sz="2000" b="1">
                <a:solidFill>
                  <a:srgbClr val="FFFFFF"/>
                </a:solidFill>
                <a:latin typeface="Montserrat"/>
              </a:rPr>
              <a:t>What is really driving NorthByte's losses, and where should it invest or pull back to return to sustainable profit while keeping its commitments on safety, fairness and community service?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DATA &amp; APPROACH</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We rebuilt a route-by-route P&amp;L from three inconsistent systems</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4</a:t>
            </a:r>
          </a:p>
        </p:txBody>
      </p:sp>
      <p:sp>
        <p:nvSpPr>
          <p:cNvPr id="8" name="Rectangle 7"/>
          <p:cNvSpPr/>
          <p:nvPr/>
        </p:nvSpPr>
        <p:spPr>
          <a:xfrm>
            <a:off x="548640" y="1737360"/>
            <a:ext cx="2606040" cy="26517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737360"/>
            <a:ext cx="2606040" cy="73152"/>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965960"/>
            <a:ext cx="2194560" cy="365760"/>
          </a:xfrm>
          <a:prstGeom prst="rect">
            <a:avLst/>
          </a:prstGeom>
          <a:noFill/>
        </p:spPr>
        <p:txBody>
          <a:bodyPr wrap="square" anchor="t">
            <a:spAutoFit/>
          </a:bodyPr>
          <a:lstStyle/>
          <a:p>
            <a:pPr algn="l">
              <a:spcAft>
                <a:spcPts val="600"/>
              </a:spcAft>
            </a:pPr>
            <a:r>
              <a:rPr sz="1600" b="1">
                <a:solidFill>
                  <a:srgbClr val="0B1F3A"/>
                </a:solidFill>
                <a:latin typeface="Montserrat"/>
              </a:rPr>
              <a:t>1  Clean</a:t>
            </a:r>
          </a:p>
        </p:txBody>
      </p:sp>
      <p:sp>
        <p:nvSpPr>
          <p:cNvPr id="11" name="TextBox 10"/>
          <p:cNvSpPr txBox="1"/>
          <p:nvPr/>
        </p:nvSpPr>
        <p:spPr>
          <a:xfrm>
            <a:off x="777240" y="2514600"/>
            <a:ext cx="2194560" cy="1828800"/>
          </a:xfrm>
          <a:prstGeom prst="rect">
            <a:avLst/>
          </a:prstGeom>
          <a:noFill/>
        </p:spPr>
        <p:txBody>
          <a:bodyPr wrap="square" anchor="t">
            <a:spAutoFit/>
          </a:bodyPr>
          <a:lstStyle/>
          <a:p>
            <a:pPr algn="l">
              <a:spcAft>
                <a:spcPts val="600"/>
              </a:spcAft>
            </a:pPr>
            <a:r>
              <a:rPr sz="1300" b="0">
                <a:solidFill>
                  <a:srgbClr val="1F2937"/>
                </a:solidFill>
                <a:latin typeface="Lato"/>
              </a:rPr>
              <a:t>Normalize route codes</a:t>
            </a:r>
          </a:p>
          <a:p>
            <a:pPr algn="l">
              <a:spcAft>
                <a:spcPts val="600"/>
              </a:spcAft>
            </a:pPr>
            <a:r>
              <a:rPr sz="1300" b="0">
                <a:solidFill>
                  <a:srgbClr val="1F2937"/>
                </a:solidFill>
                <a:latin typeface="Lato"/>
              </a:rPr>
              <a:t>De-duplicate 1,856 txns</a:t>
            </a:r>
          </a:p>
          <a:p>
            <a:pPr algn="l">
              <a:spcAft>
                <a:spcPts val="600"/>
              </a:spcAft>
            </a:pPr>
            <a:r>
              <a:rPr sz="1300" b="0">
                <a:solidFill>
                  <a:srgbClr val="1F2937"/>
                </a:solidFill>
                <a:latin typeface="Lato"/>
              </a:rPr>
              <a:t>Resolve 3 date formats</a:t>
            </a:r>
          </a:p>
        </p:txBody>
      </p:sp>
      <p:sp>
        <p:nvSpPr>
          <p:cNvPr id="12" name="Rectangle 11"/>
          <p:cNvSpPr/>
          <p:nvPr/>
        </p:nvSpPr>
        <p:spPr>
          <a:xfrm>
            <a:off x="3364992" y="1737360"/>
            <a:ext cx="2606040" cy="26517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4992" y="1737360"/>
            <a:ext cx="2606040" cy="73152"/>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3592" y="1965960"/>
            <a:ext cx="2194560" cy="365760"/>
          </a:xfrm>
          <a:prstGeom prst="rect">
            <a:avLst/>
          </a:prstGeom>
          <a:noFill/>
        </p:spPr>
        <p:txBody>
          <a:bodyPr wrap="square" anchor="t">
            <a:spAutoFit/>
          </a:bodyPr>
          <a:lstStyle/>
          <a:p>
            <a:pPr algn="l">
              <a:spcAft>
                <a:spcPts val="600"/>
              </a:spcAft>
            </a:pPr>
            <a:r>
              <a:rPr sz="1600" b="1">
                <a:solidFill>
                  <a:srgbClr val="0B1F3A"/>
                </a:solidFill>
                <a:latin typeface="Montserrat"/>
              </a:rPr>
              <a:t>2  Join</a:t>
            </a:r>
          </a:p>
        </p:txBody>
      </p:sp>
      <p:sp>
        <p:nvSpPr>
          <p:cNvPr id="15" name="TextBox 14"/>
          <p:cNvSpPr txBox="1"/>
          <p:nvPr/>
        </p:nvSpPr>
        <p:spPr>
          <a:xfrm>
            <a:off x="3593592" y="2514600"/>
            <a:ext cx="2194560" cy="1828800"/>
          </a:xfrm>
          <a:prstGeom prst="rect">
            <a:avLst/>
          </a:prstGeom>
          <a:noFill/>
        </p:spPr>
        <p:txBody>
          <a:bodyPr wrap="square" anchor="t">
            <a:spAutoFit/>
          </a:bodyPr>
          <a:lstStyle/>
          <a:p>
            <a:pPr algn="l">
              <a:spcAft>
                <a:spcPts val="600"/>
              </a:spcAft>
            </a:pPr>
            <a:r>
              <a:rPr sz="1300" b="0">
                <a:solidFill>
                  <a:srgbClr val="1F2937"/>
                </a:solidFill>
                <a:latin typeface="Lato"/>
              </a:rPr>
              <a:t>Transactions + flight costs</a:t>
            </a:r>
          </a:p>
          <a:p>
            <a:pPr algn="l">
              <a:spcAft>
                <a:spcPts val="600"/>
              </a:spcAft>
            </a:pPr>
            <a:r>
              <a:rPr sz="1300" b="0">
                <a:solidFill>
                  <a:srgbClr val="1F2937"/>
                </a:solidFill>
                <a:latin typeface="Lato"/>
              </a:rPr>
              <a:t>by route × month</a:t>
            </a:r>
          </a:p>
          <a:p>
            <a:pPr algn="l">
              <a:spcAft>
                <a:spcPts val="600"/>
              </a:spcAft>
            </a:pPr>
            <a:r>
              <a:rPr sz="1300" b="0">
                <a:solidFill>
                  <a:srgbClr val="1F2937"/>
                </a:solidFill>
                <a:latin typeface="Lato"/>
              </a:rPr>
              <a:t>Fiscal year Sep–Aug</a:t>
            </a:r>
          </a:p>
        </p:txBody>
      </p:sp>
      <p:sp>
        <p:nvSpPr>
          <p:cNvPr id="16" name="Rectangle 15"/>
          <p:cNvSpPr/>
          <p:nvPr/>
        </p:nvSpPr>
        <p:spPr>
          <a:xfrm>
            <a:off x="6181344" y="1737360"/>
            <a:ext cx="2606040" cy="26517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1344" y="1737360"/>
            <a:ext cx="2606040" cy="73152"/>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9944" y="1965960"/>
            <a:ext cx="2194560" cy="365760"/>
          </a:xfrm>
          <a:prstGeom prst="rect">
            <a:avLst/>
          </a:prstGeom>
          <a:noFill/>
        </p:spPr>
        <p:txBody>
          <a:bodyPr wrap="square" anchor="t">
            <a:spAutoFit/>
          </a:bodyPr>
          <a:lstStyle/>
          <a:p>
            <a:pPr algn="l">
              <a:spcAft>
                <a:spcPts val="600"/>
              </a:spcAft>
            </a:pPr>
            <a:r>
              <a:rPr sz="1600" b="1">
                <a:solidFill>
                  <a:srgbClr val="0B1F3A"/>
                </a:solidFill>
                <a:latin typeface="Montserrat"/>
              </a:rPr>
              <a:t>3  Allocate</a:t>
            </a:r>
          </a:p>
        </p:txBody>
      </p:sp>
      <p:sp>
        <p:nvSpPr>
          <p:cNvPr id="19" name="TextBox 18"/>
          <p:cNvSpPr txBox="1"/>
          <p:nvPr/>
        </p:nvSpPr>
        <p:spPr>
          <a:xfrm>
            <a:off x="6409944" y="2514600"/>
            <a:ext cx="2194560" cy="1828800"/>
          </a:xfrm>
          <a:prstGeom prst="rect">
            <a:avLst/>
          </a:prstGeom>
          <a:noFill/>
        </p:spPr>
        <p:txBody>
          <a:bodyPr wrap="square" anchor="t">
            <a:spAutoFit/>
          </a:bodyPr>
          <a:lstStyle/>
          <a:p>
            <a:pPr algn="l">
              <a:spcAft>
                <a:spcPts val="600"/>
              </a:spcAft>
            </a:pPr>
            <a:r>
              <a:rPr sz="1300" b="0">
                <a:solidFill>
                  <a:srgbClr val="1F2937"/>
                </a:solidFill>
                <a:latin typeface="Lato"/>
              </a:rPr>
              <a:t>Gate leases → departing flights</a:t>
            </a:r>
          </a:p>
          <a:p>
            <a:pPr algn="l">
              <a:spcAft>
                <a:spcPts val="600"/>
              </a:spcAft>
            </a:pPr>
            <a:r>
              <a:rPr sz="1300" b="0">
                <a:solidFill>
                  <a:srgbClr val="1F2937"/>
                </a:solidFill>
                <a:latin typeface="Lato"/>
              </a:rPr>
              <a:t>Calendar → fiscal pro-rata</a:t>
            </a:r>
          </a:p>
          <a:p>
            <a:pPr algn="l">
              <a:spcAft>
                <a:spcPts val="600"/>
              </a:spcAft>
            </a:pPr>
            <a:r>
              <a:rPr sz="1300" b="0">
                <a:solidFill>
                  <a:srgbClr val="1F2937"/>
                </a:solidFill>
                <a:latin typeface="Lato"/>
              </a:rPr>
              <a:t>Estimate 2026-27 leases</a:t>
            </a:r>
          </a:p>
        </p:txBody>
      </p:sp>
      <p:sp>
        <p:nvSpPr>
          <p:cNvPr id="20" name="Rectangle 19"/>
          <p:cNvSpPr/>
          <p:nvPr/>
        </p:nvSpPr>
        <p:spPr>
          <a:xfrm>
            <a:off x="8997696" y="1737360"/>
            <a:ext cx="2606040" cy="26517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97696" y="1737360"/>
            <a:ext cx="2606040" cy="73152"/>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26296" y="1965960"/>
            <a:ext cx="2194560" cy="365760"/>
          </a:xfrm>
          <a:prstGeom prst="rect">
            <a:avLst/>
          </a:prstGeom>
          <a:noFill/>
        </p:spPr>
        <p:txBody>
          <a:bodyPr wrap="square" anchor="t">
            <a:spAutoFit/>
          </a:bodyPr>
          <a:lstStyle/>
          <a:p>
            <a:pPr algn="l">
              <a:spcAft>
                <a:spcPts val="600"/>
              </a:spcAft>
            </a:pPr>
            <a:r>
              <a:rPr sz="1600" b="1">
                <a:solidFill>
                  <a:srgbClr val="0B1F3A"/>
                </a:solidFill>
                <a:latin typeface="Montserrat"/>
              </a:rPr>
              <a:t>4  Diagnose</a:t>
            </a:r>
          </a:p>
        </p:txBody>
      </p:sp>
      <p:sp>
        <p:nvSpPr>
          <p:cNvPr id="23" name="TextBox 22"/>
          <p:cNvSpPr txBox="1"/>
          <p:nvPr/>
        </p:nvSpPr>
        <p:spPr>
          <a:xfrm>
            <a:off x="9226296" y="2514600"/>
            <a:ext cx="2194560" cy="1828800"/>
          </a:xfrm>
          <a:prstGeom prst="rect">
            <a:avLst/>
          </a:prstGeom>
          <a:noFill/>
        </p:spPr>
        <p:txBody>
          <a:bodyPr wrap="square" anchor="t">
            <a:spAutoFit/>
          </a:bodyPr>
          <a:lstStyle/>
          <a:p>
            <a:pPr algn="l">
              <a:spcAft>
                <a:spcPts val="600"/>
              </a:spcAft>
            </a:pPr>
            <a:r>
              <a:rPr sz="1300" b="0">
                <a:solidFill>
                  <a:srgbClr val="1F2937"/>
                </a:solidFill>
                <a:latin typeface="Lato"/>
              </a:rPr>
              <a:t>Volume vs. price bridge</a:t>
            </a:r>
          </a:p>
          <a:p>
            <a:pPr algn="l">
              <a:spcAft>
                <a:spcPts val="600"/>
              </a:spcAft>
            </a:pPr>
            <a:r>
              <a:rPr sz="1300" b="0">
                <a:solidFill>
                  <a:srgbClr val="1F2937"/>
                </a:solidFill>
                <a:latin typeface="Lato"/>
              </a:rPr>
              <a:t>Route &amp; market P&amp;L</a:t>
            </a:r>
          </a:p>
          <a:p>
            <a:pPr algn="l">
              <a:spcAft>
                <a:spcPts val="600"/>
              </a:spcAft>
            </a:pPr>
            <a:r>
              <a:rPr sz="1300" b="0">
                <a:solidFill>
                  <a:srgbClr val="1F2937"/>
                </a:solidFill>
                <a:latin typeface="Lato"/>
              </a:rPr>
              <a:t>Refunds, Rewards, ancillaries</a:t>
            </a:r>
          </a:p>
        </p:txBody>
      </p:sp>
      <p:sp>
        <p:nvSpPr>
          <p:cNvPr id="24" name="TextBox 23"/>
          <p:cNvSpPr txBox="1"/>
          <p:nvPr/>
        </p:nvSpPr>
        <p:spPr>
          <a:xfrm>
            <a:off x="548640" y="4754880"/>
            <a:ext cx="11064240" cy="1371600"/>
          </a:xfrm>
          <a:prstGeom prst="rect">
            <a:avLst/>
          </a:prstGeom>
          <a:noFill/>
        </p:spPr>
        <p:txBody>
          <a:bodyPr wrap="square" anchor="t">
            <a:spAutoFit/>
          </a:bodyPr>
          <a:lstStyle/>
          <a:p>
            <a:pPr algn="l">
              <a:spcAft>
                <a:spcPts val="600"/>
              </a:spcAft>
            </a:pPr>
            <a:r>
              <a:rPr sz="1300" b="0">
                <a:solidFill>
                  <a:srgbClr val="6B7280"/>
                </a:solidFill>
                <a:latin typeface="Lato"/>
              </a:rPr>
              <a:t>558,129 unique transactions  ·  28,801 flights (×4 cost rows)  ·  34 physical gates  ·  54 routes  ·  24 months</a:t>
            </a:r>
          </a:p>
          <a:p>
            <a:pPr algn="l">
              <a:spcAft>
                <a:spcPts val="600"/>
              </a:spcAft>
            </a:pPr>
            <a:r>
              <a:rPr sz="1300" b="0">
                <a:solidFill>
                  <a:srgbClr val="6B7280"/>
                </a:solidFill>
                <a:latin typeface="Lato"/>
              </a:rPr>
              <a:t>Key assumptions in Appendix A1. Not available in the data: seats, passengers per flight, load factor, distance.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2743200" cy="1097280"/>
          </a:xfrm>
          <a:prstGeom prst="rect">
            <a:avLst/>
          </a:prstGeom>
          <a:noFill/>
        </p:spPr>
        <p:txBody>
          <a:bodyPr wrap="square" anchor="t">
            <a:spAutoFit/>
          </a:bodyPr>
          <a:lstStyle/>
          <a:p>
            <a:pPr algn="l">
              <a:spcAft>
                <a:spcPts val="600"/>
              </a:spcAft>
            </a:pPr>
            <a:r>
              <a:rPr sz="7200" b="1">
                <a:solidFill>
                  <a:srgbClr val="E8692A"/>
                </a:solidFill>
                <a:latin typeface="Montserrat"/>
              </a:rPr>
              <a:t>01</a:t>
            </a:r>
          </a:p>
        </p:txBody>
      </p:sp>
      <p:sp>
        <p:nvSpPr>
          <p:cNvPr id="4" name="TextBox 3"/>
          <p:cNvSpPr txBox="1"/>
          <p:nvPr/>
        </p:nvSpPr>
        <p:spPr>
          <a:xfrm>
            <a:off x="822960" y="3383280"/>
            <a:ext cx="10058400" cy="822960"/>
          </a:xfrm>
          <a:prstGeom prst="rect">
            <a:avLst/>
          </a:prstGeom>
          <a:noFill/>
        </p:spPr>
        <p:txBody>
          <a:bodyPr wrap="square" anchor="t">
            <a:spAutoFit/>
          </a:bodyPr>
          <a:lstStyle/>
          <a:p>
            <a:pPr algn="l">
              <a:spcAft>
                <a:spcPts val="600"/>
              </a:spcAft>
            </a:pPr>
            <a:r>
              <a:rPr sz="3600" b="1">
                <a:solidFill>
                  <a:srgbClr val="FFFFFF"/>
                </a:solidFill>
                <a:latin typeface="Montserrat"/>
              </a:rPr>
              <a:t>What happened</a:t>
            </a:r>
          </a:p>
        </p:txBody>
      </p:sp>
      <p:sp>
        <p:nvSpPr>
          <p:cNvPr id="5" name="TextBox 4"/>
          <p:cNvSpPr txBox="1"/>
          <p:nvPr/>
        </p:nvSpPr>
        <p:spPr>
          <a:xfrm>
            <a:off x="822960" y="4206240"/>
            <a:ext cx="10058400" cy="548640"/>
          </a:xfrm>
          <a:prstGeom prst="rect">
            <a:avLst/>
          </a:prstGeom>
          <a:noFill/>
        </p:spPr>
        <p:txBody>
          <a:bodyPr wrap="square" anchor="t">
            <a:spAutoFit/>
          </a:bodyPr>
          <a:lstStyle/>
          <a:p>
            <a:pPr algn="l">
              <a:spcAft>
                <a:spcPts val="600"/>
              </a:spcAft>
            </a:pPr>
            <a:r>
              <a:rPr sz="1600" b="0">
                <a:solidFill>
                  <a:srgbClr val="9CA3AF"/>
                </a:solidFill>
                <a:latin typeface="Lato"/>
              </a:rPr>
              <a:t>Revenue and cost trends, FY24-25 vs FY25-26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1 · WHAT CHANGED</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Costs grew 4.5× faster than revenue, turning a $12M loss into a $48M loss</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6</a:t>
            </a:r>
          </a:p>
        </p:txBody>
      </p:sp>
      <p:pic>
        <p:nvPicPr>
          <p:cNvPr id="8" name="Picture 7" descr="03_contribution_bridge.png"/>
          <p:cNvPicPr>
            <a:picLocks noChangeAspect="1"/>
          </p:cNvPicPr>
          <p:nvPr/>
        </p:nvPicPr>
        <p:blipFill>
          <a:blip r:embed="rId3"/>
          <a:stretch>
            <a:fillRect/>
          </a:stretch>
        </p:blipFill>
        <p:spPr>
          <a:xfrm>
            <a:off x="548640" y="2057400"/>
            <a:ext cx="7315200" cy="3657600"/>
          </a:xfrm>
          <a:prstGeom prst="rect">
            <a:avLst/>
          </a:prstGeom>
        </p:spPr>
      </p:pic>
      <p:sp>
        <p:nvSpPr>
          <p:cNvPr id="9" name="Rectangle 8"/>
          <p:cNvSpPr/>
          <p:nvPr/>
        </p:nvSpPr>
        <p:spPr>
          <a:xfrm>
            <a:off x="8092440" y="1600200"/>
            <a:ext cx="3547872" cy="45720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92440" y="1600200"/>
            <a:ext cx="73152" cy="4572000"/>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783080"/>
            <a:ext cx="3136391" cy="274320"/>
          </a:xfrm>
          <a:prstGeom prst="rect">
            <a:avLst/>
          </a:prstGeom>
          <a:noFill/>
        </p:spPr>
        <p:txBody>
          <a:bodyPr wrap="square" anchor="t">
            <a:spAutoFit/>
          </a:bodyPr>
          <a:lstStyle/>
          <a:p>
            <a:pPr algn="l">
              <a:spcAft>
                <a:spcPts val="600"/>
              </a:spcAft>
            </a:pPr>
            <a:r>
              <a:rPr sz="1100" b="1">
                <a:solidFill>
                  <a:srgbClr val="E8692A"/>
                </a:solidFill>
                <a:latin typeface="Montserrat"/>
              </a:rPr>
              <a:t>SO WHAT</a:t>
            </a:r>
          </a:p>
        </p:txBody>
      </p:sp>
      <p:sp>
        <p:nvSpPr>
          <p:cNvPr id="12" name="TextBox 11"/>
          <p:cNvSpPr txBox="1"/>
          <p:nvPr/>
        </p:nvSpPr>
        <p:spPr>
          <a:xfrm>
            <a:off x="8366760" y="2148840"/>
            <a:ext cx="3136391" cy="3840480"/>
          </a:xfrm>
          <a:prstGeom prst="rect">
            <a:avLst/>
          </a:prstGeom>
          <a:noFill/>
        </p:spPr>
        <p:txBody>
          <a:bodyPr wrap="square" anchor="t">
            <a:spAutoFit/>
          </a:bodyPr>
          <a:lstStyle/>
          <a:p>
            <a:pPr algn="l">
              <a:spcAft>
                <a:spcPts val="600"/>
              </a:spcAft>
            </a:pPr>
            <a:r>
              <a:rPr sz="1300" b="0">
                <a:solidFill>
                  <a:srgbClr val="1F2937"/>
                </a:solidFill>
                <a:latin typeface="Lato"/>
              </a:rPr>
              <a:t>• Revenue +$9.4M (+5.2%)</a:t>
            </a:r>
          </a:p>
          <a:p>
            <a:pPr algn="l">
              <a:spcAft>
                <a:spcPts val="600"/>
              </a:spcAft>
            </a:pPr>
            <a:r>
              <a:rPr sz="1300" b="0">
                <a:solidFill>
                  <a:srgbClr val="1F2937"/>
                </a:solidFill>
                <a:latin typeface="Lato"/>
              </a:rPr>
              <a:t>• Flight costs +$45.4M (+23.5%)</a:t>
            </a:r>
          </a:p>
          <a:p>
            <a:pPr algn="l">
              <a:spcAft>
                <a:spcPts val="600"/>
              </a:spcAft>
            </a:pPr>
            <a:r>
              <a:rPr sz="1300" b="0">
                <a:solidFill>
                  <a:srgbClr val="1F2937"/>
                </a:solidFill>
                <a:latin typeface="Lato"/>
              </a:rPr>
              <a:t>• Every cost line grew; fuel and crew largest in $</a:t>
            </a:r>
          </a:p>
          <a:p>
            <a:pPr algn="l">
              <a:spcAft>
                <a:spcPts val="600"/>
              </a:spcAft>
            </a:pPr>
            <a:r>
              <a:rPr sz="1300" b="0">
                <a:solidFill>
                  <a:srgbClr val="1F2937"/>
                </a:solidFill>
                <a:latin typeface="Lato"/>
              </a:rPr>
              <a:t>• [Add: gates pushes loss to ~$X 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1 · WHEN IT TURNED</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Margins went negative in March 2025, the month the expansion schedule started</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7</a:t>
            </a:r>
          </a:p>
        </p:txBody>
      </p:sp>
      <p:pic>
        <p:nvPicPr>
          <p:cNvPr id="8" name="Picture 7" descr="02_monthly_trend.png"/>
          <p:cNvPicPr>
            <a:picLocks noChangeAspect="1"/>
          </p:cNvPicPr>
          <p:nvPr/>
        </p:nvPicPr>
        <p:blipFill>
          <a:blip r:embed="rId3"/>
          <a:stretch>
            <a:fillRect/>
          </a:stretch>
        </p:blipFill>
        <p:spPr>
          <a:xfrm>
            <a:off x="548640" y="1916723"/>
            <a:ext cx="7315200" cy="3938953"/>
          </a:xfrm>
          <a:prstGeom prst="rect">
            <a:avLst/>
          </a:prstGeom>
        </p:spPr>
      </p:pic>
      <p:sp>
        <p:nvSpPr>
          <p:cNvPr id="9" name="Rectangle 8"/>
          <p:cNvSpPr/>
          <p:nvPr/>
        </p:nvSpPr>
        <p:spPr>
          <a:xfrm>
            <a:off x="8092440" y="1600200"/>
            <a:ext cx="3547872" cy="45720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92440" y="1600200"/>
            <a:ext cx="73152" cy="4572000"/>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783080"/>
            <a:ext cx="3136391" cy="274320"/>
          </a:xfrm>
          <a:prstGeom prst="rect">
            <a:avLst/>
          </a:prstGeom>
          <a:noFill/>
        </p:spPr>
        <p:txBody>
          <a:bodyPr wrap="square" anchor="t">
            <a:spAutoFit/>
          </a:bodyPr>
          <a:lstStyle/>
          <a:p>
            <a:pPr algn="l">
              <a:spcAft>
                <a:spcPts val="600"/>
              </a:spcAft>
            </a:pPr>
            <a:r>
              <a:rPr sz="1100" b="1">
                <a:solidFill>
                  <a:srgbClr val="E8692A"/>
                </a:solidFill>
                <a:latin typeface="Montserrat"/>
              </a:rPr>
              <a:t>SO WHAT</a:t>
            </a:r>
          </a:p>
        </p:txBody>
      </p:sp>
      <p:sp>
        <p:nvSpPr>
          <p:cNvPr id="12" name="TextBox 11"/>
          <p:cNvSpPr txBox="1"/>
          <p:nvPr/>
        </p:nvSpPr>
        <p:spPr>
          <a:xfrm>
            <a:off x="8366760" y="2148840"/>
            <a:ext cx="3136391" cy="3840480"/>
          </a:xfrm>
          <a:prstGeom prst="rect">
            <a:avLst/>
          </a:prstGeom>
          <a:noFill/>
        </p:spPr>
        <p:txBody>
          <a:bodyPr wrap="square" anchor="t">
            <a:spAutoFit/>
          </a:bodyPr>
          <a:lstStyle/>
          <a:p>
            <a:pPr algn="l">
              <a:spcAft>
                <a:spcPts val="600"/>
              </a:spcAft>
            </a:pPr>
            <a:r>
              <a:rPr sz="1300" b="0">
                <a:solidFill>
                  <a:srgbClr val="1F2937"/>
                </a:solidFill>
                <a:latin typeface="Lato"/>
              </a:rPr>
              <a:t>• Sep 2024–Feb 2025: profitable, +4.5% to +15.7% monthly margin</a:t>
            </a:r>
          </a:p>
          <a:p>
            <a:pPr algn="l">
              <a:spcAft>
                <a:spcPts val="600"/>
              </a:spcAft>
            </a:pPr>
            <a:r>
              <a:rPr sz="1300" b="0">
                <a:solidFill>
                  <a:srgbClr val="1F2937"/>
                </a:solidFill>
                <a:latin typeface="Lato"/>
              </a:rPr>
              <a:t>• Mar 2025 onward: every month negative (−7% to −31%)</a:t>
            </a:r>
          </a:p>
          <a:p>
            <a:pPr algn="l">
              <a:spcAft>
                <a:spcPts val="600"/>
              </a:spcAft>
            </a:pPr>
            <a:r>
              <a:rPr sz="1300" b="0">
                <a:solidFill>
                  <a:srgbClr val="1F2937"/>
                </a:solidFill>
                <a:latin typeface="Lato"/>
              </a:rPr>
              <a:t>• Flights/month +46% in one step; revenue/month did not follow</a:t>
            </a:r>
          </a:p>
          <a:p>
            <a:pPr algn="l">
              <a:spcAft>
                <a:spcPts val="600"/>
              </a:spcAft>
            </a:pPr>
            <a:r>
              <a:rPr sz="1300" b="0">
                <a:solidFill>
                  <a:srgbClr val="1F2937"/>
                </a:solidFill>
                <a:latin typeface="Lato"/>
              </a:rPr>
              <a:t>• Not seasonal: two summers, both losing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1 · WHY COSTS ROSE</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It's flight volume, not fuel or crew prices: ~86% of cost growth comes from more flights</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8</a:t>
            </a:r>
          </a:p>
        </p:txBody>
      </p:sp>
      <p:pic>
        <p:nvPicPr>
          <p:cNvPr id="8" name="Picture 7" descr="07_cost_categories.png"/>
          <p:cNvPicPr>
            <a:picLocks noChangeAspect="1"/>
          </p:cNvPicPr>
          <p:nvPr/>
        </p:nvPicPr>
        <p:blipFill>
          <a:blip r:embed="rId3"/>
          <a:stretch>
            <a:fillRect/>
          </a:stretch>
        </p:blipFill>
        <p:spPr>
          <a:xfrm>
            <a:off x="548640" y="2198076"/>
            <a:ext cx="7315200" cy="3376246"/>
          </a:xfrm>
          <a:prstGeom prst="rect">
            <a:avLst/>
          </a:prstGeom>
        </p:spPr>
      </p:pic>
      <p:sp>
        <p:nvSpPr>
          <p:cNvPr id="9" name="Rectangle 8"/>
          <p:cNvSpPr/>
          <p:nvPr/>
        </p:nvSpPr>
        <p:spPr>
          <a:xfrm>
            <a:off x="8092440" y="1600200"/>
            <a:ext cx="3547872" cy="45720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92440" y="1600200"/>
            <a:ext cx="73152" cy="4572000"/>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783080"/>
            <a:ext cx="3136391" cy="274320"/>
          </a:xfrm>
          <a:prstGeom prst="rect">
            <a:avLst/>
          </a:prstGeom>
          <a:noFill/>
        </p:spPr>
        <p:txBody>
          <a:bodyPr wrap="square" anchor="t">
            <a:spAutoFit/>
          </a:bodyPr>
          <a:lstStyle/>
          <a:p>
            <a:pPr algn="l">
              <a:spcAft>
                <a:spcPts val="600"/>
              </a:spcAft>
            </a:pPr>
            <a:r>
              <a:rPr sz="1100" b="1">
                <a:solidFill>
                  <a:srgbClr val="E8692A"/>
                </a:solidFill>
                <a:latin typeface="Montserrat"/>
              </a:rPr>
              <a:t>SO WHAT</a:t>
            </a:r>
          </a:p>
        </p:txBody>
      </p:sp>
      <p:sp>
        <p:nvSpPr>
          <p:cNvPr id="12" name="TextBox 11"/>
          <p:cNvSpPr txBox="1"/>
          <p:nvPr/>
        </p:nvSpPr>
        <p:spPr>
          <a:xfrm>
            <a:off x="8366760" y="2148840"/>
            <a:ext cx="3136391" cy="3840480"/>
          </a:xfrm>
          <a:prstGeom prst="rect">
            <a:avLst/>
          </a:prstGeom>
          <a:noFill/>
        </p:spPr>
        <p:txBody>
          <a:bodyPr wrap="square" anchor="t">
            <a:spAutoFit/>
          </a:bodyPr>
          <a:lstStyle/>
          <a:p>
            <a:pPr algn="l">
              <a:spcAft>
                <a:spcPts val="600"/>
              </a:spcAft>
            </a:pPr>
            <a:r>
              <a:rPr sz="1300" b="0">
                <a:solidFill>
                  <a:srgbClr val="1F2937"/>
                </a:solidFill>
                <a:latin typeface="Lato"/>
              </a:rPr>
              <a:t>• Flights +20% year over year (13,072 → 15,729)</a:t>
            </a:r>
          </a:p>
          <a:p>
            <a:pPr algn="l">
              <a:spcAft>
                <a:spcPts val="600"/>
              </a:spcAft>
            </a:pPr>
            <a:r>
              <a:rPr sz="1300" b="0">
                <a:solidFill>
                  <a:srgbClr val="1F2937"/>
                </a:solidFill>
                <a:latin typeface="Lato"/>
              </a:rPr>
              <a:t>• Cost per flight only +2.7%</a:t>
            </a:r>
          </a:p>
          <a:p>
            <a:pPr algn="l">
              <a:spcAft>
                <a:spcPts val="600"/>
              </a:spcAft>
            </a:pPr>
            <a:r>
              <a:rPr sz="1300" b="0">
                <a:solidFill>
                  <a:srgbClr val="1F2937"/>
                </a:solidFill>
                <a:latin typeface="Lato"/>
              </a:rPr>
              <a:t>• Fuel/crew price increases are real but secondary (~$6M)</a:t>
            </a:r>
          </a:p>
          <a:p>
            <a:pPr algn="l">
              <a:spcAft>
                <a:spcPts val="600"/>
              </a:spcAft>
            </a:pPr>
            <a:r>
              <a:rPr sz="1300" b="0">
                <a:solidFill>
                  <a:srgbClr val="1F2937"/>
                </a:solidFill>
                <a:latin typeface="Lato"/>
              </a:rPr>
              <a:t>• Problem is flying more without filling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2743200" cy="1097280"/>
          </a:xfrm>
          <a:prstGeom prst="rect">
            <a:avLst/>
          </a:prstGeom>
          <a:noFill/>
        </p:spPr>
        <p:txBody>
          <a:bodyPr wrap="square" anchor="t">
            <a:spAutoFit/>
          </a:bodyPr>
          <a:lstStyle/>
          <a:p>
            <a:pPr algn="l">
              <a:spcAft>
                <a:spcPts val="600"/>
              </a:spcAft>
            </a:pPr>
            <a:r>
              <a:rPr sz="7200" b="1">
                <a:solidFill>
                  <a:srgbClr val="E8692A"/>
                </a:solidFill>
                <a:latin typeface="Montserrat"/>
              </a:rPr>
              <a:t>02</a:t>
            </a:r>
          </a:p>
        </p:txBody>
      </p:sp>
      <p:sp>
        <p:nvSpPr>
          <p:cNvPr id="4" name="TextBox 3"/>
          <p:cNvSpPr txBox="1"/>
          <p:nvPr/>
        </p:nvSpPr>
        <p:spPr>
          <a:xfrm>
            <a:off x="822960" y="3383280"/>
            <a:ext cx="10058400" cy="822960"/>
          </a:xfrm>
          <a:prstGeom prst="rect">
            <a:avLst/>
          </a:prstGeom>
          <a:noFill/>
        </p:spPr>
        <p:txBody>
          <a:bodyPr wrap="square" anchor="t">
            <a:spAutoFit/>
          </a:bodyPr>
          <a:lstStyle/>
          <a:p>
            <a:pPr algn="l">
              <a:spcAft>
                <a:spcPts val="600"/>
              </a:spcAft>
            </a:pPr>
            <a:r>
              <a:rPr sz="3600" b="1">
                <a:solidFill>
                  <a:srgbClr val="FFFFFF"/>
                </a:solidFill>
                <a:latin typeface="Montserrat"/>
              </a:rPr>
              <a:t>Where the money is lost</a:t>
            </a:r>
          </a:p>
        </p:txBody>
      </p:sp>
      <p:sp>
        <p:nvSpPr>
          <p:cNvPr id="5" name="TextBox 4"/>
          <p:cNvSpPr txBox="1"/>
          <p:nvPr/>
        </p:nvSpPr>
        <p:spPr>
          <a:xfrm>
            <a:off x="822960" y="4206240"/>
            <a:ext cx="10058400" cy="548640"/>
          </a:xfrm>
          <a:prstGeom prst="rect">
            <a:avLst/>
          </a:prstGeom>
          <a:noFill/>
        </p:spPr>
        <p:txBody>
          <a:bodyPr wrap="square" anchor="t">
            <a:spAutoFit/>
          </a:bodyPr>
          <a:lstStyle/>
          <a:p>
            <a:pPr algn="l">
              <a:spcAft>
                <a:spcPts val="600"/>
              </a:spcAft>
            </a:pPr>
            <a:r>
              <a:rPr sz="1600" b="0">
                <a:solidFill>
                  <a:srgbClr val="9CA3AF"/>
                </a:solidFill>
                <a:latin typeface="Lato"/>
              </a:rPr>
              <a:t>Route, market and network performance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2 · NETWORK</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A few hub-to-hub markets carry most of the losses; 26 routes are still profitable</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10</a:t>
            </a:r>
          </a:p>
        </p:txBody>
      </p:sp>
      <p:pic>
        <p:nvPicPr>
          <p:cNvPr id="8" name="Picture 7" descr="04_route_contribution.png"/>
          <p:cNvPicPr>
            <a:picLocks noChangeAspect="1"/>
          </p:cNvPicPr>
          <p:nvPr/>
        </p:nvPicPr>
        <p:blipFill>
          <a:blip r:embed="rId3"/>
          <a:stretch>
            <a:fillRect/>
          </a:stretch>
        </p:blipFill>
        <p:spPr>
          <a:xfrm>
            <a:off x="777240" y="1600200"/>
            <a:ext cx="6858000" cy="4572000"/>
          </a:xfrm>
          <a:prstGeom prst="rect">
            <a:avLst/>
          </a:prstGeom>
        </p:spPr>
      </p:pic>
      <p:sp>
        <p:nvSpPr>
          <p:cNvPr id="9" name="Rectangle 8"/>
          <p:cNvSpPr/>
          <p:nvPr/>
        </p:nvSpPr>
        <p:spPr>
          <a:xfrm>
            <a:off x="8092440" y="1600200"/>
            <a:ext cx="3547872" cy="45720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92440" y="1600200"/>
            <a:ext cx="73152" cy="4572000"/>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783080"/>
            <a:ext cx="3136391" cy="274320"/>
          </a:xfrm>
          <a:prstGeom prst="rect">
            <a:avLst/>
          </a:prstGeom>
          <a:noFill/>
        </p:spPr>
        <p:txBody>
          <a:bodyPr wrap="square" anchor="t">
            <a:spAutoFit/>
          </a:bodyPr>
          <a:lstStyle/>
          <a:p>
            <a:pPr algn="l">
              <a:spcAft>
                <a:spcPts val="600"/>
              </a:spcAft>
            </a:pPr>
            <a:r>
              <a:rPr sz="1100" b="1">
                <a:solidFill>
                  <a:srgbClr val="E8692A"/>
                </a:solidFill>
                <a:latin typeface="Montserrat"/>
              </a:rPr>
              <a:t>SO WHAT</a:t>
            </a:r>
          </a:p>
        </p:txBody>
      </p:sp>
      <p:sp>
        <p:nvSpPr>
          <p:cNvPr id="12" name="TextBox 11"/>
          <p:cNvSpPr txBox="1"/>
          <p:nvPr/>
        </p:nvSpPr>
        <p:spPr>
          <a:xfrm>
            <a:off x="8366760" y="2148840"/>
            <a:ext cx="3136391" cy="3840480"/>
          </a:xfrm>
          <a:prstGeom prst="rect">
            <a:avLst/>
          </a:prstGeom>
          <a:noFill/>
        </p:spPr>
        <p:txBody>
          <a:bodyPr wrap="square" anchor="t">
            <a:spAutoFit/>
          </a:bodyPr>
          <a:lstStyle/>
          <a:p>
            <a:pPr algn="l">
              <a:spcAft>
                <a:spcPts val="600"/>
              </a:spcAft>
            </a:pPr>
            <a:r>
              <a:rPr sz="1300" b="0">
                <a:solidFill>
                  <a:srgbClr val="1F2937"/>
                </a:solidFill>
                <a:latin typeface="Lato"/>
              </a:rPr>
              <a:t>• Montréal–Vancouver: −$19.7M, ~⅓ of all route losses</a:t>
            </a:r>
          </a:p>
          <a:p>
            <a:pPr algn="l">
              <a:spcAft>
                <a:spcPts val="600"/>
              </a:spcAft>
            </a:pPr>
            <a:r>
              <a:rPr sz="1300" b="0">
                <a:solidFill>
                  <a:srgbClr val="1F2937"/>
                </a:solidFill>
                <a:latin typeface="Lato"/>
              </a:rPr>
              <a:t>• Top 8 routes = 71% of the decline</a:t>
            </a:r>
          </a:p>
          <a:p>
            <a:pPr algn="l">
              <a:spcAft>
                <a:spcPts val="600"/>
              </a:spcAft>
            </a:pPr>
            <a:r>
              <a:rPr sz="1300" b="0">
                <a:solidFill>
                  <a:srgbClr val="1F2937"/>
                </a:solidFill>
                <a:latin typeface="Lato"/>
              </a:rPr>
              <a:t>• Profitable routes (+$12.6M) can't offset losers (−$60.9M)</a:t>
            </a:r>
          </a:p>
          <a:p>
            <a:pPr algn="l">
              <a:spcAft>
                <a:spcPts val="600"/>
              </a:spcAft>
            </a:pPr>
            <a:r>
              <a:rPr sz="1300" b="0">
                <a:solidFill>
                  <a:srgbClr val="1F2937"/>
                </a:solidFill>
                <a:latin typeface="Lato"/>
              </a:rPr>
              <a:t>• [Add: hub vs. regional split]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2 · THE EXPANSION</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[Headline: how the new routes and added frequencies performed]</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11</a:t>
            </a:r>
          </a:p>
        </p:txBody>
      </p:sp>
      <p:sp>
        <p:nvSpPr>
          <p:cNvPr id="8" name="Rectangle 7"/>
          <p:cNvSpPr/>
          <p:nvPr/>
        </p:nvSpPr>
        <p:spPr>
          <a:xfrm>
            <a:off x="548640" y="1600200"/>
            <a:ext cx="7315200" cy="457200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7040880" cy="4389120"/>
          </a:xfrm>
          <a:prstGeom prst="rect">
            <a:avLst/>
          </a:prstGeom>
          <a:noFill/>
        </p:spPr>
        <p:txBody>
          <a:bodyPr wrap="square" anchor="ctr">
            <a:spAutoFit/>
          </a:bodyPr>
          <a:lstStyle/>
          <a:p>
            <a:pPr algn="ctr">
              <a:spcAft>
                <a:spcPts val="600"/>
              </a:spcAft>
            </a:pPr>
            <a:r>
              <a:rPr sz="1200" b="0">
                <a:solidFill>
                  <a:srgbClr val="9CA3AF"/>
                </a:solidFill>
                <a:latin typeface="Lato"/>
              </a:rPr>
              <a:t>[Chart: new routes vs. added frequency on existing routes
flights added · revenue per flight · contribution]</a:t>
            </a:r>
          </a:p>
        </p:txBody>
      </p:sp>
      <p:sp>
        <p:nvSpPr>
          <p:cNvPr id="10" name="Rectangle 9"/>
          <p:cNvSpPr/>
          <p:nvPr/>
        </p:nvSpPr>
        <p:spPr>
          <a:xfrm>
            <a:off x="8092440" y="1600200"/>
            <a:ext cx="3547872" cy="45720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092440" y="1600200"/>
            <a:ext cx="73152" cy="4572000"/>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6760" y="1783080"/>
            <a:ext cx="3136391" cy="274320"/>
          </a:xfrm>
          <a:prstGeom prst="rect">
            <a:avLst/>
          </a:prstGeom>
          <a:noFill/>
        </p:spPr>
        <p:txBody>
          <a:bodyPr wrap="square" anchor="t">
            <a:spAutoFit/>
          </a:bodyPr>
          <a:lstStyle/>
          <a:p>
            <a:pPr algn="l">
              <a:spcAft>
                <a:spcPts val="600"/>
              </a:spcAft>
            </a:pPr>
            <a:r>
              <a:rPr sz="1100" b="1">
                <a:solidFill>
                  <a:srgbClr val="E8692A"/>
                </a:solidFill>
                <a:latin typeface="Montserrat"/>
              </a:rPr>
              <a:t>SO WHAT</a:t>
            </a:r>
          </a:p>
        </p:txBody>
      </p:sp>
      <p:sp>
        <p:nvSpPr>
          <p:cNvPr id="13" name="TextBox 12"/>
          <p:cNvSpPr txBox="1"/>
          <p:nvPr/>
        </p:nvSpPr>
        <p:spPr>
          <a:xfrm>
            <a:off x="8366760" y="2148840"/>
            <a:ext cx="3136391" cy="3840480"/>
          </a:xfrm>
          <a:prstGeom prst="rect">
            <a:avLst/>
          </a:prstGeom>
          <a:noFill/>
        </p:spPr>
        <p:txBody>
          <a:bodyPr wrap="square" anchor="t">
            <a:spAutoFit/>
          </a:bodyPr>
          <a:lstStyle/>
          <a:p>
            <a:pPr algn="l">
              <a:spcAft>
                <a:spcPts val="600"/>
              </a:spcAft>
            </a:pPr>
            <a:r>
              <a:rPr sz="1300" b="0">
                <a:solidFill>
                  <a:srgbClr val="1F2937"/>
                </a:solidFill>
                <a:latin typeface="Lato"/>
              </a:rPr>
              <a:t>• Like-for-like route-months: contribution −$31.1M</a:t>
            </a:r>
          </a:p>
          <a:p>
            <a:pPr algn="l">
              <a:spcAft>
                <a:spcPts val="600"/>
              </a:spcAft>
            </a:pPr>
            <a:r>
              <a:rPr sz="1300" b="0">
                <a:solidFill>
                  <a:srgbClr val="1F2937"/>
                </a:solidFill>
                <a:latin typeface="Lato"/>
              </a:rPr>
              <a:t>• New route-months: −$4.9M</a:t>
            </a:r>
          </a:p>
          <a:p>
            <a:pPr algn="l">
              <a:spcAft>
                <a:spcPts val="600"/>
              </a:spcAft>
            </a:pPr>
            <a:r>
              <a:rPr sz="1300" b="0">
                <a:solidFill>
                  <a:srgbClr val="1F2937"/>
                </a:solidFill>
                <a:latin typeface="Lato"/>
              </a:rPr>
              <a:t>• [Revenue per added flight vs. cost per flight]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2743200" cy="1097280"/>
          </a:xfrm>
          <a:prstGeom prst="rect">
            <a:avLst/>
          </a:prstGeom>
          <a:noFill/>
        </p:spPr>
        <p:txBody>
          <a:bodyPr wrap="square" anchor="t">
            <a:spAutoFit/>
          </a:bodyPr>
          <a:lstStyle/>
          <a:p>
            <a:pPr algn="l">
              <a:spcAft>
                <a:spcPts val="600"/>
              </a:spcAft>
            </a:pPr>
            <a:r>
              <a:rPr sz="7200" b="1">
                <a:solidFill>
                  <a:srgbClr val="E8692A"/>
                </a:solidFill>
                <a:latin typeface="Montserrat"/>
              </a:rPr>
              <a:t>03</a:t>
            </a:r>
          </a:p>
        </p:txBody>
      </p:sp>
      <p:sp>
        <p:nvSpPr>
          <p:cNvPr id="4" name="TextBox 3"/>
          <p:cNvSpPr txBox="1"/>
          <p:nvPr/>
        </p:nvSpPr>
        <p:spPr>
          <a:xfrm>
            <a:off x="822960" y="3383280"/>
            <a:ext cx="10058400" cy="822960"/>
          </a:xfrm>
          <a:prstGeom prst="rect">
            <a:avLst/>
          </a:prstGeom>
          <a:noFill/>
        </p:spPr>
        <p:txBody>
          <a:bodyPr wrap="square" anchor="t">
            <a:spAutoFit/>
          </a:bodyPr>
          <a:lstStyle/>
          <a:p>
            <a:pPr algn="l">
              <a:spcAft>
                <a:spcPts val="600"/>
              </a:spcAft>
            </a:pPr>
            <a:r>
              <a:rPr sz="3600" b="1">
                <a:solidFill>
                  <a:srgbClr val="FFFFFF"/>
                </a:solidFill>
                <a:latin typeface="Montserrat"/>
              </a:rPr>
              <a:t>What else matters</a:t>
            </a:r>
          </a:p>
        </p:txBody>
      </p:sp>
      <p:sp>
        <p:nvSpPr>
          <p:cNvPr id="5" name="TextBox 4"/>
          <p:cNvSpPr txBox="1"/>
          <p:nvPr/>
        </p:nvSpPr>
        <p:spPr>
          <a:xfrm>
            <a:off x="822960" y="4206240"/>
            <a:ext cx="10058400" cy="548640"/>
          </a:xfrm>
          <a:prstGeom prst="rect">
            <a:avLst/>
          </a:prstGeom>
          <a:noFill/>
        </p:spPr>
        <p:txBody>
          <a:bodyPr wrap="square" anchor="t">
            <a:spAutoFit/>
          </a:bodyPr>
          <a:lstStyle/>
          <a:p>
            <a:pPr algn="l">
              <a:spcAft>
                <a:spcPts val="600"/>
              </a:spcAft>
            </a:pPr>
            <a:r>
              <a:rPr sz="1600" b="0">
                <a:solidFill>
                  <a:srgbClr val="9CA3AF"/>
                </a:solidFill>
                <a:latin typeface="Lato"/>
              </a:rPr>
              <a:t>Refunds, Rewards, ancillaries and connecting passengers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3 · REVENUE LEVERS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Refunds, Rewards and ancillaries are real but small next to the volume problem</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13</a:t>
            </a:r>
          </a:p>
        </p:txBody>
      </p:sp>
      <p:pic>
        <p:nvPicPr>
          <p:cNvPr id="8" name="Picture 7" descr="08_extras_refunds.png"/>
          <p:cNvPicPr>
            <a:picLocks noChangeAspect="1"/>
          </p:cNvPicPr>
          <p:nvPr/>
        </p:nvPicPr>
        <p:blipFill>
          <a:blip r:embed="rId3"/>
          <a:stretch>
            <a:fillRect/>
          </a:stretch>
        </p:blipFill>
        <p:spPr>
          <a:xfrm>
            <a:off x="937260" y="1600200"/>
            <a:ext cx="6537959" cy="3017520"/>
          </a:xfrm>
          <a:prstGeom prst="rect">
            <a:avLst/>
          </a:prstGeom>
        </p:spPr>
      </p:pic>
      <p:sp>
        <p:nvSpPr>
          <p:cNvPr id="9" name="Rectangle 8"/>
          <p:cNvSpPr/>
          <p:nvPr/>
        </p:nvSpPr>
        <p:spPr>
          <a:xfrm>
            <a:off x="548640" y="4754880"/>
            <a:ext cx="7315200" cy="141732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846320"/>
            <a:ext cx="7040880" cy="1234440"/>
          </a:xfrm>
          <a:prstGeom prst="rect">
            <a:avLst/>
          </a:prstGeom>
          <a:noFill/>
        </p:spPr>
        <p:txBody>
          <a:bodyPr wrap="square" anchor="ctr">
            <a:spAutoFit/>
          </a:bodyPr>
          <a:lstStyle/>
          <a:p>
            <a:pPr algn="ctr">
              <a:spcAft>
                <a:spcPts val="600"/>
              </a:spcAft>
            </a:pPr>
            <a:r>
              <a:rPr sz="1100" b="0">
                <a:solidFill>
                  <a:srgbClr val="9CA3AF"/>
                </a:solidFill>
                <a:latin typeface="Lato"/>
              </a:rPr>
              <a:t>[Factor ranking: $ contribution of each factor to the $36M decline
volume · fuel price · crew price · refunds · Rewards · ancillaries]</a:t>
            </a:r>
          </a:p>
        </p:txBody>
      </p:sp>
      <p:sp>
        <p:nvSpPr>
          <p:cNvPr id="11" name="Rectangle 10"/>
          <p:cNvSpPr/>
          <p:nvPr/>
        </p:nvSpPr>
        <p:spPr>
          <a:xfrm>
            <a:off x="8092440" y="1600200"/>
            <a:ext cx="3547872" cy="45720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92440" y="1600200"/>
            <a:ext cx="73152" cy="4572000"/>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783080"/>
            <a:ext cx="3136391" cy="274320"/>
          </a:xfrm>
          <a:prstGeom prst="rect">
            <a:avLst/>
          </a:prstGeom>
          <a:noFill/>
        </p:spPr>
        <p:txBody>
          <a:bodyPr wrap="square" anchor="t">
            <a:spAutoFit/>
          </a:bodyPr>
          <a:lstStyle/>
          <a:p>
            <a:pPr algn="l">
              <a:spcAft>
                <a:spcPts val="600"/>
              </a:spcAft>
            </a:pPr>
            <a:r>
              <a:rPr sz="1100" b="1">
                <a:solidFill>
                  <a:srgbClr val="E8692A"/>
                </a:solidFill>
                <a:latin typeface="Montserrat"/>
              </a:rPr>
              <a:t>SO WHAT</a:t>
            </a:r>
          </a:p>
        </p:txBody>
      </p:sp>
      <p:sp>
        <p:nvSpPr>
          <p:cNvPr id="14" name="TextBox 13"/>
          <p:cNvSpPr txBox="1"/>
          <p:nvPr/>
        </p:nvSpPr>
        <p:spPr>
          <a:xfrm>
            <a:off x="8366760" y="2148840"/>
            <a:ext cx="3136391" cy="3840480"/>
          </a:xfrm>
          <a:prstGeom prst="rect">
            <a:avLst/>
          </a:prstGeom>
          <a:noFill/>
        </p:spPr>
        <p:txBody>
          <a:bodyPr wrap="square" anchor="t">
            <a:spAutoFit/>
          </a:bodyPr>
          <a:lstStyle/>
          <a:p>
            <a:pPr algn="l">
              <a:spcAft>
                <a:spcPts val="600"/>
              </a:spcAft>
            </a:pPr>
            <a:r>
              <a:rPr sz="1300" b="0">
                <a:solidFill>
                  <a:srgbClr val="1F2937"/>
                </a:solidFill>
                <a:latin typeface="Lato"/>
              </a:rPr>
              <a:t>• Refunds +$1.15M; OTA bookings refunded most</a:t>
            </a:r>
          </a:p>
          <a:p>
            <a:pPr algn="l">
              <a:spcAft>
                <a:spcPts val="600"/>
              </a:spcAft>
            </a:pPr>
            <a:r>
              <a:rPr sz="1300" b="0">
                <a:solidFill>
                  <a:srgbClr val="1F2937"/>
                </a:solidFill>
                <a:latin typeface="Lato"/>
              </a:rPr>
              <a:t>• Ancillaries ≈ 2% of revenue; +10% adds only ~$0.3M</a:t>
            </a:r>
          </a:p>
          <a:p>
            <a:pPr algn="l">
              <a:spcAft>
                <a:spcPts val="600"/>
              </a:spcAft>
            </a:pPr>
            <a:r>
              <a:rPr sz="1300" b="0">
                <a:solidFill>
                  <a:srgbClr val="1F2937"/>
                </a:solidFill>
                <a:latin typeface="Lato"/>
              </a:rPr>
              <a:t>• [Rewards finding]</a:t>
            </a:r>
          </a:p>
          <a:p>
            <a:pPr algn="l">
              <a:spcAft>
                <a:spcPts val="600"/>
              </a:spcAft>
            </a:pPr>
            <a:r>
              <a:rPr sz="1300" b="0">
                <a:solidFill>
                  <a:srgbClr val="1F2937"/>
                </a:solidFill>
                <a:latin typeface="Lato"/>
              </a:rPr>
              <a:t>• [Connecting-passenger finding]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4 · GATE LEASES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[Headline: gate lease change 2024-25 → 2025-26 and 2026-27 estimate]</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14</a:t>
            </a:r>
          </a:p>
        </p:txBody>
      </p:sp>
      <p:sp>
        <p:nvSpPr>
          <p:cNvPr id="8" name="Rectangle 7"/>
          <p:cNvSpPr/>
          <p:nvPr/>
        </p:nvSpPr>
        <p:spPr>
          <a:xfrm>
            <a:off x="548640" y="1600200"/>
            <a:ext cx="5394960" cy="457200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5120640" cy="4389120"/>
          </a:xfrm>
          <a:prstGeom prst="rect">
            <a:avLst/>
          </a:prstGeom>
          <a:noFill/>
        </p:spPr>
        <p:txBody>
          <a:bodyPr wrap="square" anchor="ctr">
            <a:spAutoFit/>
          </a:bodyPr>
          <a:lstStyle/>
          <a:p>
            <a:pPr algn="ctr">
              <a:spcAft>
                <a:spcPts val="600"/>
              </a:spcAft>
            </a:pPr>
            <a:r>
              <a:rPr sz="1200" b="0">
                <a:solidFill>
                  <a:srgbClr val="9CA3AF"/>
                </a:solidFill>
                <a:latin typeface="Lato"/>
              </a:rPr>
              <a:t>[Chart: gate cost by airport
2024-25 vs 2025-26 vs 2026-27 est.]</a:t>
            </a:r>
          </a:p>
        </p:txBody>
      </p:sp>
      <p:sp>
        <p:nvSpPr>
          <p:cNvPr id="10" name="Rectangle 9"/>
          <p:cNvSpPr/>
          <p:nvPr/>
        </p:nvSpPr>
        <p:spPr>
          <a:xfrm>
            <a:off x="6126480" y="1600200"/>
            <a:ext cx="1828800" cy="457200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63640" y="1691640"/>
            <a:ext cx="1554480" cy="4389120"/>
          </a:xfrm>
          <a:prstGeom prst="rect">
            <a:avLst/>
          </a:prstGeom>
          <a:noFill/>
        </p:spPr>
        <p:txBody>
          <a:bodyPr wrap="square" anchor="ctr">
            <a:spAutoFit/>
          </a:bodyPr>
          <a:lstStyle/>
          <a:p>
            <a:pPr algn="ctr">
              <a:spcAft>
                <a:spcPts val="600"/>
              </a:spcAft>
            </a:pPr>
            <a:r>
              <a:rPr sz="1100" b="0">
                <a:solidFill>
                  <a:srgbClr val="9CA3AF"/>
                </a:solidFill>
                <a:latin typeface="Lato"/>
              </a:rPr>
              <a:t>[Gate cost per departing flight by airport, highlight idle gates]</a:t>
            </a:r>
          </a:p>
        </p:txBody>
      </p:sp>
      <p:sp>
        <p:nvSpPr>
          <p:cNvPr id="12" name="Rectangle 11"/>
          <p:cNvSpPr/>
          <p:nvPr/>
        </p:nvSpPr>
        <p:spPr>
          <a:xfrm>
            <a:off x="8092440" y="1600200"/>
            <a:ext cx="3547872" cy="45720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40" y="1600200"/>
            <a:ext cx="73152" cy="4572000"/>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6760" y="1783080"/>
            <a:ext cx="3136391" cy="274320"/>
          </a:xfrm>
          <a:prstGeom prst="rect">
            <a:avLst/>
          </a:prstGeom>
          <a:noFill/>
        </p:spPr>
        <p:txBody>
          <a:bodyPr wrap="square" anchor="t">
            <a:spAutoFit/>
          </a:bodyPr>
          <a:lstStyle/>
          <a:p>
            <a:pPr algn="l">
              <a:spcAft>
                <a:spcPts val="600"/>
              </a:spcAft>
            </a:pPr>
            <a:r>
              <a:rPr sz="1100" b="1">
                <a:solidFill>
                  <a:srgbClr val="E8692A"/>
                </a:solidFill>
                <a:latin typeface="Montserrat"/>
              </a:rPr>
              <a:t>SO WHAT</a:t>
            </a:r>
          </a:p>
        </p:txBody>
      </p:sp>
      <p:sp>
        <p:nvSpPr>
          <p:cNvPr id="15" name="TextBox 14"/>
          <p:cNvSpPr txBox="1"/>
          <p:nvPr/>
        </p:nvSpPr>
        <p:spPr>
          <a:xfrm>
            <a:off x="8366760" y="2148840"/>
            <a:ext cx="3136391" cy="3840480"/>
          </a:xfrm>
          <a:prstGeom prst="rect">
            <a:avLst/>
          </a:prstGeom>
          <a:noFill/>
        </p:spPr>
        <p:txBody>
          <a:bodyPr wrap="square" anchor="t">
            <a:spAutoFit/>
          </a:bodyPr>
          <a:lstStyle/>
          <a:p>
            <a:pPr algn="l">
              <a:spcAft>
                <a:spcPts val="600"/>
              </a:spcAft>
            </a:pPr>
            <a:r>
              <a:rPr sz="1300" b="0">
                <a:solidFill>
                  <a:srgbClr val="1F2937"/>
                </a:solidFill>
                <a:latin typeface="Lato"/>
              </a:rPr>
              <a:t>• Actual gate spend ~$9.7M → $9.9M (+2.2%), not the $17M row total</a:t>
            </a:r>
          </a:p>
          <a:p>
            <a:pPr algn="l">
              <a:spcAft>
                <a:spcPts val="600"/>
              </a:spcAft>
            </a:pPr>
            <a:r>
              <a:rPr sz="1300" b="0">
                <a:solidFill>
                  <a:srgbClr val="1F2937"/>
                </a:solidFill>
                <a:latin typeface="Lato"/>
              </a:rPr>
              <a:t>• [2026-27 estimate: $X M, method]</a:t>
            </a:r>
          </a:p>
          <a:p>
            <a:pPr algn="l">
              <a:spcAft>
                <a:spcPts val="600"/>
              </a:spcAft>
            </a:pPr>
            <a:r>
              <a:rPr sz="1300" b="0">
                <a:solidFill>
                  <a:srgbClr val="1F2937"/>
                </a:solidFill>
                <a:latin typeface="Lato"/>
              </a:rPr>
              <a:t>• [Most expensive airport per departure]</a:t>
            </a:r>
          </a:p>
          <a:p>
            <a:pPr algn="l">
              <a:spcAft>
                <a:spcPts val="600"/>
              </a:spcAft>
            </a:pPr>
            <a:r>
              <a:rPr sz="1300" b="0">
                <a:solidFill>
                  <a:srgbClr val="1F2937"/>
                </a:solidFill>
                <a:latin typeface="Lato"/>
              </a:rPr>
              <a:t>• [Loss after gates: $X 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ROOT CAUSE</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[Headline: one-sentence diagnosis tying volume, routes and secondary factors together]</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15</a:t>
            </a:r>
          </a:p>
        </p:txBody>
      </p:sp>
      <p:sp>
        <p:nvSpPr>
          <p:cNvPr id="8" name="Rectangle 7"/>
          <p:cNvSpPr/>
          <p:nvPr/>
        </p:nvSpPr>
        <p:spPr>
          <a:xfrm>
            <a:off x="548640" y="1600200"/>
            <a:ext cx="11091672" cy="457200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10817352" cy="4389120"/>
          </a:xfrm>
          <a:prstGeom prst="rect">
            <a:avLst/>
          </a:prstGeom>
          <a:noFill/>
        </p:spPr>
        <p:txBody>
          <a:bodyPr wrap="square" anchor="ctr">
            <a:spAutoFit/>
          </a:bodyPr>
          <a:lstStyle/>
          <a:p>
            <a:pPr algn="ctr">
              <a:spcAft>
                <a:spcPts val="600"/>
              </a:spcAft>
            </a:pPr>
            <a:r>
              <a:rPr sz="1200" b="0">
                <a:solidFill>
                  <a:srgbClr val="9CA3AF"/>
                </a:solidFill>
                <a:latin typeface="Lato"/>
              </a:rPr>
              <a:t>[Driver tree or waterfall: FY24-25 contribution → FY25-26 contribution
added flights · per-flight cost inflation · refunds · Rewards · ancillaries · gates]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2743200" cy="1097280"/>
          </a:xfrm>
          <a:prstGeom prst="rect">
            <a:avLst/>
          </a:prstGeom>
          <a:noFill/>
        </p:spPr>
        <p:txBody>
          <a:bodyPr wrap="square" anchor="t">
            <a:spAutoFit/>
          </a:bodyPr>
          <a:lstStyle/>
          <a:p>
            <a:pPr algn="l">
              <a:spcAft>
                <a:spcPts val="600"/>
              </a:spcAft>
            </a:pPr>
            <a:r>
              <a:rPr sz="7200" b="1">
                <a:solidFill>
                  <a:srgbClr val="E8692A"/>
                </a:solidFill>
                <a:latin typeface="Montserrat"/>
              </a:rPr>
              <a:t>04</a:t>
            </a:r>
          </a:p>
        </p:txBody>
      </p:sp>
      <p:sp>
        <p:nvSpPr>
          <p:cNvPr id="4" name="TextBox 3"/>
          <p:cNvSpPr txBox="1"/>
          <p:nvPr/>
        </p:nvSpPr>
        <p:spPr>
          <a:xfrm>
            <a:off x="822960" y="3383280"/>
            <a:ext cx="10058400" cy="822960"/>
          </a:xfrm>
          <a:prstGeom prst="rect">
            <a:avLst/>
          </a:prstGeom>
          <a:noFill/>
        </p:spPr>
        <p:txBody>
          <a:bodyPr wrap="square" anchor="t">
            <a:spAutoFit/>
          </a:bodyPr>
          <a:lstStyle/>
          <a:p>
            <a:pPr algn="l">
              <a:spcAft>
                <a:spcPts val="600"/>
              </a:spcAft>
            </a:pPr>
            <a:r>
              <a:rPr sz="3600" b="1">
                <a:solidFill>
                  <a:srgbClr val="FFFFFF"/>
                </a:solidFill>
                <a:latin typeface="Montserrat"/>
              </a:rPr>
              <a:t>What NorthByte should do</a:t>
            </a:r>
          </a:p>
        </p:txBody>
      </p:sp>
      <p:sp>
        <p:nvSpPr>
          <p:cNvPr id="5" name="TextBox 4"/>
          <p:cNvSpPr txBox="1"/>
          <p:nvPr/>
        </p:nvSpPr>
        <p:spPr>
          <a:xfrm>
            <a:off x="822960" y="4206240"/>
            <a:ext cx="10058400" cy="548640"/>
          </a:xfrm>
          <a:prstGeom prst="rect">
            <a:avLst/>
          </a:prstGeom>
          <a:noFill/>
        </p:spPr>
        <p:txBody>
          <a:bodyPr wrap="square" anchor="t">
            <a:spAutoFit/>
          </a:bodyPr>
          <a:lstStyle/>
          <a:p>
            <a:pPr algn="l">
              <a:spcAft>
                <a:spcPts val="600"/>
              </a:spcAft>
            </a:pPr>
            <a:r>
              <a:rPr sz="1600" b="0">
                <a:solidFill>
                  <a:srgbClr val="9CA3AF"/>
                </a:solidFill>
                <a:latin typeface="Lato"/>
              </a:rPr>
              <a:t>Issues, alternatives, recommendation, implementation, risks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KEY ISSUES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The loss comes from flights NorthByte added in 2025, not the network it already flew</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&amp; costs, FY24-25 vs FY25-26; team analysis. Contribution = revenue − fuel, crew, maintenance, food (before gates).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17</a:t>
            </a:r>
          </a:p>
        </p:txBody>
      </p:sp>
      <p:sp>
        <p:nvSpPr>
          <p:cNvPr id="8" name="TextBox 7"/>
          <p:cNvSpPr txBox="1"/>
          <p:nvPr/>
        </p:nvSpPr>
        <p:spPr>
          <a:xfrm>
            <a:off x="548640" y="1481328"/>
            <a:ext cx="11064240" cy="274320"/>
          </a:xfrm>
          <a:prstGeom prst="rect">
            <a:avLst/>
          </a:prstGeom>
          <a:noFill/>
        </p:spPr>
        <p:txBody>
          <a:bodyPr wrap="square" anchor="t" lIns="0" rIns="0" tIns="0" bIns="0">
            <a:spAutoFit/>
          </a:bodyPr>
          <a:lstStyle/>
          <a:p>
            <a:pPr algn="l"/>
            <a:r>
              <a:rPr sz="1400" b="0" i="0">
                <a:solidFill>
                  <a:srgbClr val="1F2937"/>
                </a:solidFill>
                <a:latin typeface="Lato"/>
              </a:rPr>
              <a:t>On record revenue ($190.0M, +5.2%), NorthByte lost </a:t>
            </a:r>
            <a:r>
              <a:rPr sz="1400" b="1" i="0">
                <a:solidFill>
                  <a:srgbClr val="0B1F3A"/>
                </a:solidFill>
                <a:latin typeface="Lato"/>
              </a:rPr>
              <a:t>−$48.4M before gates (−$58.4M after)</a:t>
            </a:r>
            <a:r>
              <a:rPr sz="1400" b="0" i="0">
                <a:solidFill>
                  <a:srgbClr val="1F2937"/>
                </a:solidFill>
                <a:latin typeface="Lato"/>
              </a:rPr>
              <a:t>, nearly 4× the year before.</a:t>
            </a:r>
          </a:p>
        </p:txBody>
      </p:sp>
      <p:sp>
        <p:nvSpPr>
          <p:cNvPr id="9" name="Rectangle 8"/>
          <p:cNvSpPr/>
          <p:nvPr/>
        </p:nvSpPr>
        <p:spPr>
          <a:xfrm>
            <a:off x="548640" y="1901952"/>
            <a:ext cx="4160520" cy="3383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93392"/>
            <a:ext cx="3840480" cy="457200"/>
          </a:xfrm>
          <a:prstGeom prst="rect">
            <a:avLst/>
          </a:prstGeom>
          <a:noFill/>
        </p:spPr>
        <p:txBody>
          <a:bodyPr wrap="square" anchor="t" lIns="0" rIns="0" tIns="0" bIns="0">
            <a:spAutoFit/>
          </a:bodyPr>
          <a:lstStyle/>
          <a:p>
            <a:pPr algn="l"/>
            <a:r>
              <a:rPr sz="1200" b="1" i="0">
                <a:solidFill>
                  <a:srgbClr val="0B1F3A"/>
                </a:solidFill>
                <a:latin typeface="Lato"/>
              </a:rPr>
              <a:t>Where FY25-26 contribution comes from</a:t>
            </a:r>
          </a:p>
          <a:p>
            <a:pPr algn="l"/>
            <a:r>
              <a:rPr sz="1000" b="0" i="0">
                <a:solidFill>
                  <a:srgbClr val="6B7280"/>
                </a:solidFill>
                <a:latin typeface="Lato"/>
              </a:rPr>
              <a:t>$M before gates, by route group</a:t>
            </a:r>
          </a:p>
        </p:txBody>
      </p:sp>
      <p:graphicFrame>
        <p:nvGraphicFramePr>
          <p:cNvPr id="11" name="Chart 10"/>
          <p:cNvGraphicFramePr>
            <a:graphicFrameLocks noGrp="1"/>
          </p:cNvGraphicFramePr>
          <p:nvPr/>
        </p:nvGraphicFramePr>
        <p:xfrm>
          <a:off x="640080" y="2487168"/>
          <a:ext cx="3977639" cy="2743200"/>
        </p:xfrm>
        <a:graphic>
          <a:graphicData uri="http://schemas.openxmlformats.org/drawingml/2006/chart">
            <c:chart xmlns:c="http://schemas.openxmlformats.org/drawingml/2006/chart" r:id="rId11"/>
          </a:graphicData>
        </a:graphic>
      </p:graphicFrame>
      <p:sp>
        <p:nvSpPr>
          <p:cNvPr id="12" name="Rectangle 11"/>
          <p:cNvSpPr/>
          <p:nvPr/>
        </p:nvSpPr>
        <p:spPr>
          <a:xfrm>
            <a:off x="4937760" y="1901952"/>
            <a:ext cx="6702552" cy="107899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074920" y="2011680"/>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Montserrat"/>
              </a:rPr>
              <a:t>1</a:t>
            </a:r>
          </a:p>
        </p:txBody>
      </p:sp>
      <p:sp>
        <p:nvSpPr>
          <p:cNvPr id="14" name="TextBox 13"/>
          <p:cNvSpPr txBox="1"/>
          <p:nvPr/>
        </p:nvSpPr>
        <p:spPr>
          <a:xfrm>
            <a:off x="5596128" y="1975104"/>
            <a:ext cx="4297680" cy="274320"/>
          </a:xfrm>
          <a:prstGeom prst="rect">
            <a:avLst/>
          </a:prstGeom>
          <a:noFill/>
        </p:spPr>
        <p:txBody>
          <a:bodyPr wrap="square" anchor="t" lIns="0" rIns="0" tIns="0" bIns="0">
            <a:spAutoFit/>
          </a:bodyPr>
          <a:lstStyle/>
          <a:p>
            <a:pPr algn="l"/>
            <a:r>
              <a:rPr sz="1400" b="1" i="0">
                <a:solidFill>
                  <a:srgbClr val="0B1F3A"/>
                </a:solidFill>
                <a:latin typeface="Montserrat"/>
              </a:rPr>
              <a:t>Capacity outran demand</a:t>
            </a:r>
          </a:p>
        </p:txBody>
      </p:sp>
      <p:sp>
        <p:nvSpPr>
          <p:cNvPr id="15" name="TextBox 14"/>
          <p:cNvSpPr txBox="1"/>
          <p:nvPr/>
        </p:nvSpPr>
        <p:spPr>
          <a:xfrm>
            <a:off x="5596128" y="2240280"/>
            <a:ext cx="4343400" cy="502920"/>
          </a:xfrm>
          <a:prstGeom prst="rect">
            <a:avLst/>
          </a:prstGeom>
          <a:noFill/>
        </p:spPr>
        <p:txBody>
          <a:bodyPr wrap="square" anchor="t" lIns="0" rIns="0" tIns="0" bIns="0">
            <a:spAutoFit/>
          </a:bodyPr>
          <a:lstStyle/>
          <a:p>
            <a:pPr algn="l"/>
            <a:r>
              <a:rPr sz="1050" b="0" i="0">
                <a:solidFill>
                  <a:srgbClr val="1F2937"/>
                </a:solidFill>
                <a:latin typeface="Lato"/>
              </a:rPr>
              <a:t>10 trunk directions, Sep–Feb: flights +101%, revenue +3.1% (other routes +4.0%), tickets/flight −44%. Montréal–Vancouver lost money all year. New markets cover a third of cost.</a:t>
            </a:r>
          </a:p>
        </p:txBody>
      </p:sp>
      <p:sp>
        <p:nvSpPr>
          <p:cNvPr id="16" name="TextBox 15"/>
          <p:cNvSpPr txBox="1"/>
          <p:nvPr/>
        </p:nvSpPr>
        <p:spPr>
          <a:xfrm>
            <a:off x="5596128" y="2724912"/>
            <a:ext cx="5943600" cy="219456"/>
          </a:xfrm>
          <a:prstGeom prst="rect">
            <a:avLst/>
          </a:prstGeom>
          <a:noFill/>
        </p:spPr>
        <p:txBody>
          <a:bodyPr wrap="square" anchor="t" lIns="0" rIns="0" tIns="0" bIns="0">
            <a:spAutoFit/>
          </a:bodyPr>
          <a:lstStyle/>
          <a:p>
            <a:pPr algn="l"/>
            <a:r>
              <a:rPr sz="1000" b="1" i="0">
                <a:solidFill>
                  <a:srgbClr val="E8692A"/>
                </a:solidFill>
                <a:latin typeface="Lato"/>
              </a:rPr>
              <a:t>→ Fix: right-size the schedule; re-add flights only on proven demand</a:t>
            </a:r>
          </a:p>
        </p:txBody>
      </p:sp>
      <p:sp>
        <p:nvSpPr>
          <p:cNvPr id="17" name="TextBox 16"/>
          <p:cNvSpPr txBox="1"/>
          <p:nvPr/>
        </p:nvSpPr>
        <p:spPr>
          <a:xfrm>
            <a:off x="10012680" y="1975104"/>
            <a:ext cx="1536192" cy="365760"/>
          </a:xfrm>
          <a:prstGeom prst="rect">
            <a:avLst/>
          </a:prstGeom>
          <a:noFill/>
        </p:spPr>
        <p:txBody>
          <a:bodyPr wrap="square" anchor="t" lIns="0" rIns="0" tIns="0" bIns="0">
            <a:spAutoFit/>
          </a:bodyPr>
          <a:lstStyle/>
          <a:p>
            <a:pPr algn="r"/>
            <a:r>
              <a:rPr sz="1800" b="1" i="0">
                <a:solidFill>
                  <a:srgbClr val="0B1F3A"/>
                </a:solidFill>
                <a:latin typeface="Montserrat"/>
              </a:rPr>
              <a:t>−$59M</a:t>
            </a:r>
          </a:p>
        </p:txBody>
      </p:sp>
      <p:sp>
        <p:nvSpPr>
          <p:cNvPr id="18" name="TextBox 17"/>
          <p:cNvSpPr txBox="1"/>
          <p:nvPr/>
        </p:nvSpPr>
        <p:spPr>
          <a:xfrm>
            <a:off x="10012680" y="2340864"/>
            <a:ext cx="1536192" cy="329184"/>
          </a:xfrm>
          <a:prstGeom prst="rect">
            <a:avLst/>
          </a:prstGeom>
          <a:noFill/>
        </p:spPr>
        <p:txBody>
          <a:bodyPr wrap="square" anchor="t" lIns="0" rIns="0" tIns="0" bIns="0">
            <a:spAutoFit/>
          </a:bodyPr>
          <a:lstStyle/>
          <a:p>
            <a:pPr algn="r"/>
            <a:r>
              <a:rPr sz="900" b="0" i="0">
                <a:solidFill>
                  <a:srgbClr val="6B7280"/>
                </a:solidFill>
                <a:latin typeface="Lato"/>
              </a:rPr>
              <a:t>contribution of the routes involved</a:t>
            </a:r>
          </a:p>
        </p:txBody>
      </p:sp>
      <p:sp>
        <p:nvSpPr>
          <p:cNvPr id="19" name="Rectangle 18"/>
          <p:cNvSpPr/>
          <p:nvPr/>
        </p:nvSpPr>
        <p:spPr>
          <a:xfrm>
            <a:off x="4937760" y="3054096"/>
            <a:ext cx="6702552" cy="107899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074920" y="3163824"/>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Montserrat"/>
              </a:rPr>
              <a:t>2</a:t>
            </a:r>
          </a:p>
        </p:txBody>
      </p:sp>
      <p:sp>
        <p:nvSpPr>
          <p:cNvPr id="21" name="TextBox 20"/>
          <p:cNvSpPr txBox="1"/>
          <p:nvPr/>
        </p:nvSpPr>
        <p:spPr>
          <a:xfrm>
            <a:off x="5596128" y="3127248"/>
            <a:ext cx="4297680" cy="274320"/>
          </a:xfrm>
          <a:prstGeom prst="rect">
            <a:avLst/>
          </a:prstGeom>
          <a:noFill/>
        </p:spPr>
        <p:txBody>
          <a:bodyPr wrap="square" anchor="t" lIns="0" rIns="0" tIns="0" bIns="0">
            <a:spAutoFit/>
          </a:bodyPr>
          <a:lstStyle/>
          <a:p>
            <a:pPr algn="l"/>
            <a:r>
              <a:rPr sz="1400" b="1" i="0">
                <a:solidFill>
                  <a:srgbClr val="0B1F3A"/>
                </a:solidFill>
                <a:latin typeface="Montserrat"/>
              </a:rPr>
              <a:t>Each flight earns less and costs more</a:t>
            </a:r>
          </a:p>
        </p:txBody>
      </p:sp>
      <p:sp>
        <p:nvSpPr>
          <p:cNvPr id="22" name="TextBox 21"/>
          <p:cNvSpPr txBox="1"/>
          <p:nvPr/>
        </p:nvSpPr>
        <p:spPr>
          <a:xfrm>
            <a:off x="5596128" y="3392424"/>
            <a:ext cx="4343400" cy="502920"/>
          </a:xfrm>
          <a:prstGeom prst="rect">
            <a:avLst/>
          </a:prstGeom>
          <a:noFill/>
        </p:spPr>
        <p:txBody>
          <a:bodyPr wrap="square" anchor="t" lIns="0" rIns="0" tIns="0" bIns="0">
            <a:spAutoFit/>
          </a:bodyPr>
          <a:lstStyle/>
          <a:p>
            <a:pPr algn="l"/>
            <a:r>
              <a:rPr sz="1050" b="0" i="0">
                <a:solidFill>
                  <a:srgbClr val="1F2937"/>
                </a:solidFill>
                <a:latin typeface="Lato"/>
              </a:rPr>
              <a:t>Per flight, same route &amp; month: fuel +8.7%, crew +8.5%, rising Jan–Jul 2025. Trunk fares −8% (Sep–Feb): extra seats sold only at lower fares. Refunds $6.7M → $7.8M.</a:t>
            </a:r>
          </a:p>
        </p:txBody>
      </p:sp>
      <p:sp>
        <p:nvSpPr>
          <p:cNvPr id="23" name="TextBox 22"/>
          <p:cNvSpPr txBox="1"/>
          <p:nvPr/>
        </p:nvSpPr>
        <p:spPr>
          <a:xfrm>
            <a:off x="5596128" y="3877056"/>
            <a:ext cx="5943600" cy="219456"/>
          </a:xfrm>
          <a:prstGeom prst="rect">
            <a:avLst/>
          </a:prstGeom>
          <a:noFill/>
        </p:spPr>
        <p:txBody>
          <a:bodyPr wrap="square" anchor="t" lIns="0" rIns="0" tIns="0" bIns="0">
            <a:spAutoFit/>
          </a:bodyPr>
          <a:lstStyle/>
          <a:p>
            <a:pPr algn="l"/>
            <a:r>
              <a:rPr sz="1000" b="1" i="0">
                <a:solidFill>
                  <a:srgbClr val="E8692A"/>
                </a:solidFill>
                <a:latin typeface="Lato"/>
              </a:rPr>
              <a:t>→ Fix: restore trunk fares, rebook-first for disruptions, shift OTA bookings to direct</a:t>
            </a:r>
          </a:p>
        </p:txBody>
      </p:sp>
      <p:sp>
        <p:nvSpPr>
          <p:cNvPr id="24" name="TextBox 23"/>
          <p:cNvSpPr txBox="1"/>
          <p:nvPr/>
        </p:nvSpPr>
        <p:spPr>
          <a:xfrm>
            <a:off x="10012680" y="3127248"/>
            <a:ext cx="1536192" cy="365760"/>
          </a:xfrm>
          <a:prstGeom prst="rect">
            <a:avLst/>
          </a:prstGeom>
          <a:noFill/>
        </p:spPr>
        <p:txBody>
          <a:bodyPr wrap="square" anchor="t" lIns="0" rIns="0" tIns="0" bIns="0">
            <a:spAutoFit/>
          </a:bodyPr>
          <a:lstStyle/>
          <a:p>
            <a:pPr algn="r"/>
            <a:r>
              <a:rPr sz="1800" b="1" i="0">
                <a:solidFill>
                  <a:srgbClr val="0B1F3A"/>
                </a:solidFill>
                <a:latin typeface="Montserrat"/>
              </a:rPr>
              <a:t>$15.2M</a:t>
            </a:r>
          </a:p>
        </p:txBody>
      </p:sp>
      <p:sp>
        <p:nvSpPr>
          <p:cNvPr id="25" name="TextBox 24"/>
          <p:cNvSpPr txBox="1"/>
          <p:nvPr/>
        </p:nvSpPr>
        <p:spPr>
          <a:xfrm>
            <a:off x="10012680" y="3493008"/>
            <a:ext cx="1536192" cy="329184"/>
          </a:xfrm>
          <a:prstGeom prst="rect">
            <a:avLst/>
          </a:prstGeom>
          <a:noFill/>
        </p:spPr>
        <p:txBody>
          <a:bodyPr wrap="square" anchor="t" lIns="0" rIns="0" tIns="0" bIns="0">
            <a:spAutoFit/>
          </a:bodyPr>
          <a:lstStyle/>
          <a:p>
            <a:pPr algn="r"/>
            <a:r>
              <a:rPr sz="900" b="0" i="0">
                <a:solidFill>
                  <a:srgbClr val="6B7280"/>
                </a:solidFill>
                <a:latin typeface="Lato"/>
              </a:rPr>
              <a:t>cost rise, same route &amp; month (⅓ of growth)</a:t>
            </a:r>
          </a:p>
        </p:txBody>
      </p:sp>
      <p:sp>
        <p:nvSpPr>
          <p:cNvPr id="26" name="Rectangle 25"/>
          <p:cNvSpPr/>
          <p:nvPr/>
        </p:nvSpPr>
        <p:spPr>
          <a:xfrm>
            <a:off x="4937760" y="4206240"/>
            <a:ext cx="6702552" cy="107899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074920" y="4315968"/>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Montserrat"/>
              </a:rPr>
              <a:t>3</a:t>
            </a:r>
          </a:p>
        </p:txBody>
      </p:sp>
      <p:sp>
        <p:nvSpPr>
          <p:cNvPr id="28" name="TextBox 27"/>
          <p:cNvSpPr txBox="1"/>
          <p:nvPr/>
        </p:nvSpPr>
        <p:spPr>
          <a:xfrm>
            <a:off x="5596128" y="4279392"/>
            <a:ext cx="4297680" cy="274320"/>
          </a:xfrm>
          <a:prstGeom prst="rect">
            <a:avLst/>
          </a:prstGeom>
          <a:noFill/>
        </p:spPr>
        <p:txBody>
          <a:bodyPr wrap="square" anchor="t" lIns="0" rIns="0" tIns="0" bIns="0">
            <a:spAutoFit/>
          </a:bodyPr>
          <a:lstStyle/>
          <a:p>
            <a:pPr algn="l"/>
            <a:r>
              <a:rPr sz="1400" b="1" i="0">
                <a:solidFill>
                  <a:srgbClr val="0B1F3A"/>
                </a:solidFill>
                <a:latin typeface="Montserrat"/>
              </a:rPr>
              <a:t>Decisions without route-level numbers</a:t>
            </a:r>
          </a:p>
        </p:txBody>
      </p:sp>
      <p:sp>
        <p:nvSpPr>
          <p:cNvPr id="29" name="TextBox 28"/>
          <p:cNvSpPr txBox="1"/>
          <p:nvPr/>
        </p:nvSpPr>
        <p:spPr>
          <a:xfrm>
            <a:off x="5596128" y="4544568"/>
            <a:ext cx="4343400" cy="502920"/>
          </a:xfrm>
          <a:prstGeom prst="rect">
            <a:avLst/>
          </a:prstGeom>
          <a:noFill/>
        </p:spPr>
        <p:txBody>
          <a:bodyPr wrap="square" anchor="t" lIns="0" rIns="0" tIns="0" bIns="0">
            <a:spAutoFit/>
          </a:bodyPr>
          <a:lstStyle/>
          <a:p>
            <a:pPr algn="l"/>
            <a:r>
              <a:rPr sz="1050" b="0" i="0">
                <a:solidFill>
                  <a:srgbClr val="1F2937"/>
                </a:solidFill>
                <a:latin typeface="Lato"/>
              </a:rPr>
              <a:t>Finance “reviewed costs at the company level, by category, rather than route by route” (case). Doubled routes already earned less (5.4% vs 12.3% margin); 2026 repeated the schedule.</a:t>
            </a:r>
          </a:p>
        </p:txBody>
      </p:sp>
      <p:sp>
        <p:nvSpPr>
          <p:cNvPr id="30" name="TextBox 29"/>
          <p:cNvSpPr txBox="1"/>
          <p:nvPr/>
        </p:nvSpPr>
        <p:spPr>
          <a:xfrm>
            <a:off x="5596128" y="5029200"/>
            <a:ext cx="5943600" cy="219456"/>
          </a:xfrm>
          <a:prstGeom prst="rect">
            <a:avLst/>
          </a:prstGeom>
          <a:noFill/>
        </p:spPr>
        <p:txBody>
          <a:bodyPr wrap="square" anchor="t" lIns="0" rIns="0" tIns="0" bIns="0">
            <a:spAutoFit/>
          </a:bodyPr>
          <a:lstStyle/>
          <a:p>
            <a:pPr algn="l"/>
            <a:r>
              <a:rPr sz="1000" b="1" i="0">
                <a:solidFill>
                  <a:srgbClr val="E8692A"/>
                </a:solidFill>
                <a:latin typeface="Lato"/>
              </a:rPr>
              <a:t>→ Fix: a route-level P&amp;L with add/remove triggers</a:t>
            </a:r>
          </a:p>
        </p:txBody>
      </p:sp>
      <p:sp>
        <p:nvSpPr>
          <p:cNvPr id="31" name="TextBox 30"/>
          <p:cNvSpPr txBox="1"/>
          <p:nvPr/>
        </p:nvSpPr>
        <p:spPr>
          <a:xfrm>
            <a:off x="10012680" y="4279392"/>
            <a:ext cx="1536192" cy="365760"/>
          </a:xfrm>
          <a:prstGeom prst="rect">
            <a:avLst/>
          </a:prstGeom>
          <a:noFill/>
        </p:spPr>
        <p:txBody>
          <a:bodyPr wrap="square" anchor="t" lIns="0" rIns="0" tIns="0" bIns="0">
            <a:spAutoFit/>
          </a:bodyPr>
          <a:lstStyle/>
          <a:p>
            <a:pPr algn="r"/>
            <a:r>
              <a:rPr sz="1800" b="1" i="0">
                <a:solidFill>
                  <a:srgbClr val="0B1F3A"/>
                </a:solidFill>
                <a:latin typeface="Montserrat"/>
              </a:rPr>
              <a:t>−$4.9M/mo</a:t>
            </a:r>
          </a:p>
        </p:txBody>
      </p:sp>
      <p:sp>
        <p:nvSpPr>
          <p:cNvPr id="32" name="TextBox 31"/>
          <p:cNvSpPr txBox="1"/>
          <p:nvPr/>
        </p:nvSpPr>
        <p:spPr>
          <a:xfrm>
            <a:off x="10012680" y="4645152"/>
            <a:ext cx="1536192" cy="329184"/>
          </a:xfrm>
          <a:prstGeom prst="rect">
            <a:avLst/>
          </a:prstGeom>
          <a:noFill/>
        </p:spPr>
        <p:txBody>
          <a:bodyPr wrap="square" anchor="t" lIns="0" rIns="0" tIns="0" bIns="0">
            <a:spAutoFit/>
          </a:bodyPr>
          <a:lstStyle/>
          <a:p>
            <a:pPr algn="r"/>
            <a:r>
              <a:rPr sz="900" b="0" i="0">
                <a:solidFill>
                  <a:srgbClr val="6B7280"/>
                </a:solidFill>
                <a:latin typeface="Lato"/>
              </a:rPr>
              <a:t>lost by the 16 added directions</a:t>
            </a:r>
          </a:p>
        </p:txBody>
      </p:sp>
      <p:sp>
        <p:nvSpPr>
          <p:cNvPr id="33" name="Rectangle 32"/>
          <p:cNvSpPr/>
          <p:nvPr/>
        </p:nvSpPr>
        <p:spPr>
          <a:xfrm>
            <a:off x="548640" y="5358384"/>
            <a:ext cx="11091672" cy="4572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394960"/>
            <a:ext cx="10789920" cy="402336"/>
          </a:xfrm>
          <a:prstGeom prst="rect">
            <a:avLst/>
          </a:prstGeom>
          <a:noFill/>
        </p:spPr>
        <p:txBody>
          <a:bodyPr wrap="square" anchor="ctr" lIns="0" rIns="0" tIns="0" bIns="0">
            <a:spAutoFit/>
          </a:bodyPr>
          <a:lstStyle/>
          <a:p>
            <a:pPr algn="l"/>
            <a:r>
              <a:rPr sz="1100" b="1" i="0">
                <a:solidFill>
                  <a:srgbClr val="0B1F3A"/>
                </a:solidFill>
                <a:latin typeface="Lato"/>
              </a:rPr>
              <a:t>Why the market punished it (Porter's Five Forces): </a:t>
            </a:r>
            <a:r>
              <a:rPr sz="1100" b="0" i="0">
                <a:solidFill>
                  <a:srgbClr val="1F2937"/>
                </a:solidFill>
                <a:latin typeface="Lato"/>
              </a:rPr>
              <a:t>among strong rivals and price-sensitive buyers (case), NorthByte's extra frequency sold only at lower fares; powerful suppliers set the cost of each flight. A small carrier wins on coverage, not frequency (our inference).</a:t>
            </a:r>
          </a:p>
        </p:txBody>
      </p:sp>
      <p:sp>
        <p:nvSpPr>
          <p:cNvPr id="35" name="TextBox 34"/>
          <p:cNvSpPr txBox="1"/>
          <p:nvPr/>
        </p:nvSpPr>
        <p:spPr>
          <a:xfrm>
            <a:off x="548640" y="5925312"/>
            <a:ext cx="11091672" cy="365760"/>
          </a:xfrm>
          <a:prstGeom prst="rect">
            <a:avLst/>
          </a:prstGeom>
          <a:noFill/>
        </p:spPr>
        <p:txBody>
          <a:bodyPr wrap="square" anchor="t" lIns="0" rIns="0" tIns="0" bIns="0">
            <a:spAutoFit/>
          </a:bodyPr>
          <a:lstStyle/>
          <a:p>
            <a:pPr algn="l"/>
            <a:r>
              <a:rPr sz="1100" b="1" i="0">
                <a:solidFill>
                  <a:srgbClr val="E8692A"/>
                </a:solidFill>
                <a:latin typeface="Lato"/>
              </a:rPr>
              <a:t>Not the problem:  </a:t>
            </a:r>
            <a:r>
              <a:rPr sz="1100" b="0" i="0">
                <a:solidFill>
                  <a:srgbClr val="1F2937"/>
                </a:solidFill>
                <a:latin typeface="Lato"/>
              </a:rPr>
              <a:t>Ancillaries (2% of revenue; +10% ≈ $0.4M)  ·  Gates (+2.2%, mostly fixed)  ·  Seasonality (every season loses $11–13M).   </a:t>
            </a:r>
            <a:r>
              <a:rPr sz="1100" b="1" i="0">
                <a:solidFill>
                  <a:srgbClr val="E8692A"/>
                </a:solidFill>
                <a:latin typeface="Lato"/>
              </a:rPr>
              <a:t>Not measurable: </a:t>
            </a:r>
            <a:r>
              <a:rPr sz="1100" b="0" i="0">
                <a:solidFill>
                  <a:srgbClr val="1F2937"/>
                </a:solidFill>
                <a:latin typeface="Lato"/>
              </a:rPr>
              <a:t>Rewards program cost (not in the data; no fare premium by tier)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ALTERNATIVES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Right-Size &amp; Recover is the only option whose central case breaks even, and it keeps all 20 airports</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analysis/alternatives.py, FY25-26; gates accrued by fiscal year ($10.0M); flight costs avoidable (case p.10). Range: 0–100% recapture, levers low–high.</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18</a:t>
            </a:r>
          </a:p>
        </p:txBody>
      </p:sp>
      <p:graphicFrame>
        <p:nvGraphicFramePr>
          <p:cNvPr id="8" name="Table 7"/>
          <p:cNvGraphicFramePr>
            <a:graphicFrameLocks noGrp="1"/>
          </p:cNvGraphicFramePr>
          <p:nvPr/>
        </p:nvGraphicFramePr>
        <p:xfrm>
          <a:off x="548640" y="1572768"/>
          <a:ext cx="11091672" cy="3621024"/>
        </p:xfrm>
        <a:graphic>
          <a:graphicData uri="http://schemas.openxmlformats.org/drawingml/2006/table">
            <a:tbl>
              <a:tblPr>
                <a:tableStyleId>{5C22544A-7EE6-4342-B048-85BDC9FD1C3A}</a:tableStyleId>
              </a:tblPr>
              <a:tblGrid>
                <a:gridCol w="2697480"/>
                <a:gridCol w="868680"/>
                <a:gridCol w="868680"/>
                <a:gridCol w="777240"/>
                <a:gridCol w="896112"/>
                <a:gridCol w="868680"/>
                <a:gridCol w="868680"/>
                <a:gridCol w="777240"/>
                <a:gridCol w="2468880"/>
              </a:tblGrid>
              <a:tr h="548640">
                <a:tc>
                  <a:txBody>
                    <a:bodyPr wrap="square"/>
                    <a:lstStyle/>
                    <a:p>
                      <a:pPr algn="l"/>
                      <a:r>
                        <a:rPr sz="1000" b="1">
                          <a:solidFill>
                            <a:srgbClr val="FFFFFF"/>
                          </a:solidFill>
                          <a:latin typeface="Montserrat"/>
                        </a:rPr>
                        <a:t>Alternative</a:t>
                      </a:r>
                    </a:p>
                  </a:txBody>
                  <a:tcPr marL="54864" marR="54864" marT="36576" marB="36576" anchor="ctr">
                    <a:solidFill>
                      <a:srgbClr val="0B1F3A"/>
                    </a:solidFill>
                  </a:tcPr>
                </a:tc>
                <a:tc>
                  <a:txBody>
                    <a:bodyPr wrap="square"/>
                    <a:lstStyle/>
                    <a:p>
                      <a:pPr algn="ctr"/>
                      <a:r>
                        <a:rPr sz="1000" b="1">
                          <a:solidFill>
                            <a:srgbClr val="FFFFFF"/>
                          </a:solidFill>
                          <a:latin typeface="Lato"/>
                        </a:rPr>
                        <a:t>Financial</a:t>
                      </a:r>
                    </a:p>
                    <a:p>
                      <a:pPr algn="ctr"/>
                      <a:r>
                        <a:rPr sz="900" b="0">
                          <a:solidFill>
                            <a:srgbClr val="C9D2DF"/>
                          </a:solidFill>
                          <a:latin typeface="Lato"/>
                        </a:rPr>
                        <a:t>30%</a:t>
                      </a:r>
                    </a:p>
                  </a:txBody>
                  <a:tcPr marL="54864" marR="54864" marT="36576" marB="36576" anchor="ctr">
                    <a:solidFill>
                      <a:srgbClr val="0B1F3A"/>
                    </a:solidFill>
                  </a:tcPr>
                </a:tc>
                <a:tc>
                  <a:txBody>
                    <a:bodyPr wrap="square"/>
                    <a:lstStyle/>
                    <a:p>
                      <a:pPr algn="ctr"/>
                      <a:r>
                        <a:rPr sz="1000" b="1">
                          <a:solidFill>
                            <a:srgbClr val="FFFFFF"/>
                          </a:solidFill>
                          <a:latin typeface="Lato"/>
                        </a:rPr>
                        <a:t>Evidence</a:t>
                      </a:r>
                    </a:p>
                    <a:p>
                      <a:pPr algn="ctr"/>
                      <a:r>
                        <a:rPr sz="900" b="0">
                          <a:solidFill>
                            <a:srgbClr val="C9D2DF"/>
                          </a:solidFill>
                          <a:latin typeface="Lato"/>
                        </a:rPr>
                        <a:t>15%</a:t>
                      </a:r>
                    </a:p>
                  </a:txBody>
                  <a:tcPr marL="54864" marR="54864" marT="36576" marB="36576" anchor="ctr">
                    <a:solidFill>
                      <a:srgbClr val="0B1F3A"/>
                    </a:solidFill>
                  </a:tcPr>
                </a:tc>
                <a:tc>
                  <a:txBody>
                    <a:bodyPr wrap="square"/>
                    <a:lstStyle/>
                    <a:p>
                      <a:pPr algn="ctr"/>
                      <a:r>
                        <a:rPr sz="1000" b="1">
                          <a:solidFill>
                            <a:srgbClr val="FFFFFF"/>
                          </a:solidFill>
                          <a:latin typeface="Lato"/>
                        </a:rPr>
                        <a:t>Speed</a:t>
                      </a:r>
                    </a:p>
                    <a:p>
                      <a:pPr algn="ctr"/>
                      <a:r>
                        <a:rPr sz="900" b="0">
                          <a:solidFill>
                            <a:srgbClr val="C9D2DF"/>
                          </a:solidFill>
                          <a:latin typeface="Lato"/>
                        </a:rPr>
                        <a:t>10%</a:t>
                      </a:r>
                    </a:p>
                  </a:txBody>
                  <a:tcPr marL="54864" marR="54864" marT="36576" marB="36576" anchor="ctr">
                    <a:solidFill>
                      <a:srgbClr val="0B1F3A"/>
                    </a:solidFill>
                  </a:tcPr>
                </a:tc>
                <a:tc>
                  <a:txBody>
                    <a:bodyPr wrap="square"/>
                    <a:lstStyle/>
                    <a:p>
                      <a:pPr algn="ctr"/>
                      <a:r>
                        <a:rPr sz="1000" b="1">
                          <a:solidFill>
                            <a:srgbClr val="FFFFFF"/>
                          </a:solidFill>
                          <a:latin typeface="Lato"/>
                        </a:rPr>
                        <a:t>Communities</a:t>
                      </a:r>
                    </a:p>
                    <a:p>
                      <a:pPr algn="ctr"/>
                      <a:r>
                        <a:rPr sz="900" b="0">
                          <a:solidFill>
                            <a:srgbClr val="C9D2DF"/>
                          </a:solidFill>
                          <a:latin typeface="Lato"/>
                        </a:rPr>
                        <a:t>15%</a:t>
                      </a:r>
                    </a:p>
                  </a:txBody>
                  <a:tcPr marL="54864" marR="54864" marT="36576" marB="36576" anchor="ctr">
                    <a:solidFill>
                      <a:srgbClr val="0B1F3A"/>
                    </a:solidFill>
                  </a:tcPr>
                </a:tc>
                <a:tc>
                  <a:txBody>
                    <a:bodyPr wrap="square"/>
                    <a:lstStyle/>
                    <a:p>
                      <a:pPr algn="ctr"/>
                      <a:r>
                        <a:rPr sz="1000" b="1">
                          <a:solidFill>
                            <a:srgbClr val="FFFFFF"/>
                          </a:solidFill>
                          <a:latin typeface="Lato"/>
                        </a:rPr>
                        <a:t>Customers</a:t>
                      </a:r>
                    </a:p>
                    <a:p>
                      <a:pPr algn="ctr"/>
                      <a:r>
                        <a:rPr sz="900" b="0">
                          <a:solidFill>
                            <a:srgbClr val="C9D2DF"/>
                          </a:solidFill>
                          <a:latin typeface="Lato"/>
                        </a:rPr>
                        <a:t>15%</a:t>
                      </a:r>
                    </a:p>
                  </a:txBody>
                  <a:tcPr marL="54864" marR="54864" marT="36576" marB="36576" anchor="ctr">
                    <a:solidFill>
                      <a:srgbClr val="0B1F3A"/>
                    </a:solidFill>
                  </a:tcPr>
                </a:tc>
                <a:tc>
                  <a:txBody>
                    <a:bodyPr wrap="square"/>
                    <a:lstStyle/>
                    <a:p>
                      <a:pPr algn="ctr"/>
                      <a:r>
                        <a:rPr sz="1000" b="1">
                          <a:solidFill>
                            <a:srgbClr val="FFFFFF"/>
                          </a:solidFill>
                          <a:latin typeface="Lato"/>
                        </a:rPr>
                        <a:t>Employees</a:t>
                      </a:r>
                    </a:p>
                    <a:p>
                      <a:pPr algn="ctr"/>
                      <a:r>
                        <a:rPr sz="900" b="0">
                          <a:solidFill>
                            <a:srgbClr val="C9D2DF"/>
                          </a:solidFill>
                          <a:latin typeface="Lato"/>
                        </a:rPr>
                        <a:t>15%</a:t>
                      </a:r>
                    </a:p>
                  </a:txBody>
                  <a:tcPr marL="54864" marR="54864" marT="36576" marB="36576" anchor="ctr">
                    <a:solidFill>
                      <a:srgbClr val="0B1F3A"/>
                    </a:solidFill>
                  </a:tcPr>
                </a:tc>
                <a:tc>
                  <a:txBody>
                    <a:bodyPr wrap="square"/>
                    <a:lstStyle/>
                    <a:p>
                      <a:pPr algn="ctr"/>
                      <a:r>
                        <a:rPr sz="1000" b="1">
                          <a:solidFill>
                            <a:srgbClr val="FFFFFF"/>
                          </a:solidFill>
                          <a:latin typeface="Lato"/>
                        </a:rPr>
                        <a:t>Weighted</a:t>
                      </a:r>
                    </a:p>
                    <a:p>
                      <a:pPr algn="ctr"/>
                      <a:r>
                        <a:rPr sz="1000" b="1">
                          <a:solidFill>
                            <a:srgbClr val="FFFFFF"/>
                          </a:solidFill>
                          <a:latin typeface="Lato"/>
                        </a:rPr>
                        <a:t>score</a:t>
                      </a:r>
                    </a:p>
                  </a:txBody>
                  <a:tcPr marL="54864" marR="54864" marT="36576" marB="36576" anchor="ctr">
                    <a:solidFill>
                      <a:srgbClr val="0B1F3A"/>
                    </a:solidFill>
                  </a:tcPr>
                </a:tc>
                <a:tc>
                  <a:txBody>
                    <a:bodyPr wrap="square"/>
                    <a:lstStyle/>
                    <a:p>
                      <a:pPr algn="ctr"/>
                      <a:r>
                        <a:rPr sz="1000" b="1">
                          <a:solidFill>
                            <a:srgbClr val="FFFFFF"/>
                          </a:solidFill>
                          <a:latin typeface="Montserrat"/>
                        </a:rPr>
                        <a:t>After gates, $M</a:t>
                      </a:r>
                    </a:p>
                    <a:p>
                      <a:pPr algn="ctr"/>
                      <a:r>
                        <a:rPr sz="900" b="0">
                          <a:solidFill>
                            <a:srgbClr val="C9D2DF"/>
                          </a:solidFill>
                          <a:latin typeface="Lato"/>
                        </a:rPr>
                        <a:t>central (range)</a:t>
                      </a:r>
                    </a:p>
                  </a:txBody>
                  <a:tcPr marL="54864" marR="54864" marT="36576" marB="36576" anchor="ctr">
                    <a:solidFill>
                      <a:srgbClr val="0B1F3A"/>
                    </a:solidFill>
                  </a:tcPr>
                </a:tc>
              </a:tr>
              <a:tr h="768096">
                <a:tc>
                  <a:txBody>
                    <a:bodyPr wrap="square"/>
                    <a:lstStyle/>
                    <a:p>
                      <a:pPr algn="l"/>
                      <a:r>
                        <a:rPr sz="1200" b="1">
                          <a:solidFill>
                            <a:srgbClr val="0B1F3A"/>
                          </a:solidFill>
                          <a:latin typeface="Montserrat"/>
                        </a:rPr>
                        <a:t>Stay the Course</a:t>
                      </a:r>
                    </a:p>
                    <a:p>
                      <a:pPr algn="l"/>
                      <a:r>
                        <a:rPr sz="1000" b="0">
                          <a:solidFill>
                            <a:srgbClr val="1F2937"/>
                          </a:solidFill>
                          <a:latin typeface="Lato"/>
                        </a:rPr>
                        <a:t>Keep the 2025 schedule and absorb the loss</a:t>
                      </a:r>
                    </a:p>
                  </a:txBody>
                  <a:tcPr marL="54864" marR="54864" marT="36576" marB="36576" anchor="ctr">
                    <a:solidFill>
                      <a:srgbClr val="F3F5F8"/>
                    </a:solidFill>
                  </a:tcPr>
                </a:tc>
                <a:tc>
                  <a:txBody>
                    <a:bodyPr wrap="square"/>
                    <a:lstStyle/>
                    <a:p>
                      <a:pPr algn="ctr"/>
                      <a:r>
                        <a:rPr sz="1300" b="1">
                          <a:solidFill>
                            <a:srgbClr val="1F2937"/>
                          </a:solidFill>
                          <a:latin typeface="Lato"/>
                        </a:rPr>
                        <a:t>1.0</a:t>
                      </a:r>
                    </a:p>
                  </a:txBody>
                  <a:tcPr marL="54864" marR="54864" marT="36576" marB="36576" anchor="ctr">
                    <a:solidFill>
                      <a:srgbClr val="EEF1F5"/>
                    </a:solidFill>
                  </a:tcPr>
                </a:tc>
                <a:tc>
                  <a:txBody>
                    <a:bodyPr wrap="square"/>
                    <a:lstStyle/>
                    <a:p>
                      <a:pPr algn="ctr"/>
                      <a:r>
                        <a:rPr sz="1300" b="1">
                          <a:solidFill>
                            <a:srgbClr val="1F2937"/>
                          </a:solidFill>
                          <a:latin typeface="Lato"/>
                        </a:rPr>
                        <a:t>1</a:t>
                      </a:r>
                    </a:p>
                  </a:txBody>
                  <a:tcPr marL="54864" marR="54864" marT="36576" marB="36576" anchor="ctr">
                    <a:solidFill>
                      <a:srgbClr val="EEF1F5"/>
                    </a:solidFill>
                  </a:tcPr>
                </a:tc>
                <a:tc>
                  <a:txBody>
                    <a:bodyPr wrap="square"/>
                    <a:lstStyle/>
                    <a:p>
                      <a:pPr algn="ctr"/>
                      <a:r>
                        <a:rPr sz="1300" b="1">
                          <a:solidFill>
                            <a:srgbClr val="1F2937"/>
                          </a:solidFill>
                          <a:latin typeface="Lato"/>
                        </a:rPr>
                        <a:t>1</a:t>
                      </a:r>
                    </a:p>
                  </a:txBody>
                  <a:tcPr marL="54864" marR="54864" marT="36576" marB="36576" anchor="ctr">
                    <a:solidFill>
                      <a:srgbClr val="EEF1F5"/>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600" b="1">
                          <a:solidFill>
                            <a:srgbClr val="0B1F3A"/>
                          </a:solidFill>
                          <a:latin typeface="Montserrat"/>
                        </a:rPr>
                        <a:t>1.9</a:t>
                      </a:r>
                    </a:p>
                  </a:txBody>
                  <a:tcPr marL="54864" marR="54864" marT="36576" marB="36576" anchor="ctr">
                    <a:solidFill>
                      <a:srgbClr val="F3F5F8"/>
                    </a:solidFill>
                  </a:tcPr>
                </a:tc>
                <a:tc>
                  <a:txBody>
                    <a:bodyPr wrap="square"/>
                    <a:lstStyle/>
                    <a:p>
                      <a:pPr algn="l"/>
                      <a:r>
                        <a:rPr sz="1000" b="1">
                          <a:solidFill>
                            <a:srgbClr val="0B1F3A"/>
                          </a:solidFill>
                          <a:latin typeface="Lato"/>
                        </a:rPr>
                        <a:t>−58.4</a:t>
                      </a:r>
                    </a:p>
                  </a:txBody>
                  <a:tcPr marL="54864" marR="54864" marT="36576" marB="36576" anchor="t">
                    <a:solidFill>
                      <a:srgbClr val="F3F5F8"/>
                    </a:solidFill>
                  </a:tcPr>
                </a:tc>
              </a:tr>
              <a:tr h="768096">
                <a:tc>
                  <a:txBody>
                    <a:bodyPr wrap="square"/>
                    <a:lstStyle/>
                    <a:p>
                      <a:pPr algn="l"/>
                      <a:r>
                        <a:rPr sz="1200" b="1">
                          <a:solidFill>
                            <a:srgbClr val="0B1F3A"/>
                          </a:solidFill>
                          <a:latin typeface="Montserrat"/>
                        </a:rPr>
                        <a:t>Fill the Planes</a:t>
                      </a:r>
                    </a:p>
                    <a:p>
                      <a:pPr algn="l"/>
                      <a:r>
                        <a:rPr sz="1000" b="0">
                          <a:solidFill>
                            <a:srgbClr val="1F2937"/>
                          </a:solidFill>
                          <a:latin typeface="Lato"/>
                        </a:rPr>
                        <a:t>Keep every flight; grow revenue to fill the seats</a:t>
                      </a:r>
                    </a:p>
                  </a:txBody>
                  <a:tcPr marL="54864" marR="54864" marT="36576" marB="36576" anchor="ctr">
                    <a:solidFill>
                      <a:srgbClr val="FFFFFF"/>
                    </a:solidFill>
                  </a:tcPr>
                </a:tc>
                <a:tc>
                  <a:txBody>
                    <a:bodyPr wrap="square"/>
                    <a:lstStyle/>
                    <a:p>
                      <a:pPr algn="ctr"/>
                      <a:r>
                        <a:rPr sz="1300" b="1">
                          <a:solidFill>
                            <a:srgbClr val="1F2937"/>
                          </a:solidFill>
                          <a:latin typeface="Lato"/>
                        </a:rPr>
                        <a:t>1.4</a:t>
                      </a:r>
                    </a:p>
                  </a:txBody>
                  <a:tcPr marL="54864" marR="54864" marT="36576" marB="36576" anchor="ctr">
                    <a:solidFill>
                      <a:srgbClr val="EEF1F5"/>
                    </a:solidFill>
                  </a:tcPr>
                </a:tc>
                <a:tc>
                  <a:txBody>
                    <a:bodyPr wrap="square"/>
                    <a:lstStyle/>
                    <a:p>
                      <a:pPr algn="ctr"/>
                      <a:r>
                        <a:rPr sz="1300" b="1">
                          <a:solidFill>
                            <a:srgbClr val="1F2937"/>
                          </a:solidFill>
                          <a:latin typeface="Lato"/>
                        </a:rPr>
                        <a:t>2</a:t>
                      </a:r>
                    </a:p>
                  </a:txBody>
                  <a:tcPr marL="54864" marR="54864" marT="36576" marB="36576" anchor="ctr">
                    <a:solidFill>
                      <a:srgbClr val="D5DCE6"/>
                    </a:solidFill>
                  </a:tcPr>
                </a:tc>
                <a:tc>
                  <a:txBody>
                    <a:bodyPr wrap="square"/>
                    <a:lstStyle/>
                    <a:p>
                      <a:pPr algn="ctr"/>
                      <a:r>
                        <a:rPr sz="1300" b="1">
                          <a:solidFill>
                            <a:srgbClr val="1F2937"/>
                          </a:solidFill>
                          <a:latin typeface="Lato"/>
                        </a:rPr>
                        <a:t>2</a:t>
                      </a:r>
                    </a:p>
                  </a:txBody>
                  <a:tcPr marL="54864" marR="54864" marT="36576" marB="36576" anchor="ctr">
                    <a:solidFill>
                      <a:srgbClr val="D5DCE6"/>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300" b="1">
                          <a:solidFill>
                            <a:srgbClr val="1F2937"/>
                          </a:solidFill>
                          <a:latin typeface="Lato"/>
                        </a:rPr>
                        <a:t>2</a:t>
                      </a:r>
                    </a:p>
                  </a:txBody>
                  <a:tcPr marL="54864" marR="54864" marT="36576" marB="36576" anchor="ctr">
                    <a:solidFill>
                      <a:srgbClr val="D5DCE6"/>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600" b="1">
                          <a:solidFill>
                            <a:srgbClr val="0B1F3A"/>
                          </a:solidFill>
                          <a:latin typeface="Montserrat"/>
                        </a:rPr>
                        <a:t>2.1</a:t>
                      </a:r>
                    </a:p>
                  </a:txBody>
                  <a:tcPr marL="54864" marR="54864" marT="36576" marB="36576" anchor="ctr">
                    <a:solidFill>
                      <a:srgbClr val="FFFFFF"/>
                    </a:solidFill>
                  </a:tcPr>
                </a:tc>
                <a:tc>
                  <a:txBody>
                    <a:bodyPr wrap="square"/>
                    <a:lstStyle/>
                    <a:p>
                      <a:pPr algn="l"/>
                      <a:r>
                        <a:rPr sz="1000" b="1">
                          <a:solidFill>
                            <a:srgbClr val="0B1F3A"/>
                          </a:solidFill>
                          <a:latin typeface="Lato"/>
                        </a:rPr>
                        <a:t>−53.1  (−55.9 to −28.3)</a:t>
                      </a:r>
                    </a:p>
                  </a:txBody>
                  <a:tcPr marL="54864" marR="54864" marT="36576" marB="36576" anchor="t">
                    <a:solidFill>
                      <a:srgbClr val="FFFFFF"/>
                    </a:solidFill>
                  </a:tcPr>
                </a:tc>
              </a:tr>
              <a:tr h="768096">
                <a:tc>
                  <a:txBody>
                    <a:bodyPr wrap="square"/>
                    <a:lstStyle/>
                    <a:p>
                      <a:pPr algn="l"/>
                      <a:r>
                        <a:rPr sz="1200" b="1">
                          <a:solidFill>
                            <a:srgbClr val="0B1F3A"/>
                          </a:solidFill>
                          <a:latin typeface="Montserrat"/>
                        </a:rPr>
                        <a:t>Right-Size &amp; Recover</a:t>
                      </a:r>
                    </a:p>
                    <a:p>
                      <a:pPr algn="l"/>
                      <a:r>
                        <a:rPr sz="1000" b="0">
                          <a:solidFill>
                            <a:srgbClr val="1F2937"/>
                          </a:solidFill>
                          <a:latin typeface="Lato"/>
                        </a:rPr>
                        <a:t>Undo 2025 trunk add-ons, exit Montréal–Vancouver, halve 3 new markets, add revenue levers</a:t>
                      </a:r>
                    </a:p>
                  </a:txBody>
                  <a:tcPr marL="54864" marR="54864" marT="36576" marB="36576" anchor="ctr">
                    <a:solidFill>
                      <a:srgbClr val="FFF4EE"/>
                    </a:solidFill>
                  </a:tcPr>
                </a:tc>
                <a:tc>
                  <a:txBody>
                    <a:bodyPr wrap="square"/>
                    <a:lstStyle/>
                    <a:p>
                      <a:pPr algn="ctr"/>
                      <a:r>
                        <a:rPr sz="1300" b="1">
                          <a:solidFill>
                            <a:srgbClr val="FFFFFF"/>
                          </a:solidFill>
                          <a:latin typeface="Lato"/>
                        </a:rPr>
                        <a:t>5.0</a:t>
                      </a:r>
                    </a:p>
                  </a:txBody>
                  <a:tcPr marL="54864" marR="54864" marT="36576" marB="36576" anchor="ctr">
                    <a:solidFill>
                      <a:srgbClr val="0B1F3A"/>
                    </a:solidFill>
                  </a:tcPr>
                </a:tc>
                <a:tc>
                  <a:txBody>
                    <a:bodyPr wrap="square"/>
                    <a:lstStyle/>
                    <a:p>
                      <a:pPr algn="ctr"/>
                      <a:r>
                        <a:rPr sz="1300" b="1">
                          <a:solidFill>
                            <a:srgbClr val="FFFFFF"/>
                          </a:solidFill>
                          <a:latin typeface="Lato"/>
                        </a:rPr>
                        <a:t>5</a:t>
                      </a:r>
                    </a:p>
                  </a:txBody>
                  <a:tcPr marL="54864" marR="54864" marT="36576" marB="36576" anchor="ctr">
                    <a:solidFill>
                      <a:srgbClr val="0B1F3A"/>
                    </a:solidFill>
                  </a:tcPr>
                </a:tc>
                <a:tc>
                  <a:txBody>
                    <a:bodyPr wrap="square"/>
                    <a:lstStyle/>
                    <a:p>
                      <a:pPr algn="ctr"/>
                      <a:r>
                        <a:rPr sz="1300" b="1">
                          <a:solidFill>
                            <a:srgbClr val="FFFFFF"/>
                          </a:solidFill>
                          <a:latin typeface="Lato"/>
                        </a:rPr>
                        <a:t>4</a:t>
                      </a:r>
                    </a:p>
                  </a:txBody>
                  <a:tcPr marL="54864" marR="54864" marT="36576" marB="36576" anchor="ctr">
                    <a:solidFill>
                      <a:srgbClr val="4F6A8F"/>
                    </a:solidFill>
                  </a:tcPr>
                </a:tc>
                <a:tc>
                  <a:txBody>
                    <a:bodyPr wrap="square"/>
                    <a:lstStyle/>
                    <a:p>
                      <a:pPr algn="ctr"/>
                      <a:r>
                        <a:rPr sz="1300" b="1">
                          <a:solidFill>
                            <a:srgbClr val="FFFFFF"/>
                          </a:solidFill>
                          <a:latin typeface="Lato"/>
                        </a:rPr>
                        <a:t>4</a:t>
                      </a:r>
                    </a:p>
                  </a:txBody>
                  <a:tcPr marL="54864" marR="54864" marT="36576" marB="36576" anchor="ctr">
                    <a:solidFill>
                      <a:srgbClr val="4F6A8F"/>
                    </a:solidFill>
                  </a:tcPr>
                </a:tc>
                <a:tc>
                  <a:txBody>
                    <a:bodyPr wrap="square"/>
                    <a:lstStyle/>
                    <a:p>
                      <a:pPr algn="ctr"/>
                      <a:r>
                        <a:rPr sz="1300" b="1">
                          <a:solidFill>
                            <a:srgbClr val="FFFFFF"/>
                          </a:solidFill>
                          <a:latin typeface="Lato"/>
                        </a:rPr>
                        <a:t>4</a:t>
                      </a:r>
                    </a:p>
                  </a:txBody>
                  <a:tcPr marL="54864" marR="54864" marT="36576" marB="36576" anchor="ctr">
                    <a:solidFill>
                      <a:srgbClr val="4F6A8F"/>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600" b="1">
                          <a:solidFill>
                            <a:srgbClr val="E8692A"/>
                          </a:solidFill>
                          <a:latin typeface="Montserrat"/>
                        </a:rPr>
                        <a:t>4.3</a:t>
                      </a:r>
                    </a:p>
                  </a:txBody>
                  <a:tcPr marL="54864" marR="54864" marT="36576" marB="36576" anchor="ctr">
                    <a:solidFill>
                      <a:srgbClr val="FFF4EE"/>
                    </a:solidFill>
                  </a:tcPr>
                </a:tc>
                <a:tc>
                  <a:txBody>
                    <a:bodyPr wrap="square"/>
                    <a:lstStyle/>
                    <a:p>
                      <a:pPr algn="l"/>
                      <a:r>
                        <a:rPr sz="1000" b="1">
                          <a:solidFill>
                            <a:srgbClr val="0B1F3A"/>
                          </a:solidFill>
                          <a:latin typeface="Lato"/>
                        </a:rPr>
                        <a:t>+1.4  (−16.9 to +5.7)</a:t>
                      </a:r>
                    </a:p>
                  </a:txBody>
                  <a:tcPr marL="54864" marR="54864" marT="36576" marB="36576" anchor="t">
                    <a:solidFill>
                      <a:srgbClr val="FFF4EE"/>
                    </a:solidFill>
                  </a:tcPr>
                </a:tc>
              </a:tr>
              <a:tr h="768096">
                <a:tc>
                  <a:txBody>
                    <a:bodyPr wrap="square"/>
                    <a:lstStyle/>
                    <a:p>
                      <a:pPr algn="l"/>
                      <a:r>
                        <a:rPr sz="1200" b="1">
                          <a:solidFill>
                            <a:srgbClr val="0B1F3A"/>
                          </a:solidFill>
                          <a:latin typeface="Montserrat"/>
                        </a:rPr>
                        <a:t>Shrink to Core</a:t>
                      </a:r>
                    </a:p>
                    <a:p>
                      <a:pPr algn="l"/>
                      <a:r>
                        <a:rPr sz="1000" b="0">
                          <a:solidFill>
                            <a:srgbClr val="1F2937"/>
                          </a:solidFill>
                          <a:latin typeface="Lato"/>
                        </a:rPr>
                        <a:t>Exit all 22 directions that lose money in every season</a:t>
                      </a:r>
                    </a:p>
                  </a:txBody>
                  <a:tcPr marL="54864" marR="54864" marT="36576" marB="36576" anchor="ctr">
                    <a:solidFill>
                      <a:srgbClr val="FFFFFF"/>
                    </a:solidFill>
                  </a:tcPr>
                </a:tc>
                <a:tc>
                  <a:txBody>
                    <a:bodyPr wrap="square"/>
                    <a:lstStyle/>
                    <a:p>
                      <a:pPr algn="ctr"/>
                      <a:r>
                        <a:rPr sz="1300" b="1">
                          <a:solidFill>
                            <a:srgbClr val="FFFFFF"/>
                          </a:solidFill>
                          <a:latin typeface="Lato"/>
                        </a:rPr>
                        <a:t>4.8</a:t>
                      </a:r>
                    </a:p>
                  </a:txBody>
                  <a:tcPr marL="54864" marR="54864" marT="36576" marB="36576" anchor="ctr">
                    <a:solidFill>
                      <a:srgbClr val="0B1F3A"/>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300" b="1">
                          <a:solidFill>
                            <a:srgbClr val="1F2937"/>
                          </a:solidFill>
                          <a:latin typeface="Lato"/>
                        </a:rPr>
                        <a:t>1</a:t>
                      </a:r>
                    </a:p>
                  </a:txBody>
                  <a:tcPr marL="54864" marR="54864" marT="36576" marB="36576" anchor="ctr">
                    <a:solidFill>
                      <a:srgbClr val="EEF1F5"/>
                    </a:solidFill>
                  </a:tcPr>
                </a:tc>
                <a:tc>
                  <a:txBody>
                    <a:bodyPr wrap="square"/>
                    <a:lstStyle/>
                    <a:p>
                      <a:pPr algn="ctr"/>
                      <a:r>
                        <a:rPr sz="1300" b="1">
                          <a:solidFill>
                            <a:srgbClr val="1F2937"/>
                          </a:solidFill>
                          <a:latin typeface="Lato"/>
                        </a:rPr>
                        <a:t>2</a:t>
                      </a:r>
                    </a:p>
                  </a:txBody>
                  <a:tcPr marL="54864" marR="54864" marT="36576" marB="36576" anchor="ctr">
                    <a:solidFill>
                      <a:srgbClr val="D5DCE6"/>
                    </a:solidFill>
                  </a:tcPr>
                </a:tc>
                <a:tc>
                  <a:txBody>
                    <a:bodyPr wrap="square"/>
                    <a:lstStyle/>
                    <a:p>
                      <a:pPr algn="ctr"/>
                      <a:r>
                        <a:rPr sz="1300" b="1">
                          <a:solidFill>
                            <a:srgbClr val="1F2937"/>
                          </a:solidFill>
                          <a:latin typeface="Lato"/>
                        </a:rPr>
                        <a:t>1</a:t>
                      </a:r>
                    </a:p>
                  </a:txBody>
                  <a:tcPr marL="54864" marR="54864" marT="36576" marB="36576" anchor="ctr">
                    <a:solidFill>
                      <a:srgbClr val="EEF1F5"/>
                    </a:solidFill>
                  </a:tcPr>
                </a:tc>
                <a:tc>
                  <a:txBody>
                    <a:bodyPr wrap="square"/>
                    <a:lstStyle/>
                    <a:p>
                      <a:pPr algn="ctr"/>
                      <a:r>
                        <a:rPr sz="1600" b="1">
                          <a:solidFill>
                            <a:srgbClr val="0B1F3A"/>
                          </a:solidFill>
                          <a:latin typeface="Montserrat"/>
                        </a:rPr>
                        <a:t>2.8</a:t>
                      </a:r>
                    </a:p>
                  </a:txBody>
                  <a:tcPr marL="54864" marR="54864" marT="36576" marB="36576" anchor="ctr">
                    <a:solidFill>
                      <a:srgbClr val="FFFFFF"/>
                    </a:solidFill>
                  </a:tcPr>
                </a:tc>
                <a:tc>
                  <a:txBody>
                    <a:bodyPr wrap="square"/>
                    <a:lstStyle/>
                    <a:p>
                      <a:pPr algn="l"/>
                      <a:r>
                        <a:rPr sz="1000" b="1">
                          <a:solidFill>
                            <a:srgbClr val="0B1F3A"/>
                          </a:solidFill>
                          <a:latin typeface="Lato"/>
                        </a:rPr>
                        <a:t>−3.4</a:t>
                      </a:r>
                    </a:p>
                  </a:txBody>
                  <a:tcPr marL="54864" marR="54864" marT="36576" marB="36576" anchor="t">
                    <a:solidFill>
                      <a:srgbClr val="FFFFFF"/>
                    </a:solidFill>
                  </a:tcPr>
                </a:tc>
              </a:tr>
            </a:tbl>
          </a:graphicData>
        </a:graphic>
      </p:graphicFrame>
      <p:sp>
        <p:nvSpPr>
          <p:cNvPr id="9" name="Oval 8"/>
          <p:cNvSpPr/>
          <p:nvPr/>
        </p:nvSpPr>
        <p:spPr>
          <a:xfrm>
            <a:off x="9371537" y="2575133"/>
            <a:ext cx="137160" cy="13716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512404" y="3411809"/>
            <a:ext cx="798049" cy="0"/>
          </a:xfrm>
          <a:prstGeom prst="line">
            <a:avLst/>
          </a:prstGeom>
          <a:ln w="38100">
            <a:solidFill>
              <a:srgbClr val="9AAAC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9524785" y="3343229"/>
            <a:ext cx="137160" cy="13716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10640660" y="4179905"/>
            <a:ext cx="653185" cy="0"/>
          </a:xfrm>
          <a:prstGeom prst="line">
            <a:avLst/>
          </a:prstGeom>
          <a:ln w="38100">
            <a:solidFill>
              <a:srgbClr val="9AAAC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1099775" y="4111325"/>
            <a:ext cx="137160" cy="137160"/>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960984" y="4879421"/>
            <a:ext cx="137160" cy="13716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11128742" y="2167127"/>
            <a:ext cx="0" cy="3044952"/>
          </a:xfrm>
          <a:prstGeom prst="line">
            <a:avLst/>
          </a:prstGeom>
          <a:ln w="15875">
            <a:solidFill>
              <a:srgbClr val="E8692A"/>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397222" y="2167127"/>
            <a:ext cx="685800" cy="182880"/>
          </a:xfrm>
          <a:prstGeom prst="rect">
            <a:avLst/>
          </a:prstGeom>
          <a:noFill/>
        </p:spPr>
        <p:txBody>
          <a:bodyPr wrap="square" anchor="t" lIns="0" rIns="0" tIns="0" bIns="0">
            <a:spAutoFit/>
          </a:bodyPr>
          <a:lstStyle/>
          <a:p>
            <a:pPr algn="r"/>
            <a:r>
              <a:rPr sz="800" b="0" i="0">
                <a:solidFill>
                  <a:srgbClr val="E8692A"/>
                </a:solidFill>
                <a:latin typeface="Lato"/>
              </a:rPr>
              <a:t>break-even</a:t>
            </a:r>
          </a:p>
        </p:txBody>
      </p:sp>
      <p:sp>
        <p:nvSpPr>
          <p:cNvPr id="17" name="Rectangle 16"/>
          <p:cNvSpPr/>
          <p:nvPr/>
        </p:nvSpPr>
        <p:spPr>
          <a:xfrm>
            <a:off x="548640" y="3657600"/>
            <a:ext cx="11091672" cy="768096"/>
          </a:xfrm>
          <a:prstGeom prst="rect">
            <a:avLst/>
          </a:prstGeom>
          <a:noFill/>
          <a:ln w="28575">
            <a:solidFill>
              <a:srgbClr val="E869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1792" y="3557016"/>
            <a:ext cx="1115568" cy="201168"/>
          </a:xfrm>
          <a:prstGeom prst="round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800" b="1">
                <a:solidFill>
                  <a:srgbClr val="FFFFFF"/>
                </a:solidFill>
                <a:latin typeface="Montserrat"/>
              </a:rPr>
              <a:t>RECOMMENDED</a:t>
            </a:r>
          </a:p>
        </p:txBody>
      </p:sp>
      <p:sp>
        <p:nvSpPr>
          <p:cNvPr id="19" name="Rectangle 18"/>
          <p:cNvSpPr/>
          <p:nvPr/>
        </p:nvSpPr>
        <p:spPr>
          <a:xfrm>
            <a:off x="548640" y="5303520"/>
            <a:ext cx="357530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394959"/>
            <a:ext cx="3300984" cy="868680"/>
          </a:xfrm>
          <a:prstGeom prst="rect">
            <a:avLst/>
          </a:prstGeom>
          <a:noFill/>
        </p:spPr>
        <p:txBody>
          <a:bodyPr wrap="square" anchor="t" lIns="0" rIns="0" tIns="0" bIns="0">
            <a:spAutoFit/>
          </a:bodyPr>
          <a:lstStyle/>
          <a:p>
            <a:pPr algn="l">
              <a:spcAft>
                <a:spcPts val="300"/>
              </a:spcAft>
            </a:pPr>
            <a:r>
              <a:rPr sz="1100" b="1" i="0">
                <a:solidFill>
                  <a:srgbClr val="0B1F3A"/>
                </a:solidFill>
                <a:latin typeface="Montserrat"/>
              </a:rPr>
              <a:t>Why not Fill the Planes?</a:t>
            </a:r>
          </a:p>
          <a:p>
            <a:pPr algn="l"/>
            <a:r>
              <a:rPr sz="1050" b="0" i="0">
                <a:solidFill>
                  <a:srgbClr val="1F2937"/>
                </a:solidFill>
                <a:latin typeface="Lato"/>
              </a:rPr>
              <a:t>Break-even needs +25.5% revenue (+30.7% after gates): ~5 years at this year's +5% growth. Levers ≈ $5M central; even a $30M ceiling leaves it negative. More trunk flights did not fill.</a:t>
            </a:r>
          </a:p>
        </p:txBody>
      </p:sp>
      <p:sp>
        <p:nvSpPr>
          <p:cNvPr id="21" name="Rectangle 20"/>
          <p:cNvSpPr/>
          <p:nvPr/>
        </p:nvSpPr>
        <p:spPr>
          <a:xfrm>
            <a:off x="4306824" y="5303520"/>
            <a:ext cx="357530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5394959"/>
            <a:ext cx="3300984" cy="868680"/>
          </a:xfrm>
          <a:prstGeom prst="rect">
            <a:avLst/>
          </a:prstGeom>
          <a:noFill/>
        </p:spPr>
        <p:txBody>
          <a:bodyPr wrap="square" anchor="t" lIns="0" rIns="0" tIns="0" bIns="0">
            <a:spAutoFit/>
          </a:bodyPr>
          <a:lstStyle/>
          <a:p>
            <a:pPr algn="l">
              <a:spcAft>
                <a:spcPts val="300"/>
              </a:spcAft>
            </a:pPr>
            <a:r>
              <a:rPr sz="1100" b="1" i="0">
                <a:solidFill>
                  <a:srgbClr val="0B1F3A"/>
                </a:solidFill>
                <a:latin typeface="Montserrat"/>
              </a:rPr>
              <a:t>Why not Shrink to Core?</a:t>
            </a:r>
          </a:p>
          <a:p>
            <a:pPr algn="l"/>
            <a:r>
              <a:rPr sz="1050" b="0" i="0">
                <a:solidFill>
                  <a:srgbClr val="1F2937"/>
                </a:solidFill>
                <a:latin typeface="Lato"/>
              </a:rPr>
              <a:t>Its −3.4 is more certain, but it drops 6 airports, $8.1M of connecting revenue and 56% of flights. Right-Size leads once ≥66% of the trunk's cut-flight revenue moves to kept flights.</a:t>
            </a:r>
          </a:p>
        </p:txBody>
      </p:sp>
      <p:sp>
        <p:nvSpPr>
          <p:cNvPr id="23" name="Rectangle 22"/>
          <p:cNvSpPr/>
          <p:nvPr/>
        </p:nvSpPr>
        <p:spPr>
          <a:xfrm>
            <a:off x="8065008" y="5303520"/>
            <a:ext cx="357530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02168" y="5394959"/>
            <a:ext cx="3300984" cy="868680"/>
          </a:xfrm>
          <a:prstGeom prst="rect">
            <a:avLst/>
          </a:prstGeom>
          <a:noFill/>
        </p:spPr>
        <p:txBody>
          <a:bodyPr wrap="square" anchor="t" lIns="0" rIns="0" tIns="0" bIns="0">
            <a:spAutoFit/>
          </a:bodyPr>
          <a:lstStyle/>
          <a:p>
            <a:pPr algn="l">
              <a:spcAft>
                <a:spcPts val="300"/>
              </a:spcAft>
            </a:pPr>
            <a:r>
              <a:rPr sz="1100" b="1" i="0">
                <a:solidFill>
                  <a:srgbClr val="0B1F3A"/>
                </a:solidFill>
                <a:latin typeface="Montserrat"/>
              </a:rPr>
              <a:t>How we scored</a:t>
            </a:r>
          </a:p>
          <a:p>
            <a:pPr algn="l"/>
            <a:r>
              <a:rPr sz="1050" b="0" i="0">
                <a:solidFill>
                  <a:srgbClr val="1F2937"/>
                </a:solidFill>
                <a:latin typeface="Lato"/>
              </a:rPr>
              <a:t>Safety First is a pass/fail screen: all pass. Financial is linear (−$58.4M = 1, break-even = 5); the rest is team judgement. Even at Right-Size's 0%-recapture low, Shrink needs ≥70% Financial weight.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RECOMMENDATION</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[Headline: the recommendation and its $ impact]</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Evidence: slides 5–12</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19</a:t>
            </a:r>
          </a:p>
        </p:txBody>
      </p:sp>
      <p:sp>
        <p:nvSpPr>
          <p:cNvPr id="8" name="Rectangle 7"/>
          <p:cNvSpPr/>
          <p:nvPr/>
        </p:nvSpPr>
        <p:spPr>
          <a:xfrm>
            <a:off x="548640" y="1600200"/>
            <a:ext cx="5440680" cy="310896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5166360" cy="2926079"/>
          </a:xfrm>
          <a:prstGeom prst="rect">
            <a:avLst/>
          </a:prstGeom>
          <a:noFill/>
        </p:spPr>
        <p:txBody>
          <a:bodyPr wrap="square" anchor="ctr">
            <a:spAutoFit/>
          </a:bodyPr>
          <a:lstStyle/>
          <a:p>
            <a:pPr algn="ctr">
              <a:spcAft>
                <a:spcPts val="600"/>
              </a:spcAft>
            </a:pPr>
            <a:r>
              <a:rPr sz="1200" b="0">
                <a:solidFill>
                  <a:srgbClr val="9CA3AF"/>
                </a:solidFill>
                <a:latin typeface="Lato"/>
              </a:rPr>
              <a:t>SHORT TERM (0–12 months)
[Action 1]
[Action 2]
[$ impact]</a:t>
            </a:r>
          </a:p>
        </p:txBody>
      </p:sp>
      <p:sp>
        <p:nvSpPr>
          <p:cNvPr id="10" name="Rectangle 9"/>
          <p:cNvSpPr/>
          <p:nvPr/>
        </p:nvSpPr>
        <p:spPr>
          <a:xfrm>
            <a:off x="6199632" y="1600200"/>
            <a:ext cx="5440680" cy="310896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1691640"/>
            <a:ext cx="5166360" cy="2926079"/>
          </a:xfrm>
          <a:prstGeom prst="rect">
            <a:avLst/>
          </a:prstGeom>
          <a:noFill/>
        </p:spPr>
        <p:txBody>
          <a:bodyPr wrap="square" anchor="ctr">
            <a:spAutoFit/>
          </a:bodyPr>
          <a:lstStyle/>
          <a:p>
            <a:pPr algn="ctr">
              <a:spcAft>
                <a:spcPts val="600"/>
              </a:spcAft>
            </a:pPr>
            <a:r>
              <a:rPr sz="1200" b="0">
                <a:solidFill>
                  <a:srgbClr val="9CA3AF"/>
                </a:solidFill>
                <a:latin typeface="Lato"/>
              </a:rPr>
              <a:t>LONG TERM (12+ months)
[Action 1]
[Action 2]
[$ impact]</a:t>
            </a:r>
          </a:p>
        </p:txBody>
      </p:sp>
      <p:sp>
        <p:nvSpPr>
          <p:cNvPr id="12" name="Rectangle 11"/>
          <p:cNvSpPr/>
          <p:nvPr/>
        </p:nvSpPr>
        <p:spPr>
          <a:xfrm>
            <a:off x="548640" y="4892040"/>
            <a:ext cx="3566160" cy="128016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983479"/>
            <a:ext cx="3291840" cy="1097280"/>
          </a:xfrm>
          <a:prstGeom prst="rect">
            <a:avLst/>
          </a:prstGeom>
          <a:noFill/>
        </p:spPr>
        <p:txBody>
          <a:bodyPr wrap="square" anchor="ctr">
            <a:spAutoFit/>
          </a:bodyPr>
          <a:lstStyle/>
          <a:p>
            <a:pPr algn="ctr">
              <a:spcAft>
                <a:spcPts val="600"/>
              </a:spcAft>
            </a:pPr>
            <a:r>
              <a:rPr sz="1100" b="0">
                <a:solidFill>
                  <a:srgbClr val="9CA3AF"/>
                </a:solidFill>
                <a:latin typeface="Lato"/>
              </a:rPr>
              <a:t>CUSTOMERS
[effect]</a:t>
            </a:r>
          </a:p>
        </p:txBody>
      </p:sp>
      <p:sp>
        <p:nvSpPr>
          <p:cNvPr id="14" name="Rectangle 13"/>
          <p:cNvSpPr/>
          <p:nvPr/>
        </p:nvSpPr>
        <p:spPr>
          <a:xfrm>
            <a:off x="4297679" y="4892040"/>
            <a:ext cx="3566160" cy="128016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4983479"/>
            <a:ext cx="3291840" cy="1097280"/>
          </a:xfrm>
          <a:prstGeom prst="rect">
            <a:avLst/>
          </a:prstGeom>
          <a:noFill/>
        </p:spPr>
        <p:txBody>
          <a:bodyPr wrap="square" anchor="ctr">
            <a:spAutoFit/>
          </a:bodyPr>
          <a:lstStyle/>
          <a:p>
            <a:pPr algn="ctr">
              <a:spcAft>
                <a:spcPts val="600"/>
              </a:spcAft>
            </a:pPr>
            <a:r>
              <a:rPr sz="1100" b="0">
                <a:solidFill>
                  <a:srgbClr val="9CA3AF"/>
                </a:solidFill>
                <a:latin typeface="Lato"/>
              </a:rPr>
              <a:t>EMPLOYEES
[effect]</a:t>
            </a:r>
          </a:p>
        </p:txBody>
      </p:sp>
      <p:sp>
        <p:nvSpPr>
          <p:cNvPr id="16" name="Rectangle 15"/>
          <p:cNvSpPr/>
          <p:nvPr/>
        </p:nvSpPr>
        <p:spPr>
          <a:xfrm>
            <a:off x="8046719" y="4892040"/>
            <a:ext cx="3566160" cy="128016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79" y="4983479"/>
            <a:ext cx="3291840" cy="1097280"/>
          </a:xfrm>
          <a:prstGeom prst="rect">
            <a:avLst/>
          </a:prstGeom>
          <a:noFill/>
        </p:spPr>
        <p:txBody>
          <a:bodyPr wrap="square" anchor="ctr">
            <a:spAutoFit/>
          </a:bodyPr>
          <a:lstStyle/>
          <a:p>
            <a:pPr algn="ctr">
              <a:spcAft>
                <a:spcPts val="600"/>
              </a:spcAft>
            </a:pPr>
            <a:r>
              <a:rPr sz="1100" b="0">
                <a:solidFill>
                  <a:srgbClr val="9CA3AF"/>
                </a:solidFill>
                <a:latin typeface="Lato"/>
              </a:rPr>
              <a:t>COMMUNITIES
[effect]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IMPLEMENTATION</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[Headline: roadmap and milestones]</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20</a:t>
            </a:r>
          </a:p>
        </p:txBody>
      </p:sp>
      <p:sp>
        <p:nvSpPr>
          <p:cNvPr id="8" name="Pentagon 7"/>
          <p:cNvSpPr/>
          <p:nvPr/>
        </p:nvSpPr>
        <p:spPr>
          <a:xfrm>
            <a:off x="548640" y="1645920"/>
            <a:ext cx="3566160" cy="502920"/>
          </a:xfrm>
          <a:prstGeom prst="homePlat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1691640"/>
            <a:ext cx="3108960" cy="411480"/>
          </a:xfrm>
          <a:prstGeom prst="rect">
            <a:avLst/>
          </a:prstGeom>
          <a:noFill/>
        </p:spPr>
        <p:txBody>
          <a:bodyPr wrap="square" anchor="ctr">
            <a:spAutoFit/>
          </a:bodyPr>
          <a:lstStyle/>
          <a:p>
            <a:pPr algn="l">
              <a:spcAft>
                <a:spcPts val="600"/>
              </a:spcAft>
            </a:pPr>
            <a:r>
              <a:rPr sz="1300" b="1">
                <a:solidFill>
                  <a:srgbClr val="FFFFFF"/>
                </a:solidFill>
                <a:latin typeface="Montserrat"/>
              </a:rPr>
              <a:t>Phase 1  ·  0–3 months</a:t>
            </a:r>
          </a:p>
        </p:txBody>
      </p:sp>
      <p:sp>
        <p:nvSpPr>
          <p:cNvPr id="10" name="Rectangle 9"/>
          <p:cNvSpPr/>
          <p:nvPr/>
        </p:nvSpPr>
        <p:spPr>
          <a:xfrm>
            <a:off x="548640" y="2331720"/>
            <a:ext cx="3566160" cy="274320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23160"/>
            <a:ext cx="3291840" cy="2560320"/>
          </a:xfrm>
          <a:prstGeom prst="rect">
            <a:avLst/>
          </a:prstGeom>
          <a:noFill/>
        </p:spPr>
        <p:txBody>
          <a:bodyPr wrap="square" anchor="ctr">
            <a:spAutoFit/>
          </a:bodyPr>
          <a:lstStyle/>
          <a:p>
            <a:pPr algn="ctr">
              <a:spcAft>
                <a:spcPts val="600"/>
              </a:spcAft>
            </a:pPr>
            <a:r>
              <a:rPr sz="1200" b="0">
                <a:solidFill>
                  <a:srgbClr val="9CA3AF"/>
                </a:solidFill>
                <a:latin typeface="Lato"/>
              </a:rPr>
              <a:t>[Actions]
[Owner]</a:t>
            </a:r>
          </a:p>
        </p:txBody>
      </p:sp>
      <p:sp>
        <p:nvSpPr>
          <p:cNvPr id="12" name="Chevron 11"/>
          <p:cNvSpPr/>
          <p:nvPr/>
        </p:nvSpPr>
        <p:spPr>
          <a:xfrm>
            <a:off x="4297679" y="1645920"/>
            <a:ext cx="3566160" cy="502920"/>
          </a:xfrm>
          <a:prstGeom prst="chevron">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1999" y="1691640"/>
            <a:ext cx="3108960" cy="411480"/>
          </a:xfrm>
          <a:prstGeom prst="rect">
            <a:avLst/>
          </a:prstGeom>
          <a:noFill/>
        </p:spPr>
        <p:txBody>
          <a:bodyPr wrap="square" anchor="ctr">
            <a:spAutoFit/>
          </a:bodyPr>
          <a:lstStyle/>
          <a:p>
            <a:pPr algn="l">
              <a:spcAft>
                <a:spcPts val="600"/>
              </a:spcAft>
            </a:pPr>
            <a:r>
              <a:rPr sz="1300" b="1">
                <a:solidFill>
                  <a:srgbClr val="FFFFFF"/>
                </a:solidFill>
                <a:latin typeface="Montserrat"/>
              </a:rPr>
              <a:t>Phase 2  ·  3–12 months</a:t>
            </a:r>
          </a:p>
        </p:txBody>
      </p:sp>
      <p:sp>
        <p:nvSpPr>
          <p:cNvPr id="14" name="Rectangle 13"/>
          <p:cNvSpPr/>
          <p:nvPr/>
        </p:nvSpPr>
        <p:spPr>
          <a:xfrm>
            <a:off x="4297679" y="2331720"/>
            <a:ext cx="3566160" cy="274320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2423160"/>
            <a:ext cx="3291840" cy="2560320"/>
          </a:xfrm>
          <a:prstGeom prst="rect">
            <a:avLst/>
          </a:prstGeom>
          <a:noFill/>
        </p:spPr>
        <p:txBody>
          <a:bodyPr wrap="square" anchor="ctr">
            <a:spAutoFit/>
          </a:bodyPr>
          <a:lstStyle/>
          <a:p>
            <a:pPr algn="ctr">
              <a:spcAft>
                <a:spcPts val="600"/>
              </a:spcAft>
            </a:pPr>
            <a:r>
              <a:rPr sz="1200" b="0">
                <a:solidFill>
                  <a:srgbClr val="9CA3AF"/>
                </a:solidFill>
                <a:latin typeface="Lato"/>
              </a:rPr>
              <a:t>[Actions]
[Owner]</a:t>
            </a:r>
          </a:p>
        </p:txBody>
      </p:sp>
      <p:sp>
        <p:nvSpPr>
          <p:cNvPr id="16" name="Chevron 15"/>
          <p:cNvSpPr/>
          <p:nvPr/>
        </p:nvSpPr>
        <p:spPr>
          <a:xfrm>
            <a:off x="8046719" y="1645920"/>
            <a:ext cx="3566160" cy="502920"/>
          </a:xfrm>
          <a:prstGeom prst="chevron">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691640"/>
            <a:ext cx="3108960" cy="411480"/>
          </a:xfrm>
          <a:prstGeom prst="rect">
            <a:avLst/>
          </a:prstGeom>
          <a:noFill/>
        </p:spPr>
        <p:txBody>
          <a:bodyPr wrap="square" anchor="ctr">
            <a:spAutoFit/>
          </a:bodyPr>
          <a:lstStyle/>
          <a:p>
            <a:pPr algn="l">
              <a:spcAft>
                <a:spcPts val="600"/>
              </a:spcAft>
            </a:pPr>
            <a:r>
              <a:rPr sz="1300" b="1">
                <a:solidFill>
                  <a:srgbClr val="FFFFFF"/>
                </a:solidFill>
                <a:latin typeface="Montserrat"/>
              </a:rPr>
              <a:t>Phase 3  ·  12+ months</a:t>
            </a:r>
          </a:p>
        </p:txBody>
      </p:sp>
      <p:sp>
        <p:nvSpPr>
          <p:cNvPr id="18" name="Rectangle 17"/>
          <p:cNvSpPr/>
          <p:nvPr/>
        </p:nvSpPr>
        <p:spPr>
          <a:xfrm>
            <a:off x="8046719" y="2331720"/>
            <a:ext cx="3566160" cy="274320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83879" y="2423160"/>
            <a:ext cx="3291840" cy="2560320"/>
          </a:xfrm>
          <a:prstGeom prst="rect">
            <a:avLst/>
          </a:prstGeom>
          <a:noFill/>
        </p:spPr>
        <p:txBody>
          <a:bodyPr wrap="square" anchor="ctr">
            <a:spAutoFit/>
          </a:bodyPr>
          <a:lstStyle/>
          <a:p>
            <a:pPr algn="ctr">
              <a:spcAft>
                <a:spcPts val="600"/>
              </a:spcAft>
            </a:pPr>
            <a:r>
              <a:rPr sz="1200" b="0">
                <a:solidFill>
                  <a:srgbClr val="9CA3AF"/>
                </a:solidFill>
                <a:latin typeface="Lato"/>
              </a:rPr>
              <a:t>[Actions]
[Owner]</a:t>
            </a:r>
          </a:p>
        </p:txBody>
      </p:sp>
      <p:sp>
        <p:nvSpPr>
          <p:cNvPr id="20" name="Rectangle 19"/>
          <p:cNvSpPr/>
          <p:nvPr/>
        </p:nvSpPr>
        <p:spPr>
          <a:xfrm>
            <a:off x="548640" y="5257800"/>
            <a:ext cx="11091672" cy="91440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5349240"/>
            <a:ext cx="10817352" cy="731520"/>
          </a:xfrm>
          <a:prstGeom prst="rect">
            <a:avLst/>
          </a:prstGeom>
          <a:noFill/>
        </p:spPr>
        <p:txBody>
          <a:bodyPr wrap="square" anchor="ctr">
            <a:spAutoFit/>
          </a:bodyPr>
          <a:lstStyle/>
          <a:p>
            <a:pPr algn="ctr">
              <a:spcAft>
                <a:spcPts val="600"/>
              </a:spcAft>
            </a:pPr>
            <a:r>
              <a:rPr sz="1200" b="0">
                <a:solidFill>
                  <a:srgbClr val="9CA3AF"/>
                </a:solidFill>
                <a:latin typeface="Lato"/>
              </a:rPr>
              <a:t>[KPIs &amp; targets]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RISKS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[Headline: key risks and how we mitigate them]</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21</a:t>
            </a:r>
          </a:p>
        </p:txBody>
      </p:sp>
      <p:graphicFrame>
        <p:nvGraphicFramePr>
          <p:cNvPr id="8" name="Table 7"/>
          <p:cNvGraphicFramePr>
            <a:graphicFrameLocks noGrp="1"/>
          </p:cNvGraphicFramePr>
          <p:nvPr/>
        </p:nvGraphicFramePr>
        <p:xfrm>
          <a:off x="548640" y="1645920"/>
          <a:ext cx="11091672" cy="4389120"/>
        </p:xfrm>
        <a:graphic>
          <a:graphicData uri="http://schemas.openxmlformats.org/drawingml/2006/table">
            <a:tbl>
              <a:tblPr firstRow="1" bandRow="1">
                <a:tableStyleId>{5C22544A-7EE6-4342-B048-85BDC9FD1C3A}</a:tableStyleId>
              </a:tblPr>
              <a:tblGrid>
                <a:gridCol w="3291840"/>
                <a:gridCol w="1463040"/>
                <a:gridCol w="1463040"/>
                <a:gridCol w="4873752"/>
              </a:tblGrid>
              <a:tr h="877824">
                <a:tc>
                  <a:txBody>
                    <a:bodyPr/>
                    <a:lstStyle/>
                    <a:p>
                      <a:r>
                        <a:rPr sz="1200" b="1">
                          <a:solidFill>
                            <a:srgbClr val="FFFFFF"/>
                          </a:solidFill>
                          <a:latin typeface="Montserrat"/>
                        </a:rPr>
                        <a:t>Risk</a:t>
                      </a:r>
                    </a:p>
                  </a:txBody>
                  <a:tcPr>
                    <a:solidFill>
                      <a:srgbClr val="0B1F3A"/>
                    </a:solidFill>
                  </a:tcPr>
                </a:tc>
                <a:tc>
                  <a:txBody>
                    <a:bodyPr/>
                    <a:lstStyle/>
                    <a:p>
                      <a:r>
                        <a:rPr sz="1200" b="1">
                          <a:solidFill>
                            <a:srgbClr val="FFFFFF"/>
                          </a:solidFill>
                          <a:latin typeface="Montserrat"/>
                        </a:rPr>
                        <a:t>Likelihood</a:t>
                      </a:r>
                    </a:p>
                  </a:txBody>
                  <a:tcPr>
                    <a:solidFill>
                      <a:srgbClr val="0B1F3A"/>
                    </a:solidFill>
                  </a:tcPr>
                </a:tc>
                <a:tc>
                  <a:txBody>
                    <a:bodyPr/>
                    <a:lstStyle/>
                    <a:p>
                      <a:r>
                        <a:rPr sz="1200" b="1">
                          <a:solidFill>
                            <a:srgbClr val="FFFFFF"/>
                          </a:solidFill>
                          <a:latin typeface="Montserrat"/>
                        </a:rPr>
                        <a:t>Impact</a:t>
                      </a:r>
                    </a:p>
                  </a:txBody>
                  <a:tcPr>
                    <a:solidFill>
                      <a:srgbClr val="0B1F3A"/>
                    </a:solidFill>
                  </a:tcPr>
                </a:tc>
                <a:tc>
                  <a:txBody>
                    <a:bodyPr/>
                    <a:lstStyle/>
                    <a:p>
                      <a:r>
                        <a:rPr sz="1200" b="1">
                          <a:solidFill>
                            <a:srgbClr val="FFFFFF"/>
                          </a:solidFill>
                          <a:latin typeface="Montserrat"/>
                        </a:rPr>
                        <a:t>Mitigation</a:t>
                      </a:r>
                    </a:p>
                  </a:txBody>
                  <a:tcPr>
                    <a:solidFill>
                      <a:srgbClr val="0B1F3A"/>
                    </a:solidFill>
                  </a:tcPr>
                </a:tc>
              </a:tr>
              <a:tr h="877824">
                <a:tc>
                  <a:txBody>
                    <a:bodyPr/>
                    <a:lstStyle/>
                    <a:p>
                      <a:r>
                        <a:rPr sz="1200">
                          <a:solidFill>
                            <a:srgbClr val="9CA3AF"/>
                          </a:solidFill>
                          <a:latin typeface="Lato"/>
                        </a:rPr>
                        <a:t>[Risk 1]</a:t>
                      </a:r>
                    </a:p>
                  </a:txBody>
                  <a:tcPr>
                    <a:solidFill>
                      <a:srgbClr val="F3F5F8"/>
                    </a:solidFill>
                  </a:tcPr>
                </a:tc>
                <a:tc>
                  <a:txBody>
                    <a:bodyPr/>
                    <a:lstStyle/>
                    <a:p>
                      <a:r>
                        <a:rPr sz="1200">
                          <a:solidFill>
                            <a:srgbClr val="9CA3AF"/>
                          </a:solidFill>
                          <a:latin typeface="Lato"/>
                        </a:rPr>
                        <a:t>[ ]</a:t>
                      </a:r>
                    </a:p>
                  </a:txBody>
                  <a:tcPr>
                    <a:solidFill>
                      <a:srgbClr val="F3F5F8"/>
                    </a:solidFill>
                  </a:tcPr>
                </a:tc>
                <a:tc>
                  <a:txBody>
                    <a:bodyPr/>
                    <a:lstStyle/>
                    <a:p>
                      <a:r>
                        <a:rPr sz="1200">
                          <a:solidFill>
                            <a:srgbClr val="9CA3AF"/>
                          </a:solidFill>
                          <a:latin typeface="Lato"/>
                        </a:rPr>
                        <a:t>[ ]</a:t>
                      </a:r>
                    </a:p>
                  </a:txBody>
                  <a:tcPr>
                    <a:solidFill>
                      <a:srgbClr val="F3F5F8"/>
                    </a:solidFill>
                  </a:tcPr>
                </a:tc>
                <a:tc>
                  <a:txBody>
                    <a:bodyPr/>
                    <a:lstStyle/>
                    <a:p>
                      <a:r>
                        <a:rPr sz="1200">
                          <a:solidFill>
                            <a:srgbClr val="9CA3AF"/>
                          </a:solidFill>
                          <a:latin typeface="Lato"/>
                        </a:rPr>
                        <a:t>[ ]</a:t>
                      </a:r>
                    </a:p>
                  </a:txBody>
                  <a:tcPr>
                    <a:solidFill>
                      <a:srgbClr val="F3F5F8"/>
                    </a:solidFill>
                  </a:tcPr>
                </a:tc>
              </a:tr>
              <a:tr h="877824">
                <a:tc>
                  <a:txBody>
                    <a:bodyPr/>
                    <a:lstStyle/>
                    <a:p>
                      <a:r>
                        <a:rPr sz="1200">
                          <a:solidFill>
                            <a:srgbClr val="9CA3AF"/>
                          </a:solidFill>
                          <a:latin typeface="Lato"/>
                        </a:rPr>
                        <a:t>[Risk 2]</a:t>
                      </a:r>
                    </a:p>
                  </a:txBody>
                  <a:tcPr>
                    <a:solidFill>
                      <a:srgbClr val="FFFFFF"/>
                    </a:solidFill>
                  </a:tcPr>
                </a:tc>
                <a:tc>
                  <a:txBody>
                    <a:bodyPr/>
                    <a:lstStyle/>
                    <a:p>
                      <a:r>
                        <a:rPr sz="1200">
                          <a:solidFill>
                            <a:srgbClr val="9CA3AF"/>
                          </a:solidFill>
                          <a:latin typeface="Lato"/>
                        </a:rPr>
                        <a:t>[ ]</a:t>
                      </a:r>
                    </a:p>
                  </a:txBody>
                  <a:tcPr>
                    <a:solidFill>
                      <a:srgbClr val="FFFFFF"/>
                    </a:solidFill>
                  </a:tcPr>
                </a:tc>
                <a:tc>
                  <a:txBody>
                    <a:bodyPr/>
                    <a:lstStyle/>
                    <a:p>
                      <a:r>
                        <a:rPr sz="1200">
                          <a:solidFill>
                            <a:srgbClr val="9CA3AF"/>
                          </a:solidFill>
                          <a:latin typeface="Lato"/>
                        </a:rPr>
                        <a:t>[ ]</a:t>
                      </a:r>
                    </a:p>
                  </a:txBody>
                  <a:tcPr>
                    <a:solidFill>
                      <a:srgbClr val="FFFFFF"/>
                    </a:solidFill>
                  </a:tcPr>
                </a:tc>
                <a:tc>
                  <a:txBody>
                    <a:bodyPr/>
                    <a:lstStyle/>
                    <a:p>
                      <a:r>
                        <a:rPr sz="1200">
                          <a:solidFill>
                            <a:srgbClr val="9CA3AF"/>
                          </a:solidFill>
                          <a:latin typeface="Lato"/>
                        </a:rPr>
                        <a:t>[ ]</a:t>
                      </a:r>
                    </a:p>
                  </a:txBody>
                  <a:tcPr>
                    <a:solidFill>
                      <a:srgbClr val="FFFFFF"/>
                    </a:solidFill>
                  </a:tcPr>
                </a:tc>
              </a:tr>
              <a:tr h="877824">
                <a:tc>
                  <a:txBody>
                    <a:bodyPr/>
                    <a:lstStyle/>
                    <a:p>
                      <a:r>
                        <a:rPr sz="1200">
                          <a:solidFill>
                            <a:srgbClr val="9CA3AF"/>
                          </a:solidFill>
                          <a:latin typeface="Lato"/>
                        </a:rPr>
                        <a:t>[Risk 3]</a:t>
                      </a:r>
                    </a:p>
                  </a:txBody>
                  <a:tcPr>
                    <a:solidFill>
                      <a:srgbClr val="F3F5F8"/>
                    </a:solidFill>
                  </a:tcPr>
                </a:tc>
                <a:tc>
                  <a:txBody>
                    <a:bodyPr/>
                    <a:lstStyle/>
                    <a:p>
                      <a:r>
                        <a:rPr sz="1200">
                          <a:solidFill>
                            <a:srgbClr val="9CA3AF"/>
                          </a:solidFill>
                          <a:latin typeface="Lato"/>
                        </a:rPr>
                        <a:t>[ ]</a:t>
                      </a:r>
                    </a:p>
                  </a:txBody>
                  <a:tcPr>
                    <a:solidFill>
                      <a:srgbClr val="F3F5F8"/>
                    </a:solidFill>
                  </a:tcPr>
                </a:tc>
                <a:tc>
                  <a:txBody>
                    <a:bodyPr/>
                    <a:lstStyle/>
                    <a:p>
                      <a:r>
                        <a:rPr sz="1200">
                          <a:solidFill>
                            <a:srgbClr val="9CA3AF"/>
                          </a:solidFill>
                          <a:latin typeface="Lato"/>
                        </a:rPr>
                        <a:t>[ ]</a:t>
                      </a:r>
                    </a:p>
                  </a:txBody>
                  <a:tcPr>
                    <a:solidFill>
                      <a:srgbClr val="F3F5F8"/>
                    </a:solidFill>
                  </a:tcPr>
                </a:tc>
                <a:tc>
                  <a:txBody>
                    <a:bodyPr/>
                    <a:lstStyle/>
                    <a:p>
                      <a:r>
                        <a:rPr sz="1200">
                          <a:solidFill>
                            <a:srgbClr val="9CA3AF"/>
                          </a:solidFill>
                          <a:latin typeface="Lato"/>
                        </a:rPr>
                        <a:t>[ ]</a:t>
                      </a:r>
                    </a:p>
                  </a:txBody>
                  <a:tcPr>
                    <a:solidFill>
                      <a:srgbClr val="F3F5F8"/>
                    </a:solidFill>
                  </a:tcPr>
                </a:tc>
              </a:tr>
              <a:tr h="877824">
                <a:tc>
                  <a:txBody>
                    <a:bodyPr/>
                    <a:lstStyle/>
                    <a:p>
                      <a:r>
                        <a:rPr sz="1200">
                          <a:solidFill>
                            <a:srgbClr val="9CA3AF"/>
                          </a:solidFill>
                          <a:latin typeface="Lato"/>
                        </a:rPr>
                        <a:t>[Risk 4]</a:t>
                      </a:r>
                    </a:p>
                  </a:txBody>
                  <a:tcPr>
                    <a:solidFill>
                      <a:srgbClr val="FFFFFF"/>
                    </a:solidFill>
                  </a:tcPr>
                </a:tc>
                <a:tc>
                  <a:txBody>
                    <a:bodyPr/>
                    <a:lstStyle/>
                    <a:p>
                      <a:r>
                        <a:rPr sz="1200">
                          <a:solidFill>
                            <a:srgbClr val="9CA3AF"/>
                          </a:solidFill>
                          <a:latin typeface="Lato"/>
                        </a:rPr>
                        <a:t>[ ]</a:t>
                      </a:r>
                    </a:p>
                  </a:txBody>
                  <a:tcPr>
                    <a:solidFill>
                      <a:srgbClr val="FFFFFF"/>
                    </a:solidFill>
                  </a:tcPr>
                </a:tc>
                <a:tc>
                  <a:txBody>
                    <a:bodyPr/>
                    <a:lstStyle/>
                    <a:p>
                      <a:r>
                        <a:rPr sz="1200">
                          <a:solidFill>
                            <a:srgbClr val="9CA3AF"/>
                          </a:solidFill>
                          <a:latin typeface="Lato"/>
                        </a:rPr>
                        <a:t>[ ]</a:t>
                      </a:r>
                    </a:p>
                  </a:txBody>
                  <a:tcPr>
                    <a:solidFill>
                      <a:srgbClr val="FFFFFF"/>
                    </a:solidFill>
                  </a:tcPr>
                </a:tc>
                <a:tc>
                  <a:txBody>
                    <a:bodyPr/>
                    <a:lstStyle/>
                    <a:p>
                      <a:r>
                        <a:rPr sz="1200">
                          <a:solidFill>
                            <a:srgbClr val="9CA3AF"/>
                          </a:solidFill>
                          <a:latin typeface="Lato"/>
                        </a:rPr>
                        <a:t>[ ]</a:t>
                      </a:r>
                    </a:p>
                  </a:txBody>
                  <a:tcP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560320"/>
            <a:ext cx="10515600" cy="914400"/>
          </a:xfrm>
          <a:prstGeom prst="rect">
            <a:avLst/>
          </a:prstGeom>
          <a:noFill/>
        </p:spPr>
        <p:txBody>
          <a:bodyPr wrap="square" anchor="t">
            <a:spAutoFit/>
          </a:bodyPr>
          <a:lstStyle/>
          <a:p>
            <a:pPr algn="l">
              <a:spcAft>
                <a:spcPts val="600"/>
              </a:spcAft>
            </a:pPr>
            <a:r>
              <a:rPr sz="4400" b="1">
                <a:solidFill>
                  <a:srgbClr val="FFFFFF"/>
                </a:solidFill>
                <a:latin typeface="Montserrat"/>
              </a:rPr>
              <a:t>Thank you</a:t>
            </a:r>
          </a:p>
        </p:txBody>
      </p:sp>
      <p:sp>
        <p:nvSpPr>
          <p:cNvPr id="4" name="TextBox 3"/>
          <p:cNvSpPr txBox="1"/>
          <p:nvPr/>
        </p:nvSpPr>
        <p:spPr>
          <a:xfrm>
            <a:off x="822960" y="3474720"/>
            <a:ext cx="10515600" cy="731520"/>
          </a:xfrm>
          <a:prstGeom prst="rect">
            <a:avLst/>
          </a:prstGeom>
          <a:noFill/>
        </p:spPr>
        <p:txBody>
          <a:bodyPr wrap="square" anchor="t">
            <a:spAutoFit/>
          </a:bodyPr>
          <a:lstStyle/>
          <a:p>
            <a:pPr algn="l">
              <a:spcAft>
                <a:spcPts val="600"/>
              </a:spcAft>
            </a:pPr>
            <a:r>
              <a:rPr sz="2000" b="0">
                <a:solidFill>
                  <a:srgbClr val="9CA3AF"/>
                </a:solidFill>
                <a:latin typeface="Lato"/>
              </a:rPr>
              <a:t>[One-line restatement of the recommendation]  ·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2743200" cy="1097280"/>
          </a:xfrm>
          <a:prstGeom prst="rect">
            <a:avLst/>
          </a:prstGeom>
          <a:noFill/>
        </p:spPr>
        <p:txBody>
          <a:bodyPr wrap="square" anchor="t">
            <a:spAutoFit/>
          </a:bodyPr>
          <a:lstStyle/>
          <a:p>
            <a:pPr algn="l">
              <a:spcAft>
                <a:spcPts val="600"/>
              </a:spcAft>
            </a:pPr>
            <a:r>
              <a:rPr sz="7200" b="1">
                <a:solidFill>
                  <a:srgbClr val="E8692A"/>
                </a:solidFill>
                <a:latin typeface="Montserrat"/>
              </a:rPr>
              <a:t>A</a:t>
            </a:r>
          </a:p>
        </p:txBody>
      </p:sp>
      <p:sp>
        <p:nvSpPr>
          <p:cNvPr id="4" name="TextBox 3"/>
          <p:cNvSpPr txBox="1"/>
          <p:nvPr/>
        </p:nvSpPr>
        <p:spPr>
          <a:xfrm>
            <a:off x="822960" y="3383280"/>
            <a:ext cx="10058400" cy="822960"/>
          </a:xfrm>
          <a:prstGeom prst="rect">
            <a:avLst/>
          </a:prstGeom>
          <a:noFill/>
        </p:spPr>
        <p:txBody>
          <a:bodyPr wrap="square" anchor="t">
            <a:spAutoFit/>
          </a:bodyPr>
          <a:lstStyle/>
          <a:p>
            <a:pPr algn="l">
              <a:spcAft>
                <a:spcPts val="600"/>
              </a:spcAft>
            </a:pPr>
            <a:r>
              <a:rPr sz="3600" b="1">
                <a:solidFill>
                  <a:srgbClr val="FFFFFF"/>
                </a:solidFill>
                <a:latin typeface="Montserrat"/>
              </a:rPr>
              <a:t>Appendix</a:t>
            </a:r>
          </a:p>
        </p:txBody>
      </p:sp>
      <p:sp>
        <p:nvSpPr>
          <p:cNvPr id="5" name="TextBox 4"/>
          <p:cNvSpPr txBox="1"/>
          <p:nvPr/>
        </p:nvSpPr>
        <p:spPr>
          <a:xfrm>
            <a:off x="822960" y="4206240"/>
            <a:ext cx="10058400" cy="548640"/>
          </a:xfrm>
          <a:prstGeom prst="rect">
            <a:avLst/>
          </a:prstGeom>
          <a:noFill/>
        </p:spPr>
        <p:txBody>
          <a:bodyPr wrap="square" anchor="t">
            <a:spAutoFit/>
          </a:bodyPr>
          <a:lstStyle/>
          <a:p>
            <a:pPr algn="l">
              <a:spcAft>
                <a:spcPts val="600"/>
              </a:spcAft>
            </a:pPr>
            <a:r>
              <a:rPr sz="1600" b="0">
                <a:solidFill>
                  <a:srgbClr val="9CA3AF"/>
                </a:solidFill>
                <a:latin typeface="Lato"/>
              </a:rPr>
              <a:t>Backup for Q&amp;A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APPENDIX A1 · DATA CLEANING &amp; ASSUMPTIONS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How we cleaned and joined the data</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24</a:t>
            </a:r>
          </a:p>
        </p:txBody>
      </p:sp>
      <p:sp>
        <p:nvSpPr>
          <p:cNvPr id="8" name="TextBox 7"/>
          <p:cNvSpPr txBox="1"/>
          <p:nvPr/>
        </p:nvSpPr>
        <p:spPr>
          <a:xfrm>
            <a:off x="548640" y="1600200"/>
            <a:ext cx="11064240" cy="4572000"/>
          </a:xfrm>
          <a:prstGeom prst="rect">
            <a:avLst/>
          </a:prstGeom>
          <a:noFill/>
        </p:spPr>
        <p:txBody>
          <a:bodyPr wrap="square" anchor="t">
            <a:spAutoFit/>
          </a:bodyPr>
          <a:lstStyle/>
          <a:p>
            <a:pPr algn="l">
              <a:spcAft>
                <a:spcPts val="600"/>
              </a:spcAft>
            </a:pPr>
            <a:r>
              <a:rPr sz="1400" b="0">
                <a:solidFill>
                  <a:srgbClr val="1F2937"/>
                </a:solidFill>
                <a:latin typeface="Lato"/>
              </a:rPr>
              <a:t>• Route codes: 'YYZYHZ', 'yvr-yeg', etc. normalized to XXX-XXX across all three files</a:t>
            </a:r>
          </a:p>
          <a:p>
            <a:pPr algn="l">
              <a:spcAft>
                <a:spcPts val="600"/>
              </a:spcAft>
            </a:pPr>
            <a:r>
              <a:rPr sz="1400" b="0">
                <a:solidFill>
                  <a:srgbClr val="1F2937"/>
                </a:solidFill>
                <a:latin typeface="Lato"/>
              </a:rPr>
              <a:t>• Duplicates: 1,856 repeated transaction IDs removed (all fields identical), −$1.23M revenue</a:t>
            </a:r>
          </a:p>
          <a:p>
            <a:pPr algn="l">
              <a:spcAft>
                <a:spcPts val="600"/>
              </a:spcAft>
            </a:pPr>
            <a:r>
              <a:rPr sz="1400" b="0">
                <a:solidFill>
                  <a:srgbClr val="1F2937"/>
                </a:solidFill>
                <a:latin typeface="Lato"/>
              </a:rPr>
              <a:t>• Dates: ISO, YYYY/MM/DD and DD/MM vs MM/DD formats; ambiguous ones resolved from transaction-ID order; 11 unresolved ($7.2k, immaterial)</a:t>
            </a:r>
          </a:p>
          <a:p>
            <a:pPr algn="l">
              <a:spcAft>
                <a:spcPts val="600"/>
              </a:spcAft>
            </a:pPr>
            <a:r>
              <a:rPr sz="1400" b="0">
                <a:solidFill>
                  <a:srgbClr val="1F2937"/>
                </a:solidFill>
                <a:latin typeface="Lato"/>
              </a:rPr>
              <a:t>• Categories &amp; tiers: aliases and capitalization standardized; unknowns kept as 'Unknown'</a:t>
            </a:r>
          </a:p>
          <a:p>
            <a:pPr algn="l">
              <a:spcAft>
                <a:spcPts val="600"/>
              </a:spcAft>
            </a:pPr>
            <a:r>
              <a:rPr sz="1400" b="0">
                <a:solidFill>
                  <a:srgbClr val="1F2937"/>
                </a:solidFill>
                <a:latin typeface="Lato"/>
              </a:rPr>
              <a:t>• Flights: one flight = route + timestamp with exactly one Crew, Food, Fuel and Maintenance cost row</a:t>
            </a:r>
          </a:p>
          <a:p>
            <a:pPr algn="l">
              <a:spcAft>
                <a:spcPts val="600"/>
              </a:spcAft>
            </a:pPr>
            <a:r>
              <a:rPr sz="1400" b="0">
                <a:solidFill>
                  <a:srgbClr val="1F2937"/>
                </a:solidFill>
                <a:latin typeface="Lato"/>
              </a:rPr>
              <a:t>• Gates: each physical gate counted once; calendar lease years pro-rated to Sep–Aug fiscal years; airport total split evenly across departing flights (case rule); 2026-27 estimated [method]</a:t>
            </a:r>
          </a:p>
          <a:p>
            <a:pPr algn="l">
              <a:spcAft>
                <a:spcPts val="600"/>
              </a:spcAft>
            </a:pPr>
            <a:r>
              <a:rPr sz="1400" b="0">
                <a:solidFill>
                  <a:srgbClr val="1F2937"/>
                </a:solidFill>
                <a:latin typeface="Lato"/>
              </a:rPr>
              <a:t>• Revenue is recorded at transaction date (payment), not flight date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APPENDIX A2 · ROUTE × MONTH HEATMAP</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Losses are persistent across months, not a single bad season</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25</a:t>
            </a:r>
          </a:p>
        </p:txBody>
      </p:sp>
      <p:pic>
        <p:nvPicPr>
          <p:cNvPr id="8" name="Picture 7" descr="06_route_month_heatmap.png"/>
          <p:cNvPicPr>
            <a:picLocks noChangeAspect="1"/>
          </p:cNvPicPr>
          <p:nvPr/>
        </p:nvPicPr>
        <p:blipFill>
          <a:blip r:embed="rId3"/>
          <a:stretch>
            <a:fillRect/>
          </a:stretch>
        </p:blipFill>
        <p:spPr>
          <a:xfrm>
            <a:off x="3844398" y="1463040"/>
            <a:ext cx="4500154" cy="4846319"/>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APPENDIX A3 · SENSITIVITY</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Small ancillary or refund fixes can't close the gap alone</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26</a:t>
            </a:r>
          </a:p>
        </p:txBody>
      </p:sp>
      <p:pic>
        <p:nvPicPr>
          <p:cNvPr id="8" name="Picture 7" descr="10_sensitivity.png"/>
          <p:cNvPicPr>
            <a:picLocks noChangeAspect="1"/>
          </p:cNvPicPr>
          <p:nvPr/>
        </p:nvPicPr>
        <p:blipFill>
          <a:blip r:embed="rId3"/>
          <a:stretch>
            <a:fillRect/>
          </a:stretch>
        </p:blipFill>
        <p:spPr>
          <a:xfrm>
            <a:off x="1849047" y="1600200"/>
            <a:ext cx="8490857" cy="4572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APPENDIX A4 · CHANNELS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Channel mix is stable; OTA has the highest refund burden</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27</a:t>
            </a:r>
          </a:p>
        </p:txBody>
      </p:sp>
      <p:pic>
        <p:nvPicPr>
          <p:cNvPr id="8" name="Picture 7" descr="09_channels.png"/>
          <p:cNvPicPr>
            <a:picLocks noChangeAspect="1"/>
          </p:cNvPicPr>
          <p:nvPr/>
        </p:nvPicPr>
        <p:blipFill>
          <a:blip r:embed="rId3"/>
          <a:stretch>
            <a:fillRect/>
          </a:stretch>
        </p:blipFill>
        <p:spPr>
          <a:xfrm>
            <a:off x="1141476" y="1600200"/>
            <a:ext cx="9905999" cy="4572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APPENDIX · STRATEGIC LENS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Five Forces explains why extra frequency failed; SWOT shows what any fix must protect</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Case package p.6–10 (market context) and team analysis of FY25-26 data. * = inference, not stated in the case.</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28</a:t>
            </a:r>
          </a:p>
        </p:txBody>
      </p:sp>
      <p:sp>
        <p:nvSpPr>
          <p:cNvPr id="8" name="TextBox 7"/>
          <p:cNvSpPr txBox="1"/>
          <p:nvPr/>
        </p:nvSpPr>
        <p:spPr>
          <a:xfrm>
            <a:off x="548640" y="1481328"/>
            <a:ext cx="5486400" cy="274320"/>
          </a:xfrm>
          <a:prstGeom prst="rect">
            <a:avLst/>
          </a:prstGeom>
          <a:noFill/>
        </p:spPr>
        <p:txBody>
          <a:bodyPr wrap="square" anchor="t" lIns="0" rIns="0" tIns="0" bIns="0">
            <a:spAutoFit/>
          </a:bodyPr>
          <a:lstStyle/>
          <a:p>
            <a:pPr algn="l"/>
            <a:r>
              <a:rPr sz="1300" b="1" i="0">
                <a:solidFill>
                  <a:srgbClr val="0B1F3A"/>
                </a:solidFill>
                <a:latin typeface="Montserrat"/>
              </a:rPr>
              <a:t>Porter's Five Forces: Canadian domestic air</a:t>
            </a:r>
          </a:p>
        </p:txBody>
      </p:sp>
      <p:sp>
        <p:nvSpPr>
          <p:cNvPr id="9" name="Rectangle 8"/>
          <p:cNvSpPr/>
          <p:nvPr/>
        </p:nvSpPr>
        <p:spPr>
          <a:xfrm>
            <a:off x="548640" y="1828800"/>
            <a:ext cx="5486400" cy="78638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20240"/>
            <a:ext cx="1463040" cy="274320"/>
          </a:xfrm>
          <a:prstGeom prst="rect">
            <a:avLst/>
          </a:prstGeom>
          <a:noFill/>
        </p:spPr>
        <p:txBody>
          <a:bodyPr wrap="square" anchor="t" lIns="0" rIns="0" tIns="0" bIns="0">
            <a:spAutoFit/>
          </a:bodyPr>
          <a:lstStyle/>
          <a:p>
            <a:pPr algn="l"/>
            <a:r>
              <a:rPr sz="1200" b="1" i="0">
                <a:solidFill>
                  <a:srgbClr val="0B1F3A"/>
                </a:solidFill>
                <a:latin typeface="Montserrat"/>
              </a:rPr>
              <a:t>Rivalry</a:t>
            </a:r>
          </a:p>
        </p:txBody>
      </p:sp>
      <p:sp>
        <p:nvSpPr>
          <p:cNvPr id="11" name="Rounded Rectangle 10"/>
          <p:cNvSpPr/>
          <p:nvPr/>
        </p:nvSpPr>
        <p:spPr>
          <a:xfrm>
            <a:off x="685800" y="2240280"/>
            <a:ext cx="777240" cy="237744"/>
          </a:xfrm>
          <a:prstGeom prst="round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900" b="1">
                <a:solidFill>
                  <a:srgbClr val="FFFFFF"/>
                </a:solidFill>
                <a:latin typeface="Lato"/>
              </a:rPr>
              <a:t>High</a:t>
            </a:r>
          </a:p>
        </p:txBody>
      </p:sp>
      <p:sp>
        <p:nvSpPr>
          <p:cNvPr id="12" name="TextBox 11"/>
          <p:cNvSpPr txBox="1"/>
          <p:nvPr/>
        </p:nvSpPr>
        <p:spPr>
          <a:xfrm>
            <a:off x="2240280" y="1901952"/>
            <a:ext cx="3703320" cy="658368"/>
          </a:xfrm>
          <a:prstGeom prst="rect">
            <a:avLst/>
          </a:prstGeom>
          <a:noFill/>
        </p:spPr>
        <p:txBody>
          <a:bodyPr wrap="square" anchor="ctr" lIns="0" rIns="0" tIns="0" bIns="0">
            <a:spAutoFit/>
          </a:bodyPr>
          <a:lstStyle/>
          <a:p>
            <a:pPr algn="l"/>
            <a:r>
              <a:rPr sz="1050" b="0" i="0">
                <a:solidFill>
                  <a:srgbClr val="1F2937"/>
                </a:solidFill>
                <a:latin typeface="Lato"/>
              </a:rPr>
              <a:t>Two national carriers plus low-cost airlines (case). Trunk fares fell ~8% when frequency doubled.</a:t>
            </a:r>
          </a:p>
        </p:txBody>
      </p:sp>
      <p:sp>
        <p:nvSpPr>
          <p:cNvPr id="13" name="Rectangle 12"/>
          <p:cNvSpPr/>
          <p:nvPr/>
        </p:nvSpPr>
        <p:spPr>
          <a:xfrm>
            <a:off x="548640" y="2706624"/>
            <a:ext cx="5486400" cy="78638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798064"/>
            <a:ext cx="1463040" cy="274320"/>
          </a:xfrm>
          <a:prstGeom prst="rect">
            <a:avLst/>
          </a:prstGeom>
          <a:noFill/>
        </p:spPr>
        <p:txBody>
          <a:bodyPr wrap="square" anchor="t" lIns="0" rIns="0" tIns="0" bIns="0">
            <a:spAutoFit/>
          </a:bodyPr>
          <a:lstStyle/>
          <a:p>
            <a:pPr algn="l"/>
            <a:r>
              <a:rPr sz="1200" b="1" i="0">
                <a:solidFill>
                  <a:srgbClr val="0B1F3A"/>
                </a:solidFill>
                <a:latin typeface="Montserrat"/>
              </a:rPr>
              <a:t>Buyer power</a:t>
            </a:r>
          </a:p>
        </p:txBody>
      </p:sp>
      <p:sp>
        <p:nvSpPr>
          <p:cNvPr id="15" name="Rounded Rectangle 14"/>
          <p:cNvSpPr/>
          <p:nvPr/>
        </p:nvSpPr>
        <p:spPr>
          <a:xfrm>
            <a:off x="685800" y="3118104"/>
            <a:ext cx="777240" cy="237744"/>
          </a:xfrm>
          <a:prstGeom prst="round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900" b="1">
                <a:solidFill>
                  <a:srgbClr val="FFFFFF"/>
                </a:solidFill>
                <a:latin typeface="Lato"/>
              </a:rPr>
              <a:t>High</a:t>
            </a:r>
          </a:p>
        </p:txBody>
      </p:sp>
      <p:sp>
        <p:nvSpPr>
          <p:cNvPr id="16" name="TextBox 15"/>
          <p:cNvSpPr txBox="1"/>
          <p:nvPr/>
        </p:nvSpPr>
        <p:spPr>
          <a:xfrm>
            <a:off x="2240280" y="2779776"/>
            <a:ext cx="3703320" cy="658368"/>
          </a:xfrm>
          <a:prstGeom prst="rect">
            <a:avLst/>
          </a:prstGeom>
          <a:noFill/>
        </p:spPr>
        <p:txBody>
          <a:bodyPr wrap="square" anchor="ctr" lIns="0" rIns="0" tIns="0" bIns="0">
            <a:spAutoFit/>
          </a:bodyPr>
          <a:lstStyle/>
          <a:p>
            <a:pPr algn="l"/>
            <a:r>
              <a:rPr sz="1050" b="0" i="0">
                <a:solidFill>
                  <a:srgbClr val="1F2937"/>
                </a:solidFill>
                <a:latin typeface="Lato"/>
              </a:rPr>
              <a:t>Price-sensitive travellers (case); OTAs sell 20% of ticket revenue. Extra seats sold only at lower fares.</a:t>
            </a:r>
          </a:p>
        </p:txBody>
      </p:sp>
      <p:sp>
        <p:nvSpPr>
          <p:cNvPr id="17" name="Rectangle 16"/>
          <p:cNvSpPr/>
          <p:nvPr/>
        </p:nvSpPr>
        <p:spPr>
          <a:xfrm>
            <a:off x="548640" y="3584448"/>
            <a:ext cx="5486400" cy="78638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675887"/>
            <a:ext cx="1463040" cy="274320"/>
          </a:xfrm>
          <a:prstGeom prst="rect">
            <a:avLst/>
          </a:prstGeom>
          <a:noFill/>
        </p:spPr>
        <p:txBody>
          <a:bodyPr wrap="square" anchor="t" lIns="0" rIns="0" tIns="0" bIns="0">
            <a:spAutoFit/>
          </a:bodyPr>
          <a:lstStyle/>
          <a:p>
            <a:pPr algn="l"/>
            <a:r>
              <a:rPr sz="1200" b="1" i="0">
                <a:solidFill>
                  <a:srgbClr val="0B1F3A"/>
                </a:solidFill>
                <a:latin typeface="Montserrat"/>
              </a:rPr>
              <a:t>Supplier power</a:t>
            </a:r>
          </a:p>
        </p:txBody>
      </p:sp>
      <p:sp>
        <p:nvSpPr>
          <p:cNvPr id="19" name="Rounded Rectangle 18"/>
          <p:cNvSpPr/>
          <p:nvPr/>
        </p:nvSpPr>
        <p:spPr>
          <a:xfrm>
            <a:off x="685800" y="3995928"/>
            <a:ext cx="777240" cy="237744"/>
          </a:xfrm>
          <a:prstGeom prst="round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900" b="1">
                <a:solidFill>
                  <a:srgbClr val="FFFFFF"/>
                </a:solidFill>
                <a:latin typeface="Lato"/>
              </a:rPr>
              <a:t>High</a:t>
            </a:r>
          </a:p>
        </p:txBody>
      </p:sp>
      <p:sp>
        <p:nvSpPr>
          <p:cNvPr id="20" name="TextBox 19"/>
          <p:cNvSpPr txBox="1"/>
          <p:nvPr/>
        </p:nvSpPr>
        <p:spPr>
          <a:xfrm>
            <a:off x="2240280" y="3657600"/>
            <a:ext cx="3703320" cy="658368"/>
          </a:xfrm>
          <a:prstGeom prst="rect">
            <a:avLst/>
          </a:prstGeom>
          <a:noFill/>
        </p:spPr>
        <p:txBody>
          <a:bodyPr wrap="square" anchor="ctr" lIns="0" rIns="0" tIns="0" bIns="0">
            <a:spAutoFit/>
          </a:bodyPr>
          <a:lstStyle/>
          <a:p>
            <a:pPr algn="l"/>
            <a:r>
              <a:rPr sz="1050" b="0" i="0">
                <a:solidFill>
                  <a:srgbClr val="1F2937"/>
                </a:solidFill>
                <a:latin typeface="Lato"/>
              </a:rPr>
              <a:t>Volatile fuel, pilot shortage, high airport fees (case). Same route &amp; month: fuel +8.7%, crew +8.5%.</a:t>
            </a:r>
          </a:p>
        </p:txBody>
      </p:sp>
      <p:sp>
        <p:nvSpPr>
          <p:cNvPr id="21" name="Rectangle 20"/>
          <p:cNvSpPr/>
          <p:nvPr/>
        </p:nvSpPr>
        <p:spPr>
          <a:xfrm>
            <a:off x="548640" y="4462272"/>
            <a:ext cx="5486400" cy="78638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553712"/>
            <a:ext cx="1463040" cy="274320"/>
          </a:xfrm>
          <a:prstGeom prst="rect">
            <a:avLst/>
          </a:prstGeom>
          <a:noFill/>
        </p:spPr>
        <p:txBody>
          <a:bodyPr wrap="square" anchor="t" lIns="0" rIns="0" tIns="0" bIns="0">
            <a:spAutoFit/>
          </a:bodyPr>
          <a:lstStyle/>
          <a:p>
            <a:pPr algn="l"/>
            <a:r>
              <a:rPr sz="1200" b="1" i="0">
                <a:solidFill>
                  <a:srgbClr val="0B1F3A"/>
                </a:solidFill>
                <a:latin typeface="Montserrat"/>
              </a:rPr>
              <a:t>New entrants</a:t>
            </a:r>
          </a:p>
        </p:txBody>
      </p:sp>
      <p:sp>
        <p:nvSpPr>
          <p:cNvPr id="23" name="Rounded Rectangle 22"/>
          <p:cNvSpPr/>
          <p:nvPr/>
        </p:nvSpPr>
        <p:spPr>
          <a:xfrm>
            <a:off x="685800" y="4873752"/>
            <a:ext cx="777240" cy="237744"/>
          </a:xfrm>
          <a:prstGeom prst="roundRect">
            <a:avLst/>
          </a:prstGeom>
          <a:solidFill>
            <a:srgbClr val="F4A97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900" b="1">
                <a:solidFill>
                  <a:srgbClr val="FFFFFF"/>
                </a:solidFill>
                <a:latin typeface="Lato"/>
              </a:rPr>
              <a:t>Medium</a:t>
            </a:r>
          </a:p>
        </p:txBody>
      </p:sp>
      <p:sp>
        <p:nvSpPr>
          <p:cNvPr id="24" name="TextBox 23"/>
          <p:cNvSpPr txBox="1"/>
          <p:nvPr/>
        </p:nvSpPr>
        <p:spPr>
          <a:xfrm>
            <a:off x="2240280" y="4535424"/>
            <a:ext cx="3703320" cy="658368"/>
          </a:xfrm>
          <a:prstGeom prst="rect">
            <a:avLst/>
          </a:prstGeom>
          <a:noFill/>
        </p:spPr>
        <p:txBody>
          <a:bodyPr wrap="square" anchor="ctr" lIns="0" rIns="0" tIns="0" bIns="0">
            <a:spAutoFit/>
          </a:bodyPr>
          <a:lstStyle/>
          <a:p>
            <a:pPr algn="l"/>
            <a:r>
              <a:rPr sz="1050" b="0" i="0">
                <a:solidFill>
                  <a:srgbClr val="1F2937"/>
                </a:solidFill>
                <a:latin typeface="Lato"/>
              </a:rPr>
              <a:t>Newer carriers expanded, then scaled back or shut down (case): the path NorthByte took in 2025.*</a:t>
            </a:r>
          </a:p>
        </p:txBody>
      </p:sp>
      <p:sp>
        <p:nvSpPr>
          <p:cNvPr id="25" name="Rectangle 24"/>
          <p:cNvSpPr/>
          <p:nvPr/>
        </p:nvSpPr>
        <p:spPr>
          <a:xfrm>
            <a:off x="548640" y="5340096"/>
            <a:ext cx="5486400" cy="78638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431536"/>
            <a:ext cx="1463040" cy="274320"/>
          </a:xfrm>
          <a:prstGeom prst="rect">
            <a:avLst/>
          </a:prstGeom>
          <a:noFill/>
        </p:spPr>
        <p:txBody>
          <a:bodyPr wrap="square" anchor="t" lIns="0" rIns="0" tIns="0" bIns="0">
            <a:spAutoFit/>
          </a:bodyPr>
          <a:lstStyle/>
          <a:p>
            <a:pPr algn="l"/>
            <a:r>
              <a:rPr sz="1200" b="1" i="0">
                <a:solidFill>
                  <a:srgbClr val="0B1F3A"/>
                </a:solidFill>
                <a:latin typeface="Montserrat"/>
              </a:rPr>
              <a:t>Substitutes</a:t>
            </a:r>
          </a:p>
        </p:txBody>
      </p:sp>
      <p:sp>
        <p:nvSpPr>
          <p:cNvPr id="27" name="Rounded Rectangle 26"/>
          <p:cNvSpPr/>
          <p:nvPr/>
        </p:nvSpPr>
        <p:spPr>
          <a:xfrm>
            <a:off x="685800" y="5751576"/>
            <a:ext cx="777240" cy="237744"/>
          </a:xfrm>
          <a:prstGeom prst="round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900" b="1">
                <a:solidFill>
                  <a:srgbClr val="1F2937"/>
                </a:solidFill>
                <a:latin typeface="Lato"/>
              </a:rPr>
              <a:t>Low</a:t>
            </a:r>
          </a:p>
        </p:txBody>
      </p:sp>
      <p:sp>
        <p:nvSpPr>
          <p:cNvPr id="28" name="TextBox 27"/>
          <p:cNvSpPr txBox="1"/>
          <p:nvPr/>
        </p:nvSpPr>
        <p:spPr>
          <a:xfrm>
            <a:off x="2240280" y="5413248"/>
            <a:ext cx="3703320" cy="658368"/>
          </a:xfrm>
          <a:prstGeom prst="rect">
            <a:avLst/>
          </a:prstGeom>
          <a:noFill/>
        </p:spPr>
        <p:txBody>
          <a:bodyPr wrap="square" anchor="ctr" lIns="0" rIns="0" tIns="0" bIns="0">
            <a:spAutoFit/>
          </a:bodyPr>
          <a:lstStyle/>
          <a:p>
            <a:pPr algn="l"/>
            <a:r>
              <a:rPr sz="1050" b="0" i="0">
                <a:solidFill>
                  <a:srgbClr val="1F2937"/>
                </a:solidFill>
                <a:latin typeface="Lato"/>
              </a:rPr>
              <a:t>Long distances and small communities: demand on community routes is captive.*</a:t>
            </a:r>
          </a:p>
        </p:txBody>
      </p:sp>
      <p:sp>
        <p:nvSpPr>
          <p:cNvPr id="29" name="TextBox 28"/>
          <p:cNvSpPr txBox="1"/>
          <p:nvPr/>
        </p:nvSpPr>
        <p:spPr>
          <a:xfrm>
            <a:off x="6355080" y="1481328"/>
            <a:ext cx="5303520" cy="274320"/>
          </a:xfrm>
          <a:prstGeom prst="rect">
            <a:avLst/>
          </a:prstGeom>
          <a:noFill/>
        </p:spPr>
        <p:txBody>
          <a:bodyPr wrap="square" anchor="t" lIns="0" rIns="0" tIns="0" bIns="0">
            <a:spAutoFit/>
          </a:bodyPr>
          <a:lstStyle/>
          <a:p>
            <a:pPr algn="l"/>
            <a:r>
              <a:rPr sz="1300" b="1" i="0">
                <a:solidFill>
                  <a:srgbClr val="0B1F3A"/>
                </a:solidFill>
                <a:latin typeface="Montserrat"/>
              </a:rPr>
              <a:t>SWOT: NorthByte</a:t>
            </a:r>
          </a:p>
        </p:txBody>
      </p:sp>
      <p:sp>
        <p:nvSpPr>
          <p:cNvPr id="30" name="Rectangle 29"/>
          <p:cNvSpPr/>
          <p:nvPr/>
        </p:nvSpPr>
        <p:spPr>
          <a:xfrm>
            <a:off x="6355080" y="1828800"/>
            <a:ext cx="2596896" cy="212140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83096" y="1938528"/>
            <a:ext cx="2340863" cy="1938527"/>
          </a:xfrm>
          <a:prstGeom prst="rect">
            <a:avLst/>
          </a:prstGeom>
          <a:noFill/>
        </p:spPr>
        <p:txBody>
          <a:bodyPr wrap="square" anchor="t" lIns="0" rIns="0" tIns="0" bIns="0">
            <a:spAutoFit/>
          </a:bodyPr>
          <a:lstStyle/>
          <a:p>
            <a:pPr algn="l">
              <a:spcAft>
                <a:spcPts val="400"/>
              </a:spcAft>
            </a:pPr>
            <a:r>
              <a:rPr sz="1200" b="1" i="0">
                <a:solidFill>
                  <a:srgbClr val="2E7D5B"/>
                </a:solidFill>
                <a:latin typeface="Montserrat"/>
              </a:rPr>
              <a:t>Strengths</a:t>
            </a:r>
          </a:p>
          <a:p>
            <a:pPr algn="l">
              <a:spcAft>
                <a:spcPts val="400"/>
              </a:spcAft>
            </a:pPr>
            <a:r>
              <a:rPr sz="1050" b="0" i="0">
                <a:solidFill>
                  <a:srgbClr val="1F2937"/>
                </a:solidFill>
                <a:latin typeface="Lato"/>
              </a:rPr>
              <a:t>•  Rest of network earns +$10.6M before gates</a:t>
            </a:r>
          </a:p>
          <a:p>
            <a:pPr algn="l">
              <a:spcAft>
                <a:spcPts val="400"/>
              </a:spcAft>
            </a:pPr>
            <a:r>
              <a:rPr sz="1050" b="0" i="0">
                <a:solidFill>
                  <a:srgbClr val="1F2937"/>
                </a:solidFill>
                <a:latin typeface="Lato"/>
              </a:rPr>
              <a:t>•  12,644 connection-compatible bookings</a:t>
            </a:r>
          </a:p>
          <a:p>
            <a:pPr algn="l">
              <a:spcAft>
                <a:spcPts val="400"/>
              </a:spcAft>
            </a:pPr>
            <a:r>
              <a:rPr sz="1050" b="0" i="0">
                <a:solidFill>
                  <a:srgbClr val="1F2937"/>
                </a:solidFill>
                <a:latin typeface="Lato"/>
              </a:rPr>
              <a:t>•  Community routes the mission is built on (case)</a:t>
            </a:r>
          </a:p>
        </p:txBody>
      </p:sp>
      <p:sp>
        <p:nvSpPr>
          <p:cNvPr id="32" name="Rectangle 31"/>
          <p:cNvSpPr/>
          <p:nvPr/>
        </p:nvSpPr>
        <p:spPr>
          <a:xfrm>
            <a:off x="9061704" y="1828800"/>
            <a:ext cx="2596896" cy="212140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89720" y="1938528"/>
            <a:ext cx="2340863" cy="1938527"/>
          </a:xfrm>
          <a:prstGeom prst="rect">
            <a:avLst/>
          </a:prstGeom>
          <a:noFill/>
        </p:spPr>
        <p:txBody>
          <a:bodyPr wrap="square" anchor="t" lIns="0" rIns="0" tIns="0" bIns="0">
            <a:spAutoFit/>
          </a:bodyPr>
          <a:lstStyle/>
          <a:p>
            <a:pPr algn="l">
              <a:spcAft>
                <a:spcPts val="400"/>
              </a:spcAft>
            </a:pPr>
            <a:r>
              <a:rPr sz="1200" b="1" i="0">
                <a:solidFill>
                  <a:srgbClr val="E8692A"/>
                </a:solidFill>
                <a:latin typeface="Montserrat"/>
              </a:rPr>
              <a:t>Weaknesses → issues</a:t>
            </a:r>
          </a:p>
          <a:p>
            <a:pPr algn="l">
              <a:spcAft>
                <a:spcPts val="400"/>
              </a:spcAft>
            </a:pPr>
            <a:r>
              <a:rPr sz="1050" b="0" i="0">
                <a:solidFill>
                  <a:srgbClr val="1F2937"/>
                </a:solidFill>
                <a:latin typeface="Lato"/>
              </a:rPr>
              <a:t>•  No route-level P&amp;L (case p.10)</a:t>
            </a:r>
          </a:p>
          <a:p>
            <a:pPr algn="l">
              <a:spcAft>
                <a:spcPts val="400"/>
              </a:spcAft>
            </a:pPr>
            <a:r>
              <a:rPr sz="1050" b="0" i="0">
                <a:solidFill>
                  <a:srgbClr val="1F2937"/>
                </a:solidFill>
                <a:latin typeface="Lato"/>
              </a:rPr>
              <a:t>•  Frequency added faster than demand: trunk tickets/flight −44% (Sep–Feb)</a:t>
            </a:r>
          </a:p>
          <a:p>
            <a:pPr algn="l">
              <a:spcAft>
                <a:spcPts val="400"/>
              </a:spcAft>
            </a:pPr>
            <a:r>
              <a:rPr sz="1050" b="0" i="0">
                <a:solidFill>
                  <a:srgbClr val="1F2937"/>
                </a:solidFill>
                <a:latin typeface="Lato"/>
              </a:rPr>
              <a:t>•  New markets cover only a third of their cost</a:t>
            </a:r>
          </a:p>
        </p:txBody>
      </p:sp>
      <p:sp>
        <p:nvSpPr>
          <p:cNvPr id="34" name="Rectangle 33"/>
          <p:cNvSpPr/>
          <p:nvPr/>
        </p:nvSpPr>
        <p:spPr>
          <a:xfrm>
            <a:off x="6355080" y="4059935"/>
            <a:ext cx="2596896" cy="212140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3096" y="4169663"/>
            <a:ext cx="2340863" cy="1938527"/>
          </a:xfrm>
          <a:prstGeom prst="rect">
            <a:avLst/>
          </a:prstGeom>
          <a:noFill/>
        </p:spPr>
        <p:txBody>
          <a:bodyPr wrap="square" anchor="t" lIns="0" rIns="0" tIns="0" bIns="0">
            <a:spAutoFit/>
          </a:bodyPr>
          <a:lstStyle/>
          <a:p>
            <a:pPr algn="l">
              <a:spcAft>
                <a:spcPts val="400"/>
              </a:spcAft>
            </a:pPr>
            <a:r>
              <a:rPr sz="1200" b="1" i="0">
                <a:solidFill>
                  <a:srgbClr val="0B1F3A"/>
                </a:solidFill>
                <a:latin typeface="Montserrat"/>
              </a:rPr>
              <a:t>Opportunities</a:t>
            </a:r>
          </a:p>
          <a:p>
            <a:pPr algn="l">
              <a:spcAft>
                <a:spcPts val="400"/>
              </a:spcAft>
            </a:pPr>
            <a:r>
              <a:rPr sz="1050" b="0" i="0">
                <a:solidFill>
                  <a:srgbClr val="1F2937"/>
                </a:solidFill>
                <a:latin typeface="Lato"/>
              </a:rPr>
              <a:t>•  Record passenger demand (case p.7)</a:t>
            </a:r>
          </a:p>
          <a:p>
            <a:pPr algn="l">
              <a:spcAft>
                <a:spcPts val="400"/>
              </a:spcAft>
            </a:pPr>
            <a:r>
              <a:rPr sz="1050" b="0" i="0">
                <a:solidFill>
                  <a:srgbClr val="1F2937"/>
                </a:solidFill>
                <a:latin typeface="Lato"/>
              </a:rPr>
              <a:t>•  Seasonal flex flying (summer, December); OTA → direct</a:t>
            </a:r>
          </a:p>
          <a:p>
            <a:pPr algn="l">
              <a:spcAft>
                <a:spcPts val="400"/>
              </a:spcAft>
            </a:pPr>
            <a:r>
              <a:rPr sz="1050" b="0" i="0">
                <a:solidFill>
                  <a:srgbClr val="1F2937"/>
                </a:solidFill>
                <a:latin typeface="Lato"/>
              </a:rPr>
              <a:t>•  Release 2 unassigned gates at the Jan 2027 renewal (≥$0.43M/yr)</a:t>
            </a:r>
          </a:p>
        </p:txBody>
      </p:sp>
      <p:sp>
        <p:nvSpPr>
          <p:cNvPr id="36" name="Rectangle 35"/>
          <p:cNvSpPr/>
          <p:nvPr/>
        </p:nvSpPr>
        <p:spPr>
          <a:xfrm>
            <a:off x="9061704" y="4059935"/>
            <a:ext cx="2596896" cy="212140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89720" y="4169663"/>
            <a:ext cx="2340863" cy="1938527"/>
          </a:xfrm>
          <a:prstGeom prst="rect">
            <a:avLst/>
          </a:prstGeom>
          <a:noFill/>
        </p:spPr>
        <p:txBody>
          <a:bodyPr wrap="square" anchor="t" lIns="0" rIns="0" tIns="0" bIns="0">
            <a:spAutoFit/>
          </a:bodyPr>
          <a:lstStyle/>
          <a:p>
            <a:pPr algn="l">
              <a:spcAft>
                <a:spcPts val="400"/>
              </a:spcAft>
            </a:pPr>
            <a:r>
              <a:rPr sz="1200" b="1" i="0">
                <a:solidFill>
                  <a:srgbClr val="6B7280"/>
                </a:solidFill>
                <a:latin typeface="Montserrat"/>
              </a:rPr>
              <a:t>Threats</a:t>
            </a:r>
          </a:p>
          <a:p>
            <a:pPr algn="l">
              <a:spcAft>
                <a:spcPts val="400"/>
              </a:spcAft>
            </a:pPr>
            <a:r>
              <a:rPr sz="1050" b="0" i="0">
                <a:solidFill>
                  <a:srgbClr val="1F2937"/>
                </a:solidFill>
                <a:latin typeface="Lato"/>
              </a:rPr>
              <a:t>•  Two dominant rivals plus low-cost carriers</a:t>
            </a:r>
          </a:p>
          <a:p>
            <a:pPr algn="l">
              <a:spcAft>
                <a:spcPts val="400"/>
              </a:spcAft>
            </a:pPr>
            <a:r>
              <a:rPr sz="1050" b="0" i="0">
                <a:solidFill>
                  <a:srgbClr val="1F2937"/>
                </a:solidFill>
                <a:latin typeface="Lato"/>
              </a:rPr>
              <a:t>•  Fuel, pilot wages, airport fees</a:t>
            </a:r>
          </a:p>
          <a:p>
            <a:pPr algn="l">
              <a:spcAft>
                <a:spcPts val="400"/>
              </a:spcAft>
            </a:pPr>
            <a:r>
              <a:rPr sz="1050" b="0" i="0">
                <a:solidFill>
                  <a:srgbClr val="1F2937"/>
                </a:solidFill>
                <a:latin typeface="Lato"/>
              </a:rPr>
              <a:t>•  Winter disruption + refund rules (St. John's)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