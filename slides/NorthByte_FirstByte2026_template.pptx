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~15 sec. Title is a working draft. Swap in team name; file must be named [TeamName]_FirstByte2026.pdf. Deadline: Thu Oct 15, 11:59 PM, PDF only, one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 SUMMARY. ~45 sec. Answer first: problem, root cause, recommendation, impact. Left column = analysis (drafted). Right column = recommendations (to be filled once recs are decided). Keep every number here identical to the analysis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 / KEY QUESTION. ~40 sec. Set up the case from the brief: domestic carrier, 20 airports, 4 hubs (YVR, YYC, YYZ, YUL), FY = Sep–Aug. Spring 2025: 3 new connections (London, Moncton, Montréal–Ottawa). Finance only reviewed costs at company level, by category, never route by route; that gap is our angle. End on the key question. Values constraint (safety, fair to customers, connect communities) frames recs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&amp; APPROACH. ~40 sec. Data Analysis = 35% of score; show rigor quickly, push detail to appendix. Key points: route codes normalized (e.g. 'yvryeg' → YVR-YEG), 1,856 duplicate transactions removed ($1.23M), mixed date formats resolved, gate costs de-duplicated (source repeats each gate per route) and pro-rated from calendar lease years onto the Sep–Aug fiscal year. TODO: gate allocation must follow the case rule: airport total ÷ ALL flights departing that airport. Current analysis/ code splits equally across listed routes; redo before finalizing.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Optional: delete if time is tight (10 min talk).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Q1 (what changed). ~50 sec. Chart: period comparison or contribution bridge. Bridge story: +$9.4M revenue vs +$45.4M cost; fuel +$16.1M, crew +$15.1M, maint +$13.0M, food +$1.2M. TODO: reconcile our −$48.4M with the case's 'about $40M' (check whether difference = duplicates, refunds, or the case using a different cost basis). Swap in final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Q1 (when). ~50 sec. Monthly flights jumped from ~790 (Feb 2025) to 1,157 (Mar) and ~1,250-1,480 after. Margin went from +4.5% (Feb) to −7% (Mar) to −24% (Apr) and never recovered. Case says losses since Feb 2025; our data shows Feb still +4.5%. Decide how to phrase; don't contradict the client without explaining. Annotate the chart with the expansion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Q1 + Q3 (fuel &amp; crew). ~60 sec. KEY INSIGHT SLIDE. Volume/price decomposition: holding FY24-25 cost per flight fixed, extra flights explain $39.2M of $45.4M (86%); per-flight cost &amp; mix explain $6.2M. Case states fuel/flight +3%, crew/flight +4%; verify against our cost-per-flight by category. Food cost/flight actually fell ($598 → $575). Suggested visual: stacked bar 'volume vs. price' by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Optional: delete if time is tight (10 min talk).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Q2. ~60 sec. Montréal–Vancouver (both directions) −$19.7M in FY25-26 = 32% of route losses; revenue +$0.4M vs cost +$12.0M. 8 worst routes = 71% of the decline. 26 profitable routes earn +$12.6M (Toronto–Calgary, Calgary–Vancouver lead). Both directions share the same sign in all 27 markets → talk in markets. TODO: re-run after gate allocation per case rule; show 'after gates'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Q1/Q2. ~45 sec. TODO ANALYSIS. Two parts of the expansion: (a) the 3 new connections (London–Toronto from Feb 2025, Montréal–Ottawa from Mar, Moncton–Halifax from Apr: 6 directions) and (b) added frequencies on existing routes (most of the +~450 flights/month). Show contribution, revenue per flight and flights added for each group. Existing: like-for-like 612 route-months contribution still fell $31.1M, new route-months −$4.9M → most damage is added frequency on EXISTING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Optional: delete if time is tight (10 min talk).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Q3 + Q4. ~60 sec. Refunds $6.7M → $7.8M (+17% vs +5.6% sales); OTA refund burden 5.8% vs 3.7% direct. Ancillaries ~1.8% of revenue ($3.4M paid extras + $0.6M change fees). TODO: (1) refunds by region × winter months (case hints Atlantic/North weather exposure); (2) Rewards cost: Points + Cash = 10.6% of revenue, tier mix; size the decline it explains; (3) connecting passengers: 12,912 bookings span multiple routes; revenue share &amp; which hubs. Close with a 'factor ranking' bar: $ impact of each factor vs. the $36M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GUIDING Q5. ~45 sec. Raw rows double-count shared gates ($17.4M row sum vs $9.66M actual for 2024-25; $9.88M for 2025-26, +2.2%). TODO: (1) forecast 2026-27 by airport (state the method, e.g. apply per-airport growth rate); (2) pro-rate calendar leases onto fiscal years (FY = 4 mo of lease Y + 8 mo of lease Y+1); (3) allocate each airport's total evenly across ALL departing flights (case rule); (4) flag airports with idle gates (low departures per gate). Halifax A3 and Ottawa A2 have no routes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SYNTHESIS. ~30 sec. Bridge from analysis to issues. One visual that ranks drivers by $ impact. This is where 'not every factor matters equally' (case) gets answered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Optional: delete if time is tight (10 min talk).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ISSUES. ~30 sec. To be written. Each issue should map to evidence on slides 5-12 (cite slide #).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ALTERNATIVES. ~45 sec. To be written. Score 3-4 options on consistent criteria; criteria include the case's values (safety, fair to customers, connecting communities) since judges will check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RECOMMENDATION. ~75 sec. Business Recommendation = 35% of score. To be written. Guiding Q6 asks for short- AND long-term actions and their effect on customers, employees and communities; the bottom strip covers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IMPLEMENTATION. ~45 sec. To be written. Align phases to the budget cycle; add KPIs to track (e.g. contribution per flight, revenue per flight, refund rate, gate cost per departure).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&amp; MITIGATION. ~30 sec. To be written. Include data-limitation risk (no seats/load factor) and stakeholder risks (community service, crew, competitors).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5 min Q&amp;A follows; appendix slides are for answering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Optional: delete if time is tight (10 min talk).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'how did you handle X?' questions. Pull from analysis/ASSUMPTIONS.md and preparation_audit.json.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route/seasonality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break-even needs ~25% more revenue or ~20% less cost with the other side fixed. Illustrative,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booking-channel questions. Direct Web 40%, App 22%, OTA 20%, Corporate 18% of FY25-26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ontserrat"/>
              </a:rPr>
              <a:t>Growing Into the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CA3AF"/>
                </a:solidFill>
                <a:latin typeface="Lato"/>
              </a:rPr>
              <a:t>Where NorthByte Airlines makes and loses money, and how to restore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Lato"/>
              </a:rPr>
              <a:t>[Team name]  ·  BOLT UBC FirstByte 2026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NorthByte's spring 2025 expansion added ~45% more flights, but revenue grew only 5%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FY25-26 revenue +5.2% to $190.0M; flight operating cost +23.5% to $238.4M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Flight contribution fell from −$12.4M to −$48.4M before gate leases [reconcile vs. case's ~$40M]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Losses began in Mar 2025, when monthly flights jumped ~46% with the expansion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~86% of cost growth is more flights, not higher fuel/crew prices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A handful of hub-to-hub markets (led by Montréal–Vancouver) drive most of the decline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Refunds, Rewards and ancillaries matter, but are an order of magnitude smaller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376672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02352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WHAT WE RECOMMEND
[Recommendation 1]
[Recommendation 2]
[Recommendation 3]
[Expected impact: $X M contribution by FY27-28]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Record revenue, record losses: leadership needs to know where the money goes before the budget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FirstByte 2026 case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60604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F3A"/>
                </a:solidFill>
                <a:latin typeface="Montserrat"/>
              </a:rPr>
              <a:t>$190M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Lato"/>
              </a:rPr>
              <a:t>FY25-26 revenue, a record (+5%)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91640"/>
            <a:ext cx="260604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8288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F3A"/>
                </a:solidFill>
                <a:latin typeface="Montserrat"/>
              </a:rPr>
              <a:t>−$48M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606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Lato"/>
              </a:rPr>
              <a:t>Flight contribution before gates [verify]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60604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288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F3A"/>
                </a:solidFill>
                <a:latin typeface="Montserrat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06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Lato"/>
              </a:rPr>
              <a:t>Airports, 4 hubs, 54 directional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691640"/>
            <a:ext cx="260604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F3A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606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Lato"/>
              </a:rPr>
              <a:t>New connections launched spring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11091672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KEY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What is really driving NorthByte's losses, and where should it invest or pull back to return to sustainable profit while keeping its commitments on safety, fairness and community service?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DATA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We rebuilt a route-by-route P&amp;L from three inconsistent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06040" cy="2651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606040" cy="73152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1 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Normalize route codes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De-duplicate 1,856 txns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Resolve 3 date formats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737360"/>
            <a:ext cx="2606040" cy="2651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737360"/>
            <a:ext cx="2606040" cy="73152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2 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51460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Transactions + flight costs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by route × month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Fiscal year Sep–Aug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737360"/>
            <a:ext cx="2606040" cy="2651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737360"/>
            <a:ext cx="2606040" cy="73152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3  Allocate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1460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Gate leases → departing flights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Calendar → fiscal pro-rata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Estimate 2026-27 leases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737360"/>
            <a:ext cx="2606040" cy="2651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737360"/>
            <a:ext cx="2606040" cy="73152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4  Diagnose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51460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Volume vs. price bridge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Route &amp; market P&amp;L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Refunds, Rewards, ancillaries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Lato"/>
              </a:rPr>
              <a:t>558,129 unique transactions  ·  28,801 flights (×4 cost rows)  ·  34 physical gates  ·  54 routes  ·  24 months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Lato"/>
              </a:rPr>
              <a:t>Key assumptions in Appendix A1. Not available in the data: seats, passengers per flight, load factor, distance.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E8692A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What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Lato"/>
              </a:rPr>
              <a:t>Revenue and cost trends, FY24-25 vs FY25-26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1 ·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Costs grew 4.5× faster than revenue, turning a $12M loss into a $48M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6</a:t>
            </a:r>
          </a:p>
        </p:txBody>
      </p:sp>
      <p:pic>
        <p:nvPicPr>
          <p:cNvPr id="8" name="Picture 7" descr="03_contribution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73152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Revenue +$9.4M (+5.2%)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Flight costs +$45.4M (+23.5%)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Every cost line grew; fuel and crew largest in $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[Add: gates pushes loss to ~$X 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1 · WHEN IT TURNED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Margins went negative in March 2025, the month the expansion schedule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7</a:t>
            </a:r>
          </a:p>
        </p:txBody>
      </p:sp>
      <p:pic>
        <p:nvPicPr>
          <p:cNvPr id="8" name="Picture 7" descr="02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6723"/>
            <a:ext cx="7315200" cy="39389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Sep 2024–Feb 2025: profitable, +4.5% to +15.7% monthly margin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Mar 2025 onward: every month negative (−7% to −31%)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Flights/month +46% in one step; revenue/month did not follow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Not seasonal: two summers, both losing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1 · WHY COSTS ROSE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It's flight volume, not fuel or crew prices: ~86% of cost growth comes from more flights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8</a:t>
            </a:r>
          </a:p>
        </p:txBody>
      </p:sp>
      <p:pic>
        <p:nvPicPr>
          <p:cNvPr id="8" name="Picture 7" descr="07_cost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8076"/>
            <a:ext cx="7315200" cy="33762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Flights +20% year over year (13,072 → 15,729)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Cost per flight only +2.7%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Fuel/crew price increases are real but secondary (~$6M)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Problem is flying more without filling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E8692A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Where the money is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Lato"/>
              </a:rPr>
              <a:t>Route, market and network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2 ·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A few hub-to-hub markets carry most of the losses; 26 routes are still profitable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10</a:t>
            </a:r>
          </a:p>
        </p:txBody>
      </p:sp>
      <p:pic>
        <p:nvPicPr>
          <p:cNvPr id="8" name="Picture 7" descr="04_route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8580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Montréal–Vancouver: −$19.7M, ~⅓ of all route losses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Top 8 routes = 71% of the decline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Profitable routes (+$12.6M) can't offset losers (−$60.9M)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[Add: hub vs. regional split]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2 · THE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how the new routes and added frequencies performed]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315200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704088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[Chart: new routes vs. added frequency on existing routes
flights added · revenue per flight · contribution]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Like-for-like route-months: contribution −$31.1M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New route-months: −$4.9M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[Revenue per added flight vs. cost per flight]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E8692A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What else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Lato"/>
              </a:rPr>
              <a:t>Refunds, Rewards, ancillaries and connecting passengers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3 · REVENUE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Refunds, Rewards and ancillaries are real but small next to the volume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13</a:t>
            </a:r>
          </a:p>
        </p:txBody>
      </p:sp>
      <p:pic>
        <p:nvPicPr>
          <p:cNvPr id="8" name="Picture 7" descr="08_extras_refu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00200"/>
            <a:ext cx="6537959" cy="301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754880"/>
            <a:ext cx="7315200" cy="141732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7040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A3AF"/>
                </a:solidFill>
                <a:latin typeface="Lato"/>
              </a:rPr>
              <a:t>[Factor ranking: $ contribution of each factor to the $36M decline
volume · fuel price · crew price · refunds · Rewards · ancillaries]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Refunds +$1.15M; OTA bookings refunded most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Ancillaries ≈ 2% of revenue; +10% adds only ~$0.3M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[Rewards finding]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[Connecting-passenger finding]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4 · GATE 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gate lease change 2024-25 → 2025-26 and 2026-27 estimate]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12064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[Chart: gate cost by airport
2024-25 vs 2025-26 vs 2026-27 est.]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1828800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155448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A3AF"/>
                </a:solidFill>
                <a:latin typeface="Lato"/>
              </a:rPr>
              <a:t>[Gate cost per departing flight by airport, highlight idle gates]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600200"/>
            <a:ext cx="3547872" cy="4572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600200"/>
            <a:ext cx="73152" cy="4572000"/>
          </a:xfrm>
          <a:prstGeom prst="rect">
            <a:avLst/>
          </a:prstGeom>
          <a:solidFill>
            <a:srgbClr val="E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136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SO 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48840"/>
            <a:ext cx="3136391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Actual gate spend ~$9.7M → $9.9M (+2.2%), not the $17M row total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[2026-27 estimate: $X M, method]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[Most expensive airport per departure]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Lato"/>
              </a:rPr>
              <a:t>• [Loss after gates: $X M]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one-sentence diagnosis tying volume, routes and secondary factors together]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1091672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817352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[Driver tree or waterfall: FY24-25 contribution → FY25-26 contribution
added flights · per-flight cost inflation · refunds · Rewards · ancillaries · gates]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E8692A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What NorthByte should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Lato"/>
              </a:rPr>
              <a:t>Issues, alternatives, recommendation, implementation, risks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KEY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the 2-3 issues NorthByte must solve]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Evidence: slides 5–12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66160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29184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[Issue 1]
[Evidence]
[$ impact]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600200"/>
            <a:ext cx="3566160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329184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[Issue 2]
[Evidence]
[$ impact]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600200"/>
            <a:ext cx="3566160" cy="45720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91640"/>
            <a:ext cx="329184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[Issue 3]
[Evidence]
[$ impact]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options considered and how they compare]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Evidence: slides 5–12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109167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8778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Alternative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Profit impact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Cost / feasibility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Customer impact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Values fit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Time to impact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[Option A]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[Option 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[Option C]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[Option 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the recommendation and its $ impact]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Evidence: slides 5–12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40680" cy="310896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166360" cy="2926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SHORT TERM (0–12 months)
[Action 1]
[Action 2]
[$ impact]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00200"/>
            <a:ext cx="5440680" cy="310896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91640"/>
            <a:ext cx="5166360" cy="29260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LONG TERM (12+ months)
[Action 1]
[Action 2]
[$ impact]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92040"/>
            <a:ext cx="3566160" cy="128016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83479"/>
            <a:ext cx="3291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A3AF"/>
                </a:solidFill>
                <a:latin typeface="Lato"/>
              </a:rPr>
              <a:t>CUSTOMERS
[effect]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4892040"/>
            <a:ext cx="3566160" cy="128016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983479"/>
            <a:ext cx="3291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A3AF"/>
                </a:solidFill>
                <a:latin typeface="Lato"/>
              </a:rPr>
              <a:t>EMPLOYEES
[effect]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4892040"/>
            <a:ext cx="3566160" cy="128016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983479"/>
            <a:ext cx="3291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A3AF"/>
                </a:solidFill>
                <a:latin typeface="Lato"/>
              </a:rPr>
              <a:t>COMMUNITIES
[effect]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roadmap and milestones]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1645920"/>
            <a:ext cx="3566160" cy="502920"/>
          </a:xfrm>
          <a:prstGeom prst="homePlat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9164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Phase 1  ·  0–3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3566160" cy="27432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9184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[Actions]
[Owner]</a:t>
            </a:r>
          </a:p>
        </p:txBody>
      </p:sp>
      <p:sp>
        <p:nvSpPr>
          <p:cNvPr id="12" name="Chevron 11"/>
          <p:cNvSpPr/>
          <p:nvPr/>
        </p:nvSpPr>
        <p:spPr>
          <a:xfrm>
            <a:off x="4297679" y="1645920"/>
            <a:ext cx="3566160" cy="502920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69164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Phase 2  ·  3–12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331720"/>
            <a:ext cx="3566160" cy="27432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23160"/>
            <a:ext cx="329184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[Actions]
[Owner]</a:t>
            </a:r>
          </a:p>
        </p:txBody>
      </p:sp>
      <p:sp>
        <p:nvSpPr>
          <p:cNvPr id="16" name="Chevron 15"/>
          <p:cNvSpPr/>
          <p:nvPr/>
        </p:nvSpPr>
        <p:spPr>
          <a:xfrm>
            <a:off x="8046719" y="1645920"/>
            <a:ext cx="3566160" cy="502920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Phase 3  ·  12+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331720"/>
            <a:ext cx="3566160" cy="27432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423160"/>
            <a:ext cx="329184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[Actions]
[Owner]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solidFill>
            <a:srgbClr val="F3F5F8"/>
          </a:solidFill>
          <a:ln w="1587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108173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Lato"/>
              </a:rPr>
              <a:t>[KPIs &amp; targets]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[Headline: key risks and how we mitigate them]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109167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463040"/>
                <a:gridCol w="4873752"/>
              </a:tblGrid>
              <a:tr h="8778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Risk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Likelihood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Impact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Mitigation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[Risk 1]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[Risk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[Risk 3]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[Risk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CA3AF"/>
                          </a:solidFill>
                          <a:latin typeface="Lato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CA3AF"/>
                </a:solidFill>
                <a:latin typeface="Lato"/>
              </a:rPr>
              <a:t>[One-line restatement of the recommendation]  ·  Questions?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E8692A"/>
                </a:solidFill>
                <a:latin typeface="Montserrat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A3AF"/>
                </a:solidFill>
                <a:latin typeface="Lato"/>
              </a:rPr>
              <a:t>Backup for Q&amp;A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APPENDIX A1 · DATA CLEANING &amp;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How we cleaned and joined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Route codes: 'YYZYHZ', 'yvr-yeg', etc. normalized to XXX-XXX across all three files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Duplicates: 1,856 repeated transaction IDs removed (all fields identical), −$1.23M revenue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Dates: ISO, YYYY/MM/DD and DD/MM vs MM/DD formats; ambiguous ones resolved from transaction-ID order; 11 unresolved ($7.2k, immaterial)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Categories &amp; tiers: aliases and capitalization standardized; unknowns kept as 'Unknown'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Flights: one flight = route + timestamp with exactly one Crew, Food, Fuel and Maintenance cost row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Gates: each physical gate counted once; calendar lease years pro-rated to Sep–Aug fiscal years; airport total split evenly across departing flights (case rule); 2026-27 estimated [method]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Lato"/>
              </a:rPr>
              <a:t>• Revenue is recorded at transaction date (payment), not flight date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APPENDIX A2 · ROUTE × MONTH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Losses are persistent across months, not a single bad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25</a:t>
            </a:r>
          </a:p>
        </p:txBody>
      </p:sp>
      <p:pic>
        <p:nvPicPr>
          <p:cNvPr id="8" name="Picture 7" descr="06_route_month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398" y="1463040"/>
            <a:ext cx="4500154" cy="48463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APPENDIX A3 ·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Small ancillary or refund fixes can't close the gap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26</a:t>
            </a:r>
          </a:p>
        </p:txBody>
      </p:sp>
      <p:pic>
        <p:nvPicPr>
          <p:cNvPr id="8" name="Picture 7" descr="10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47" y="1600200"/>
            <a:ext cx="84908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692A"/>
                </a:solidFill>
                <a:latin typeface="Montserrat"/>
              </a:rPr>
              <a:t>APPENDIX A4 ·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Montserrat"/>
              </a:rPr>
              <a:t>Channel mix is stable; OTA has the highest refund burden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Source: NorthByte transactions, costs &amp; gates (Sep 2024–Aug 2026); team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Lato"/>
              </a:rPr>
              <a:t>27</a:t>
            </a:r>
          </a:p>
        </p:txBody>
      </p:sp>
      <p:pic>
        <p:nvPicPr>
          <p:cNvPr id="8" name="Picture 7" descr="09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76" y="1600200"/>
            <a:ext cx="9905999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